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8.jpg" ContentType="image/jpg"/>
  <Override PartName="/ppt/media/image19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86" r:id="rId3"/>
    <p:sldId id="289" r:id="rId4"/>
    <p:sldId id="291" r:id="rId5"/>
    <p:sldId id="292" r:id="rId6"/>
    <p:sldId id="294" r:id="rId7"/>
    <p:sldId id="295" r:id="rId8"/>
    <p:sldId id="296" r:id="rId9"/>
    <p:sldId id="297" r:id="rId10"/>
    <p:sldId id="298" r:id="rId11"/>
    <p:sldId id="284" r:id="rId12"/>
    <p:sldId id="282" r:id="rId13"/>
    <p:sldId id="300" r:id="rId14"/>
    <p:sldId id="301" r:id="rId15"/>
    <p:sldId id="302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1717"/>
    <a:srgbClr val="FFFF66"/>
    <a:srgbClr val="CCFF66"/>
    <a:srgbClr val="FF66FF"/>
    <a:srgbClr val="59DEFD"/>
    <a:srgbClr val="FF3399"/>
    <a:srgbClr val="FF535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 /><Relationship Id="rId2" Type="http://schemas.microsoft.com/office/2011/relationships/chartColorStyle" Target="colors2.xml" /><Relationship Id="rId1" Type="http://schemas.microsoft.com/office/2011/relationships/chartStyle" Target="style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 (kg)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48-4066-9DB6-761D4A283E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48-4066-9DB6-761D4A283E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148-4066-9DB6-761D4A283E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148-4066-9DB6-761D4A283EA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148-4066-9DB6-761D4A283EA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148-4066-9DB6-761D4A283EA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148-4066-9DB6-761D4A283EAD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Sheet1!$A$2:$A$8</c:f>
              <c:strCache>
                <c:ptCount val="7"/>
                <c:pt idx="0">
                  <c:v>Engine Cost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Break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10</c:v>
                </c:pt>
                <c:pt idx="2">
                  <c:v>30</c:v>
                </c:pt>
                <c:pt idx="3">
                  <c:v>2</c:v>
                </c:pt>
                <c:pt idx="4">
                  <c:v>2</c:v>
                </c:pt>
                <c:pt idx="5">
                  <c:v>10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148-4066-9DB6-761D4A283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3172590491932363"/>
          <c:y val="3.1415766452414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1D-4628-B80B-19D52B4D10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1D-4628-B80B-19D52B4D10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1D-4628-B80B-19D52B4D105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1D-4628-B80B-19D52B4D105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B1D-4628-B80B-19D52B4D105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B1D-4628-B80B-19D52B4D105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B1D-4628-B80B-19D52B4D105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5B1D-4628-B80B-19D52B4D105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Engine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Equipement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Brake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30000</c:v>
                </c:pt>
                <c:pt idx="1">
                  <c:v>5000</c:v>
                </c:pt>
                <c:pt idx="2">
                  <c:v>15000</c:v>
                </c:pt>
                <c:pt idx="3">
                  <c:v>3000</c:v>
                </c:pt>
                <c:pt idx="4">
                  <c:v>2000</c:v>
                </c:pt>
                <c:pt idx="5">
                  <c:v>5000</c:v>
                </c:pt>
                <c:pt idx="6">
                  <c:v>3000</c:v>
                </c:pt>
                <c:pt idx="7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1D-4628-B80B-19D52B4D1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5B1D-4628-B80B-19D52B4D10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5B1D-4628-B80B-19D52B4D10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6-5B1D-4628-B80B-19D52B4D105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8-5B1D-4628-B80B-19D52B4D105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A-5B1D-4628-B80B-19D52B4D105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C-5B1D-4628-B80B-19D52B4D105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E-5B1D-4628-B80B-19D52B4D105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0-5B1D-4628-B80B-19D52B4D105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Engine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Equipement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Brake</c:v>
                </c:pt>
                <c:pt idx="7">
                  <c:v>Others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0.37970000000000004</c:v>
                </c:pt>
                <c:pt idx="1">
                  <c:v>6.3E-2</c:v>
                </c:pt>
                <c:pt idx="2">
                  <c:v>0.18980000000000002</c:v>
                </c:pt>
                <c:pt idx="3">
                  <c:v>3.6999999999999998E-2</c:v>
                </c:pt>
                <c:pt idx="4">
                  <c:v>3.6999999999999998E-2</c:v>
                </c:pt>
                <c:pt idx="5">
                  <c:v>6.3E-2</c:v>
                </c:pt>
                <c:pt idx="6">
                  <c:v>3.6999999999999998E-2</c:v>
                </c:pt>
                <c:pt idx="7">
                  <c:v>0.18980000000000002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5B1D-4628-B80B-19D52B4D105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38F92-A857-4E9C-9044-9AF6772E733B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0075A-EEC5-4154-A333-796721D0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7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Vehicle 3-D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A2495-5925-4210-9DF4-7A2B6B46C8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8bc00f6a1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8bc00f6a1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05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E886-8A91-10E3-4C73-1032A6FF3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F8D53-CF0F-25DD-E6A6-A5CE24699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1D509-A839-6E7B-D73F-7757378F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D5D89-DCFB-0B01-E032-2AA8073F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1230A-6AA1-A1CF-5B5D-1533C57F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5F1F-58D5-179D-C729-46B69F52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2538-1BF7-2BEB-763C-B01DF81E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37E5A-BE65-81AF-70AB-C55A1029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47C94-9E9F-9DA9-4E48-9AB07434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8EE6-7A72-D2FA-87D5-4D0C1ED7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0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C704-718E-7EAC-B243-9995065B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AF8D-E66D-BDA7-8F1E-3229DFD4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46BE9-F798-91E9-704E-D8539238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5DDA-8BD0-0B90-3651-9F7BEBD2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46C6-FD33-B25D-CFAC-0CD3C177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9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610A-F1DA-B690-27A1-346CFB04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9C7E-F8A0-4313-3D91-8D99FD1FB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9F718-B6CA-0019-5970-B26403F7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FF980-5471-7AB3-2C31-EA1330F0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9356-A93D-905A-9216-3403C1F3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1280D-EB05-9523-3946-C437E17A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3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65A-6718-EE3B-DC1A-F58912A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1E02B-D506-73E6-2EE0-E15CB923C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EE1B0-FD0D-F915-664B-2E330870F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273F2-A181-E493-6D7F-8A00D2C43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0FF3A-26CF-BD71-3A08-589EC1E28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3E488-0811-5573-58C2-3E68219F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81056-AA1C-8639-5DD0-58320043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5D375-A279-918D-21C3-61C7C881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78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E616-7C84-54BA-08C3-2F446675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E7EF2-A816-4858-B6ED-6E7D1FCC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1F748-9A18-8C69-39A4-C9AFAC0D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3524E-9E1A-37FD-D8A1-72C74D56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5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1EE3C-BCED-41D9-C46D-3E739C8F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82CC6-1127-3725-C04F-CCA7FBAE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FF2EF-87B6-BBE3-752C-0D6B279F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DC44-CF51-F526-BCA9-66D8F31A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0BBA9-4E2D-27C6-B284-8F19F87C2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7D807-68B9-02A3-1604-79FC34AE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3AC81-1F15-262F-23C2-A2CF440A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FCAC-5F4B-ED65-7A34-64FC0111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99A30-79AE-1C92-E071-0B814A4E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6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B7D6-676F-E2F4-7108-6D714925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BCAF6-3058-0662-666B-148CC9F8C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2268-3012-5F20-865A-A31C7AB39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18236-C1D6-7EEE-04FE-F0A4A310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152BB-0D89-8CE4-AC10-75638B5C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DF467-5C3A-60BD-38A3-329DCB9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8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FBD5-2A2F-50AA-6534-3DC39C1C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768E0-837D-1FC9-67B8-883CCA64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5D21-9B58-0076-3116-0EB85D81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3A61-2622-3975-62F7-1F1A9DE0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7C26-68D1-0FF2-9F98-CC3B027A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67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5C25B-E7DC-D202-08CD-EF8335E91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136AF-DDE2-0F1C-F15D-D83CEE78C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7921-C795-7E58-6D04-EE03B251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95D22-31A3-E4D0-9650-A1F53933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D1A7-699B-FED5-2AE6-9EF575E9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0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2A677-2434-F6F1-D800-1D05AD9E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02588-F9D5-C1CE-0B85-78DB4FB1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762E8-7F5D-24E5-7F4F-9CB9C9D97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C814B-FCB6-481A-9507-945532EDD817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22314-BE9B-E003-0587-5EECD1E2A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B61B-22CA-C7E6-1179-C2855617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0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6.jpe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8.jpg" /><Relationship Id="rId7" Type="http://schemas.openxmlformats.org/officeDocument/2006/relationships/image" Target="../media/image4.jpe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jpg" /><Relationship Id="rId5" Type="http://schemas.openxmlformats.org/officeDocument/2006/relationships/image" Target="../media/image10.jpg" /><Relationship Id="rId4" Type="http://schemas.openxmlformats.org/officeDocument/2006/relationships/image" Target="../media/image9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7" Type="http://schemas.openxmlformats.org/officeDocument/2006/relationships/image" Target="../media/image14.pn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6.png" /><Relationship Id="rId7" Type="http://schemas.openxmlformats.org/officeDocument/2006/relationships/image" Target="../media/image2.jp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1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 /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 /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 /><Relationship Id="rId7" Type="http://schemas.openxmlformats.org/officeDocument/2006/relationships/image" Target="../media/image5.png" /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jp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 /><Relationship Id="rId13" Type="http://schemas.openxmlformats.org/officeDocument/2006/relationships/image" Target="../media/image3.jpg" /><Relationship Id="rId3" Type="http://schemas.openxmlformats.org/officeDocument/2006/relationships/image" Target="../media/image26.jpeg" /><Relationship Id="rId7" Type="http://schemas.openxmlformats.org/officeDocument/2006/relationships/image" Target="../media/image30.emf" /><Relationship Id="rId12" Type="http://schemas.openxmlformats.org/officeDocument/2006/relationships/image" Target="../media/image35.emf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29.jpeg" /><Relationship Id="rId11" Type="http://schemas.openxmlformats.org/officeDocument/2006/relationships/image" Target="../media/image34.jpeg" /><Relationship Id="rId5" Type="http://schemas.openxmlformats.org/officeDocument/2006/relationships/image" Target="../media/image28.emf" /><Relationship Id="rId15" Type="http://schemas.openxmlformats.org/officeDocument/2006/relationships/image" Target="../media/image5.png" /><Relationship Id="rId10" Type="http://schemas.openxmlformats.org/officeDocument/2006/relationships/image" Target="../media/image33.jpeg" /><Relationship Id="rId4" Type="http://schemas.openxmlformats.org/officeDocument/2006/relationships/image" Target="../media/image27.jpeg" /><Relationship Id="rId9" Type="http://schemas.openxmlformats.org/officeDocument/2006/relationships/image" Target="../media/image32.emf" /><Relationship Id="rId14" Type="http://schemas.openxmlformats.org/officeDocument/2006/relationships/image" Target="../media/image4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478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05E64-E268-02E2-9ECA-A60A05E0F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4471534" y="345735"/>
            <a:ext cx="2511158" cy="1789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AA48A9-55FF-CB20-418E-6887958A4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33327" r="2828" b="28291"/>
          <a:stretch/>
        </p:blipFill>
        <p:spPr>
          <a:xfrm>
            <a:off x="8738121" y="4097251"/>
            <a:ext cx="3211648" cy="204837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8C2E9E48-9AD6-FC6B-612C-D3D226DF1F01}"/>
              </a:ext>
            </a:extLst>
          </p:cNvPr>
          <p:cNvSpPr txBox="1">
            <a:spLocks/>
          </p:cNvSpPr>
          <p:nvPr/>
        </p:nvSpPr>
        <p:spPr>
          <a:xfrm>
            <a:off x="215467" y="4946073"/>
            <a:ext cx="6781077" cy="1911927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EAM NAME   	    </a:t>
            </a:r>
            <a:r>
              <a:rPr lang="en-US" sz="1100" b="1" dirty="0">
                <a:latin typeface="Times New Roman" pitchFamily="18" charset="0"/>
                <a:ea typeface="+mj-ea"/>
                <a:cs typeface="Times New Roman" pitchFamily="18" charset="0"/>
              </a:rPr>
              <a:t>:             SPARKERS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TEAM VIN NO	    :             </a:t>
            </a: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ASI-TEAM-00084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COLLEGE NAME    	    :              KNOWLEDGE INSTITUTE OF TECHNOLOGY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ENGINE CATEGORY	    :              1</a:t>
            </a: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60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cc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FUEL SYSTEM	    </a:t>
            </a:r>
            <a:r>
              <a:rPr lang="en-US" sz="1100" b="1" dirty="0">
                <a:latin typeface="Times New Roman" pitchFamily="18" charset="0"/>
                <a:ea typeface="+mj-ea"/>
                <a:cs typeface="Times New Roman" pitchFamily="18" charset="0"/>
              </a:rPr>
              <a:t>: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CARBURETOR </a:t>
            </a:r>
          </a:p>
          <a:p>
            <a:pPr>
              <a:spcBef>
                <a:spcPct val="20000"/>
              </a:spcBef>
              <a:defRPr/>
            </a:pPr>
            <a:endParaRPr lang="en-US" sz="788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788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788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E546F9-8A6B-2775-D971-8531B58A5D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3928906" y="-168979"/>
            <a:ext cx="5754266" cy="40807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16727" y="2299855"/>
            <a:ext cx="74814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3600" b="1" dirty="0">
                <a:solidFill>
                  <a:srgbClr val="E91717"/>
                </a:solidFill>
                <a:latin typeface="Leelawadee" panose="020B0502040204020203" pitchFamily="34" charset="-34"/>
                <a:ea typeface="Righteous"/>
                <a:cs typeface="Leelawadee" panose="020B0502040204020203" pitchFamily="34" charset="-34"/>
                <a:sym typeface="Righteous"/>
              </a:rPr>
              <a:t>GO-KART PRESENTATION</a:t>
            </a:r>
            <a:endParaRPr lang="en-IN" sz="3600" dirty="0">
              <a:solidFill>
                <a:srgbClr val="E91717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cxnSp>
        <p:nvCxnSpPr>
          <p:cNvPr id="23" name="Google Shape;267;p27"/>
          <p:cNvCxnSpPr/>
          <p:nvPr/>
        </p:nvCxnSpPr>
        <p:spPr>
          <a:xfrm flipV="1">
            <a:off x="3602182" y="3283527"/>
            <a:ext cx="4364182" cy="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267;p27"/>
          <p:cNvCxnSpPr/>
          <p:nvPr/>
        </p:nvCxnSpPr>
        <p:spPr>
          <a:xfrm>
            <a:off x="3643745" y="3990109"/>
            <a:ext cx="4308764" cy="1385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3962400" y="3410589"/>
            <a:ext cx="35883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"Speed, Challenge, Triumph!"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8FB8-0706-5E6D-B4EA-ACE0CC3A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27D398-C96A-C3BE-BF05-484A28E62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35868"/>
              </p:ext>
            </p:extLst>
          </p:nvPr>
        </p:nvGraphicFramePr>
        <p:xfrm>
          <a:off x="472620" y="1412270"/>
          <a:ext cx="4901105" cy="513576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69489">
                  <a:extLst>
                    <a:ext uri="{9D8B030D-6E8A-4147-A177-3AD203B41FA5}">
                      <a16:colId xmlns:a16="http://schemas.microsoft.com/office/drawing/2014/main" val="825634445"/>
                    </a:ext>
                  </a:extLst>
                </a:gridCol>
                <a:gridCol w="1976283">
                  <a:extLst>
                    <a:ext uri="{9D8B030D-6E8A-4147-A177-3AD203B41FA5}">
                      <a16:colId xmlns:a16="http://schemas.microsoft.com/office/drawing/2014/main" val="2864046308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906147140"/>
                    </a:ext>
                  </a:extLst>
                </a:gridCol>
              </a:tblGrid>
              <a:tr h="47321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SI.</a:t>
                      </a:r>
                    </a:p>
                    <a:p>
                      <a:pPr algn="ctr"/>
                      <a:r>
                        <a:rPr lang="en-IN" sz="1200" dirty="0"/>
                        <a:t>NO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NAME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DESIGNATION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1676971"/>
                  </a:ext>
                </a:extLst>
              </a:tr>
              <a:tr h="32011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HARISH A 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CAPTAIN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5007729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NISH C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VICE CAPTAIN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6417349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PRITHIV RAJ V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DRIVER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21805325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K</a:t>
                      </a:r>
                      <a:r>
                        <a:rPr lang="en-IN" sz="1000" dirty="0"/>
                        <a:t>ARTHICK S </a:t>
                      </a:r>
                      <a:r>
                        <a:rPr lang="en-IN" sz="1000" dirty="0" err="1"/>
                        <a:t>S</a:t>
                      </a:r>
                      <a:r>
                        <a:rPr lang="en-IN" sz="1000" dirty="0"/>
                        <a:t>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DRIVER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8217002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SAKTHIVEL V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0025203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VERARAGAVAN A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7044217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7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GOKUL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0813769"/>
                  </a:ext>
                </a:extLst>
              </a:tr>
              <a:tr h="33403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SANTHOSH S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55287287"/>
                  </a:ext>
                </a:extLst>
              </a:tr>
              <a:tr h="33403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SRI NATH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3632854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</a:t>
                      </a:r>
                      <a:r>
                        <a:rPr lang="en-IN" sz="1000" dirty="0"/>
                        <a:t>INGESHWARAN K M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672176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11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V</a:t>
                      </a:r>
                      <a:r>
                        <a:rPr lang="en-IN" sz="1000" dirty="0"/>
                        <a:t>IJAY R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90654465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PREM KUMAR G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154978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RAJENDRA HARI PRASATH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692230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SANTHOSH  G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34839735"/>
                  </a:ext>
                </a:extLst>
              </a:tr>
              <a:tr h="37578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  <a:r>
                        <a:rPr lang="en-IN" sz="10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 SURENDHAR G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STEERING </a:t>
                      </a:r>
                    </a:p>
                    <a:p>
                      <a:pPr algn="ctr"/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57961527"/>
                  </a:ext>
                </a:extLst>
              </a:tr>
              <a:tr h="38970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VIVIN B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90826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0F9A48-A1E8-7034-EF18-AAEF95E53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66652"/>
              </p:ext>
            </p:extLst>
          </p:nvPr>
        </p:nvGraphicFramePr>
        <p:xfrm>
          <a:off x="5616222" y="1368777"/>
          <a:ext cx="5601106" cy="51627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786918071"/>
                    </a:ext>
                  </a:extLst>
                </a:gridCol>
                <a:gridCol w="2920999">
                  <a:extLst>
                    <a:ext uri="{9D8B030D-6E8A-4147-A177-3AD203B41FA5}">
                      <a16:colId xmlns:a16="http://schemas.microsoft.com/office/drawing/2014/main" val="928517752"/>
                    </a:ext>
                  </a:extLst>
                </a:gridCol>
                <a:gridCol w="2172107">
                  <a:extLst>
                    <a:ext uri="{9D8B030D-6E8A-4147-A177-3AD203B41FA5}">
                      <a16:colId xmlns:a16="http://schemas.microsoft.com/office/drawing/2014/main" val="2301884764"/>
                    </a:ext>
                  </a:extLst>
                </a:gridCol>
              </a:tblGrid>
              <a:tr h="49145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SI.</a:t>
                      </a:r>
                    </a:p>
                    <a:p>
                      <a:pPr algn="ctr"/>
                      <a:r>
                        <a:rPr lang="en-IN" sz="1200" dirty="0"/>
                        <a:t>NO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NAME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DESIGNATION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2517051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</a:t>
                      </a:r>
                      <a:r>
                        <a:rPr lang="en-IN" sz="1000" dirty="0"/>
                        <a:t>AHESH RAJ P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6795252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BALAJI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5523774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KAVIN  M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29404526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ABARI M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3201469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KARTHI V S (HEAD) 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692929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PRAKASH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2820810"/>
                  </a:ext>
                </a:extLst>
              </a:tr>
              <a:tr h="347411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HARAN 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33051753"/>
                  </a:ext>
                </a:extLst>
              </a:tr>
              <a:tr h="31901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J</a:t>
                      </a:r>
                      <a:r>
                        <a:rPr lang="en-IN" sz="1000" dirty="0"/>
                        <a:t>AYAPRASATH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6863559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SANTHOSH </a:t>
                      </a:r>
                      <a:r>
                        <a:rPr lang="en-IN" sz="1000" dirty="0"/>
                        <a:t>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3502667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DINESH KARTHICK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8944903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r>
                        <a:rPr lang="en-IN" sz="1000" dirty="0"/>
                        <a:t>URU PRASANNA V [HEAD]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DESIGN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43775211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OOPESH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77303007"/>
                  </a:ext>
                </a:extLst>
              </a:tr>
              <a:tr h="27163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r>
                        <a:rPr lang="en-IN" sz="10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MANORENJITH S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DESIGN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017678"/>
                  </a:ext>
                </a:extLst>
              </a:tr>
              <a:tr h="38491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DEEPAKSANJEI S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  <a:p>
                      <a:pPr algn="ctr"/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37248508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PALANIYAPPAN A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684688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13" name="Google Shape;597;p25"/>
          <p:cNvSpPr txBox="1">
            <a:spLocks noGrp="1"/>
          </p:cNvSpPr>
          <p:nvPr>
            <p:ph type="title"/>
          </p:nvPr>
        </p:nvSpPr>
        <p:spPr>
          <a:xfrm>
            <a:off x="1444845" y="212436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Composition And Allocation</a:t>
            </a:r>
            <a:endParaRPr sz="3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143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10" name="Google Shape;597;p25"/>
          <p:cNvSpPr txBox="1">
            <a:spLocks noGrp="1"/>
          </p:cNvSpPr>
          <p:nvPr>
            <p:ph type="title"/>
          </p:nvPr>
        </p:nvSpPr>
        <p:spPr>
          <a:xfrm>
            <a:off x="3823855" y="0"/>
            <a:ext cx="4320019" cy="789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 Rules</a:t>
            </a:r>
            <a:endParaRPr sz="3600" dirty="0"/>
          </a:p>
        </p:txBody>
      </p:sp>
      <p:sp>
        <p:nvSpPr>
          <p:cNvPr id="16" name="Google Shape;1151;p41"/>
          <p:cNvSpPr/>
          <p:nvPr/>
        </p:nvSpPr>
        <p:spPr>
          <a:xfrm>
            <a:off x="4632729" y="1949368"/>
            <a:ext cx="45719" cy="4500469"/>
          </a:xfrm>
          <a:custGeom>
            <a:avLst/>
            <a:gdLst/>
            <a:ahLst/>
            <a:cxnLst/>
            <a:rect l="l" t="t" r="r" b="b"/>
            <a:pathLst>
              <a:path w="120" h="30553" extrusionOk="0">
                <a:moveTo>
                  <a:pt x="60" y="0"/>
                </a:moveTo>
                <a:cubicBezTo>
                  <a:pt x="31" y="0"/>
                  <a:pt x="1" y="20"/>
                  <a:pt x="1" y="40"/>
                </a:cubicBezTo>
                <a:lnTo>
                  <a:pt x="1" y="30503"/>
                </a:lnTo>
                <a:cubicBezTo>
                  <a:pt x="1" y="30533"/>
                  <a:pt x="31" y="30553"/>
                  <a:pt x="60" y="30553"/>
                </a:cubicBezTo>
                <a:cubicBezTo>
                  <a:pt x="90" y="30553"/>
                  <a:pt x="120" y="30533"/>
                  <a:pt x="120" y="30503"/>
                </a:cubicBezTo>
                <a:lnTo>
                  <a:pt x="120" y="40"/>
                </a:lnTo>
                <a:cubicBezTo>
                  <a:pt x="120" y="20"/>
                  <a:pt x="90" y="0"/>
                  <a:pt x="60" y="0"/>
                </a:cubicBezTo>
                <a:close/>
              </a:path>
            </a:pathLst>
          </a:custGeom>
          <a:solidFill>
            <a:srgbClr val="F7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1486;p43"/>
          <p:cNvSpPr/>
          <p:nvPr/>
        </p:nvSpPr>
        <p:spPr>
          <a:xfrm>
            <a:off x="318654" y="1042432"/>
            <a:ext cx="11485419" cy="5510767"/>
          </a:xfrm>
          <a:prstGeom prst="roundRect">
            <a:avLst>
              <a:gd name="adj" fmla="val 7370"/>
            </a:avLst>
          </a:prstGeom>
          <a:solidFill>
            <a:srgbClr val="FF6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sp>
        <p:nvSpPr>
          <p:cNvPr id="86" name="Rectangle 1"/>
          <p:cNvSpPr>
            <a:spLocks noChangeArrowheads="1"/>
          </p:cNvSpPr>
          <p:nvPr/>
        </p:nvSpPr>
        <p:spPr bwMode="auto">
          <a:xfrm>
            <a:off x="642937" y="1354768"/>
            <a:ext cx="10372725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Jackets: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 members must wear orange jackets with team name and vehicle number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(1-inch letters) to access the track during dynamic events.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Inspection: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pass inspection, including checks on electrical, tractive system, engine, brakes, and driver safety.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Mounting: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Batteries must be securely mounted away from the driver’s seat or cockpit.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Night Visibility: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have tape or radium lights on exposed parts during night endurance races.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Tilt Test: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be free of oil leaks when tilted at 45-degree angles.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Reverse Light and Alarm: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have a reverse light and alarm for reverse gear.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Extinguishers: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 must have two fire extinguishers—one in the vehicle and one in the pit.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Size Compliance: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comply with maximum size limits or be disqualified.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745" y="0"/>
            <a:ext cx="969818" cy="969818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0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001;p37"/>
          <p:cNvSpPr/>
          <p:nvPr/>
        </p:nvSpPr>
        <p:spPr>
          <a:xfrm>
            <a:off x="221672" y="914400"/>
            <a:ext cx="6985348" cy="5777344"/>
          </a:xfrm>
          <a:prstGeom prst="roundRect">
            <a:avLst>
              <a:gd name="adj" fmla="val 4649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object 8">
            <a:extLst>
              <a:ext uri="{FF2B5EF4-FFF2-40B4-BE49-F238E27FC236}">
                <a16:creationId xmlns:a16="http://schemas.microsoft.com/office/drawing/2014/main" id="{EBA55BC7-1BAB-2063-EECC-00D6558C8A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990" y="2946478"/>
            <a:ext cx="2587538" cy="136228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6" name="object 4">
            <a:extLst>
              <a:ext uri="{FF2B5EF4-FFF2-40B4-BE49-F238E27FC236}">
                <a16:creationId xmlns:a16="http://schemas.microsoft.com/office/drawing/2014/main" id="{FF8842D6-6440-05A5-029B-EF53957234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531" y="4746303"/>
            <a:ext cx="2675269" cy="139126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7" name="object 5">
            <a:extLst>
              <a:ext uri="{FF2B5EF4-FFF2-40B4-BE49-F238E27FC236}">
                <a16:creationId xmlns:a16="http://schemas.microsoft.com/office/drawing/2014/main" id="{89BD7496-5F45-9F88-2151-834C27D2535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366" y="1347997"/>
            <a:ext cx="2439744" cy="118738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8" name="object 10">
            <a:extLst>
              <a:ext uri="{FF2B5EF4-FFF2-40B4-BE49-F238E27FC236}">
                <a16:creationId xmlns:a16="http://schemas.microsoft.com/office/drawing/2014/main" id="{9E9BFE8F-0A3D-B600-97F6-FC5E3630DFB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90997" y="1602290"/>
            <a:ext cx="2879276" cy="399494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0" name="Google Shape;970;p37"/>
          <p:cNvSpPr/>
          <p:nvPr/>
        </p:nvSpPr>
        <p:spPr>
          <a:xfrm>
            <a:off x="375947" y="1070487"/>
            <a:ext cx="6620597" cy="5482712"/>
          </a:xfrm>
          <a:prstGeom prst="roundRect">
            <a:avLst>
              <a:gd name="adj" fmla="val 6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object 6">
            <a:extLst>
              <a:ext uri="{FF2B5EF4-FFF2-40B4-BE49-F238E27FC236}">
                <a16:creationId xmlns:a16="http://schemas.microsoft.com/office/drawing/2014/main" id="{A95A6408-4F5C-9EC6-625E-7CD6BE511249}"/>
              </a:ext>
            </a:extLst>
          </p:cNvPr>
          <p:cNvSpPr txBox="1"/>
          <p:nvPr/>
        </p:nvSpPr>
        <p:spPr>
          <a:xfrm>
            <a:off x="1116974" y="4325259"/>
            <a:ext cx="19773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7">
            <a:extLst>
              <a:ext uri="{FF2B5EF4-FFF2-40B4-BE49-F238E27FC236}">
                <a16:creationId xmlns:a16="http://schemas.microsoft.com/office/drawing/2014/main" id="{8FD101FB-BA25-C5EC-5D42-1984D6B75E4E}"/>
              </a:ext>
            </a:extLst>
          </p:cNvPr>
          <p:cNvSpPr txBox="1"/>
          <p:nvPr/>
        </p:nvSpPr>
        <p:spPr>
          <a:xfrm>
            <a:off x="1133220" y="6135306"/>
            <a:ext cx="17371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9">
            <a:extLst>
              <a:ext uri="{FF2B5EF4-FFF2-40B4-BE49-F238E27FC236}">
                <a16:creationId xmlns:a16="http://schemas.microsoft.com/office/drawing/2014/main" id="{ABECA663-8817-F401-688F-90B91EE8422D}"/>
              </a:ext>
            </a:extLst>
          </p:cNvPr>
          <p:cNvSpPr txBox="1"/>
          <p:nvPr/>
        </p:nvSpPr>
        <p:spPr>
          <a:xfrm>
            <a:off x="1036409" y="2555970"/>
            <a:ext cx="23080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</a:t>
            </a:r>
            <a:r>
              <a:rPr sz="20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bject 9">
            <a:extLst>
              <a:ext uri="{FF2B5EF4-FFF2-40B4-BE49-F238E27FC236}">
                <a16:creationId xmlns:a16="http://schemas.microsoft.com/office/drawing/2014/main" id="{ABECA663-8817-F401-688F-90B91EE8422D}"/>
              </a:ext>
            </a:extLst>
          </p:cNvPr>
          <p:cNvSpPr txBox="1"/>
          <p:nvPr/>
        </p:nvSpPr>
        <p:spPr>
          <a:xfrm>
            <a:off x="4264519" y="5673243"/>
            <a:ext cx="23080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VIEW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67282B-49F7-14CF-D4A6-6DFE7DEA433E}"/>
              </a:ext>
            </a:extLst>
          </p:cNvPr>
          <p:cNvSpPr txBox="1"/>
          <p:nvPr/>
        </p:nvSpPr>
        <p:spPr>
          <a:xfrm>
            <a:off x="1836684" y="97506"/>
            <a:ext cx="6749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 And 3D 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990DEE4E-B5A0-4255-97A1-762BFBE0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62453"/>
              </p:ext>
            </p:extLst>
          </p:nvPr>
        </p:nvGraphicFramePr>
        <p:xfrm>
          <a:off x="7426036" y="1165857"/>
          <a:ext cx="4613563" cy="48802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87903">
                  <a:extLst>
                    <a:ext uri="{9D8B030D-6E8A-4147-A177-3AD203B41FA5}">
                      <a16:colId xmlns:a16="http://schemas.microsoft.com/office/drawing/2014/main" val="43898814"/>
                    </a:ext>
                  </a:extLst>
                </a:gridCol>
                <a:gridCol w="2325660">
                  <a:extLst>
                    <a:ext uri="{9D8B030D-6E8A-4147-A177-3AD203B41FA5}">
                      <a16:colId xmlns:a16="http://schemas.microsoft.com/office/drawing/2014/main" val="2525962401"/>
                    </a:ext>
                  </a:extLst>
                </a:gridCol>
              </a:tblGrid>
              <a:tr h="607386">
                <a:tc>
                  <a:txBody>
                    <a:bodyPr/>
                    <a:lstStyle/>
                    <a:p>
                      <a:pPr marL="568325" marR="434340" algn="l">
                        <a:lnSpc>
                          <a:spcPct val="78900"/>
                        </a:lnSpc>
                        <a:spcBef>
                          <a:spcPts val="285"/>
                        </a:spcBef>
                      </a:pPr>
                      <a:r>
                        <a:rPr sz="1600" b="1" spc="-10" dirty="0"/>
                        <a:t>TECHNICAL </a:t>
                      </a:r>
                      <a:r>
                        <a:rPr sz="1600" b="1" spc="-20" dirty="0"/>
                        <a:t>SPECIFICATION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spc="-10" dirty="0"/>
                        <a:t>RESPECTIVE</a:t>
                      </a:r>
                      <a:r>
                        <a:rPr sz="1600" b="1" spc="-40" dirty="0"/>
                        <a:t> </a:t>
                      </a:r>
                      <a:r>
                        <a:rPr sz="1600" b="1" spc="-10" dirty="0"/>
                        <a:t>VALUES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706241382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/>
                        <a:t>Overall</a:t>
                      </a:r>
                      <a:r>
                        <a:rPr sz="1600" spc="-85" dirty="0"/>
                        <a:t> </a:t>
                      </a:r>
                      <a:r>
                        <a:rPr sz="1600" spc="-10" dirty="0"/>
                        <a:t>Dimensions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/>
                        <a:t>Length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35" dirty="0"/>
                        <a:t> </a:t>
                      </a:r>
                      <a:r>
                        <a:rPr lang="en-IN" sz="1600" spc="-35" dirty="0"/>
                        <a:t>68</a:t>
                      </a:r>
                      <a:r>
                        <a:rPr sz="1600" spc="-35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/>
                        <a:t>Width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15" dirty="0"/>
                        <a:t>  </a:t>
                      </a:r>
                      <a:r>
                        <a:rPr lang="en-US" sz="1600" spc="-15" dirty="0"/>
                        <a:t>45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2901641833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5" dirty="0"/>
                        <a:t>Track</a:t>
                      </a:r>
                      <a:r>
                        <a:rPr sz="1600" spc="-65" dirty="0"/>
                        <a:t> </a:t>
                      </a:r>
                      <a:r>
                        <a:rPr sz="1600" spc="-10" dirty="0"/>
                        <a:t>Width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582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Small : </a:t>
                      </a:r>
                      <a:r>
                        <a:rPr lang="en-IN" sz="1600" dirty="0"/>
                        <a:t>49.5 </a:t>
                      </a:r>
                      <a:r>
                        <a:rPr lang="en-IN" sz="1600" spc="-10" dirty="0" err="1"/>
                        <a:t>i</a:t>
                      </a:r>
                      <a:r>
                        <a:rPr sz="1600" spc="-10" dirty="0" err="1"/>
                        <a:t>nches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Large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20" dirty="0"/>
                        <a:t> </a:t>
                      </a:r>
                      <a:r>
                        <a:rPr lang="en-US" sz="1600" spc="-20" dirty="0"/>
                        <a:t>49</a:t>
                      </a:r>
                      <a:r>
                        <a:rPr sz="1600" dirty="0"/>
                        <a:t>.75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738305454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Wheel</a:t>
                      </a:r>
                      <a:r>
                        <a:rPr sz="1600" spc="-30" dirty="0"/>
                        <a:t> </a:t>
                      </a:r>
                      <a:r>
                        <a:rPr sz="1600" spc="-20" dirty="0"/>
                        <a:t>Base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4</a:t>
                      </a:r>
                      <a:r>
                        <a:rPr lang="en-US" sz="1600" dirty="0"/>
                        <a:t>0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33455634"/>
                  </a:ext>
                </a:extLst>
              </a:tr>
              <a:tr h="513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Tire</a:t>
                      </a:r>
                      <a:r>
                        <a:rPr sz="1600" spc="-40" dirty="0"/>
                        <a:t> </a:t>
                      </a:r>
                      <a:r>
                        <a:rPr sz="1600" spc="-20" dirty="0"/>
                        <a:t>Size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Front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10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4.</a:t>
                      </a:r>
                      <a:r>
                        <a:rPr lang="en-US" sz="1600" dirty="0"/>
                        <a:t>7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5</a:t>
                      </a:r>
                      <a:r>
                        <a:rPr sz="1600" spc="-20" dirty="0"/>
                        <a:t> </a:t>
                      </a:r>
                      <a:r>
                        <a:rPr sz="1600" spc="-25" dirty="0"/>
                        <a:t>in</a:t>
                      </a:r>
                      <a:endParaRPr sz="1600" dirty="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/>
                        <a:t>Rear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11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7.1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5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in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732485924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Ground</a:t>
                      </a:r>
                      <a:r>
                        <a:rPr sz="1600" spc="-75" dirty="0"/>
                        <a:t> </a:t>
                      </a:r>
                      <a:r>
                        <a:rPr sz="1600" spc="-10" dirty="0"/>
                        <a:t>Clearance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2</a:t>
                      </a:r>
                      <a:r>
                        <a:rPr sz="1600" spc="-10" dirty="0"/>
                        <a:t> 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698560564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Centre</a:t>
                      </a:r>
                      <a:r>
                        <a:rPr sz="1600" spc="-55" dirty="0"/>
                        <a:t> </a:t>
                      </a:r>
                      <a:r>
                        <a:rPr sz="1600" dirty="0"/>
                        <a:t>of</a:t>
                      </a:r>
                      <a:r>
                        <a:rPr sz="1600" spc="-35" dirty="0"/>
                        <a:t> </a:t>
                      </a:r>
                      <a:r>
                        <a:rPr sz="1600" spc="-10" dirty="0"/>
                        <a:t>Gravity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663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/>
                        <a:t>19.32(from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left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side) 26.62(from</a:t>
                      </a:r>
                      <a:r>
                        <a:rPr sz="1600" spc="-55" dirty="0"/>
                        <a:t> </a:t>
                      </a:r>
                      <a:r>
                        <a:rPr sz="1600" dirty="0"/>
                        <a:t>front</a:t>
                      </a:r>
                      <a:r>
                        <a:rPr sz="1600" spc="-50" dirty="0"/>
                        <a:t> </a:t>
                      </a:r>
                      <a:r>
                        <a:rPr sz="1600" spc="-10" dirty="0"/>
                        <a:t>side)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73273001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Maximum</a:t>
                      </a:r>
                      <a:r>
                        <a:rPr sz="1600" spc="-25" dirty="0"/>
                        <a:t> </a:t>
                      </a:r>
                      <a:r>
                        <a:rPr sz="1600" spc="-20" dirty="0"/>
                        <a:t>Speed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600" dirty="0"/>
                        <a:t>9</a:t>
                      </a:r>
                      <a:r>
                        <a:rPr sz="1600" dirty="0"/>
                        <a:t>0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Km/hr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245185776"/>
                  </a:ext>
                </a:extLst>
              </a:tr>
              <a:tr h="3514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Maximum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Acceleration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5.88</a:t>
                      </a:r>
                      <a:r>
                        <a:rPr sz="1600" spc="-10" dirty="0"/>
                        <a:t> </a:t>
                      </a:r>
                      <a:r>
                        <a:rPr sz="1600" spc="-20" dirty="0"/>
                        <a:t>m/s²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046449167"/>
                  </a:ext>
                </a:extLst>
              </a:tr>
              <a:tr h="272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10" dirty="0"/>
                        <a:t>Weight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/>
                        <a:t>1</a:t>
                      </a:r>
                      <a:r>
                        <a:rPr lang="en-US" sz="1600" dirty="0"/>
                        <a:t>70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Kg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351435867"/>
                  </a:ext>
                </a:extLst>
              </a:tr>
              <a:tr h="272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/>
                        <a:t>Break</a:t>
                      </a:r>
                      <a:r>
                        <a:rPr sz="1600" spc="-60" dirty="0"/>
                        <a:t> </a:t>
                      </a:r>
                      <a:r>
                        <a:rPr sz="1600" spc="-20" dirty="0"/>
                        <a:t>Type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Hydraulic  Disc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4127431962"/>
                  </a:ext>
                </a:extLst>
              </a:tr>
            </a:tbl>
          </a:graphicData>
        </a:graphic>
      </p:graphicFrame>
      <p:pic>
        <p:nvPicPr>
          <p:cNvPr id="57" name="Picture 5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1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1;p37"/>
          <p:cNvSpPr/>
          <p:nvPr/>
        </p:nvSpPr>
        <p:spPr>
          <a:xfrm>
            <a:off x="124689" y="1039090"/>
            <a:ext cx="6985348" cy="5597235"/>
          </a:xfrm>
          <a:prstGeom prst="roundRect">
            <a:avLst>
              <a:gd name="adj" fmla="val 46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70;p37"/>
          <p:cNvSpPr/>
          <p:nvPr/>
        </p:nvSpPr>
        <p:spPr>
          <a:xfrm>
            <a:off x="306674" y="1199847"/>
            <a:ext cx="6620597" cy="5311788"/>
          </a:xfrm>
          <a:prstGeom prst="roundRect">
            <a:avLst>
              <a:gd name="adj" fmla="val 6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388AD23A-3608-750C-F9C3-1A6304ACC5C3}"/>
              </a:ext>
            </a:extLst>
          </p:cNvPr>
          <p:cNvGrpSpPr/>
          <p:nvPr/>
        </p:nvGrpSpPr>
        <p:grpSpPr>
          <a:xfrm>
            <a:off x="682539" y="1395530"/>
            <a:ext cx="2282334" cy="1735597"/>
            <a:chOff x="5681408" y="723836"/>
            <a:chExt cx="2694305" cy="2124710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316C706D-FFC4-6519-1C0A-8F8765A1C5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0997" y="804489"/>
              <a:ext cx="2675128" cy="1989799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692920B1-BF30-9613-35E7-4F30D8FCB371}"/>
                </a:ext>
              </a:extLst>
            </p:cNvPr>
            <p:cNvSpPr/>
            <p:nvPr/>
          </p:nvSpPr>
          <p:spPr>
            <a:xfrm>
              <a:off x="5686171" y="728598"/>
              <a:ext cx="2684780" cy="2115185"/>
            </a:xfrm>
            <a:custGeom>
              <a:avLst/>
              <a:gdLst/>
              <a:ahLst/>
              <a:cxnLst/>
              <a:rect l="l" t="t" r="r" b="b"/>
              <a:pathLst>
                <a:path w="2684779" h="2115185">
                  <a:moveTo>
                    <a:pt x="0" y="2114804"/>
                  </a:moveTo>
                  <a:lnTo>
                    <a:pt x="2684653" y="2114804"/>
                  </a:lnTo>
                  <a:lnTo>
                    <a:pt x="2684653" y="0"/>
                  </a:lnTo>
                  <a:lnTo>
                    <a:pt x="0" y="0"/>
                  </a:lnTo>
                  <a:lnTo>
                    <a:pt x="0" y="21148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 47">
            <a:extLst>
              <a:ext uri="{FF2B5EF4-FFF2-40B4-BE49-F238E27FC236}">
                <a16:creationId xmlns:a16="http://schemas.microsoft.com/office/drawing/2014/main" id="{1AF383E1-6A5D-7E39-B896-D07F76F2E5A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45680" y="3383683"/>
            <a:ext cx="1919435" cy="303414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1F4386-331E-395A-BF02-CCD59F72B3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41" y="1446356"/>
            <a:ext cx="3202867" cy="189258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F524BC-B253-5BEB-881E-B37FC5A66FF2}"/>
              </a:ext>
            </a:extLst>
          </p:cNvPr>
          <p:cNvSpPr txBox="1"/>
          <p:nvPr/>
        </p:nvSpPr>
        <p:spPr>
          <a:xfrm>
            <a:off x="435167" y="3283114"/>
            <a:ext cx="3002233" cy="48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5080" indent="-887094">
              <a:lnSpc>
                <a:spcPct val="69400"/>
              </a:lnSpc>
              <a:spcBef>
                <a:spcPts val="76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en-US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</a:t>
            </a:r>
            <a:r>
              <a:rPr lang="en-US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en-US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AISI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4130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94861B-E6E2-DB91-134F-374D6ADCB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32528"/>
              </p:ext>
            </p:extLst>
          </p:nvPr>
        </p:nvGraphicFramePr>
        <p:xfrm>
          <a:off x="548756" y="3936449"/>
          <a:ext cx="2679954" cy="19533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00884">
                  <a:extLst>
                    <a:ext uri="{9D8B030D-6E8A-4147-A177-3AD203B41FA5}">
                      <a16:colId xmlns:a16="http://schemas.microsoft.com/office/drawing/2014/main" val="3608228480"/>
                    </a:ext>
                  </a:extLst>
                </a:gridCol>
                <a:gridCol w="1579070">
                  <a:extLst>
                    <a:ext uri="{9D8B030D-6E8A-4147-A177-3AD203B41FA5}">
                      <a16:colId xmlns:a16="http://schemas.microsoft.com/office/drawing/2014/main" val="1495289743"/>
                    </a:ext>
                  </a:extLst>
                </a:gridCol>
              </a:tblGrid>
              <a:tr h="5026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</a:t>
                      </a:r>
                      <a:r>
                        <a:rPr sz="16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Cage</a:t>
                      </a:r>
                      <a:r>
                        <a:rPr sz="1600" b="1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22kg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2330761514"/>
                  </a:ext>
                </a:extLst>
              </a:tr>
              <a:tr h="5026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Inner</a:t>
                      </a:r>
                      <a:r>
                        <a:rPr sz="16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Diameter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21.25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2334405136"/>
                  </a:ext>
                </a:extLst>
              </a:tr>
              <a:tr h="5315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Diameter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25.4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127001537"/>
                  </a:ext>
                </a:extLst>
              </a:tr>
              <a:tr h="3842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Thickness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2.075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74027889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EDED3A-1BBE-9121-57D0-763FC46D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85621"/>
              </p:ext>
            </p:extLst>
          </p:nvPr>
        </p:nvGraphicFramePr>
        <p:xfrm>
          <a:off x="7365480" y="1428842"/>
          <a:ext cx="4648200" cy="477799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7064">
                  <a:extLst>
                    <a:ext uri="{9D8B030D-6E8A-4147-A177-3AD203B41FA5}">
                      <a16:colId xmlns:a16="http://schemas.microsoft.com/office/drawing/2014/main" val="655488540"/>
                    </a:ext>
                  </a:extLst>
                </a:gridCol>
                <a:gridCol w="1056725">
                  <a:extLst>
                    <a:ext uri="{9D8B030D-6E8A-4147-A177-3AD203B41FA5}">
                      <a16:colId xmlns:a16="http://schemas.microsoft.com/office/drawing/2014/main" val="480429731"/>
                    </a:ext>
                  </a:extLst>
                </a:gridCol>
                <a:gridCol w="1216889">
                  <a:extLst>
                    <a:ext uri="{9D8B030D-6E8A-4147-A177-3AD203B41FA5}">
                      <a16:colId xmlns:a16="http://schemas.microsoft.com/office/drawing/2014/main" val="4100062019"/>
                    </a:ext>
                  </a:extLst>
                </a:gridCol>
                <a:gridCol w="1127522">
                  <a:extLst>
                    <a:ext uri="{9D8B030D-6E8A-4147-A177-3AD203B41FA5}">
                      <a16:colId xmlns:a16="http://schemas.microsoft.com/office/drawing/2014/main" val="253986444"/>
                    </a:ext>
                  </a:extLst>
                </a:gridCol>
              </a:tblGrid>
              <a:tr h="467170"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Properties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1018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4130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1026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2316001921"/>
                  </a:ext>
                </a:extLst>
              </a:tr>
              <a:tr h="517537">
                <a:tc>
                  <a:txBody>
                    <a:bodyPr/>
                    <a:lstStyle/>
                    <a:p>
                      <a:pPr marL="90805" marR="4006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Density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(gm/cm²)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202891704"/>
                  </a:ext>
                </a:extLst>
              </a:tr>
              <a:tr h="5180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Elasticity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(GPa)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298241096"/>
                  </a:ext>
                </a:extLst>
              </a:tr>
              <a:tr h="51753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Elongation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8-26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7-27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53701095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1517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r>
                        <a:rPr lang="en-US"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r>
                        <a:rPr lang="en-US" sz="16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 (</a:t>
                      </a:r>
                      <a:r>
                        <a:rPr lang="en-US" sz="1600" spc="-1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KNm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/Kg)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725112763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322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expansion (цm/mK)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258951717"/>
                  </a:ext>
                </a:extLst>
              </a:tr>
              <a:tr h="467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UTS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(MPa)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560-1040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3486756168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471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(MPa)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415-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90371452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77152" y="0"/>
            <a:ext cx="8383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&amp; Overall Performance Target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101600"/>
            <a:ext cx="1625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46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001;p37"/>
          <p:cNvSpPr/>
          <p:nvPr/>
        </p:nvSpPr>
        <p:spPr>
          <a:xfrm>
            <a:off x="290945" y="942109"/>
            <a:ext cx="11637819" cy="5638800"/>
          </a:xfrm>
          <a:prstGeom prst="roundRect">
            <a:avLst>
              <a:gd name="adj" fmla="val 464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Picture 79" descr="A drawing of a robot&#10;&#10;Description automatically generated">
            <a:extLst>
              <a:ext uri="{FF2B5EF4-FFF2-40B4-BE49-F238E27FC236}">
                <a16:creationId xmlns:a16="http://schemas.microsoft.com/office/drawing/2014/main" id="{22B1F201-73F5-3A93-DE15-2548E92B8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3" y="1129516"/>
            <a:ext cx="3024429" cy="219557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1" name="Picture 80" descr="A computer generated image of a swing&#10;&#10;Description automatically generated">
            <a:extLst>
              <a:ext uri="{FF2B5EF4-FFF2-40B4-BE49-F238E27FC236}">
                <a16:creationId xmlns:a16="http://schemas.microsoft.com/office/drawing/2014/main" id="{20E969B5-0E9E-05C5-D602-1591E4BA689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37" y="3940471"/>
            <a:ext cx="3006017" cy="215553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2" name="Picture 81" descr="A computer screen shot of a blue and green wireframe&#10;&#10;Description automatically generated">
            <a:extLst>
              <a:ext uri="{FF2B5EF4-FFF2-40B4-BE49-F238E27FC236}">
                <a16:creationId xmlns:a16="http://schemas.microsoft.com/office/drawing/2014/main" id="{32F3E254-3A48-E9E0-1217-E7AEB538CE0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736" y="960693"/>
            <a:ext cx="3107555" cy="1990326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83" name="object 28">
            <a:extLst>
              <a:ext uri="{FF2B5EF4-FFF2-40B4-BE49-F238E27FC236}">
                <a16:creationId xmlns:a16="http://schemas.microsoft.com/office/drawing/2014/main" id="{9BFE537D-D2FB-4AF8-9F54-9C185DD9B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17911"/>
              </p:ext>
            </p:extLst>
          </p:nvPr>
        </p:nvGraphicFramePr>
        <p:xfrm>
          <a:off x="8406734" y="3414266"/>
          <a:ext cx="2976794" cy="146838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6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9263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10" dirty="0">
                          <a:solidFill>
                            <a:schemeClr val="tx1"/>
                          </a:solidFill>
                        </a:rPr>
                        <a:t>PROPERTIES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10" dirty="0">
                          <a:solidFill>
                            <a:schemeClr val="tx1"/>
                          </a:solidFill>
                        </a:rPr>
                        <a:t>FRONT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20" dirty="0">
                          <a:solidFill>
                            <a:schemeClr val="tx1"/>
                          </a:solidFill>
                        </a:rPr>
                        <a:t>REAR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20" dirty="0">
                          <a:solidFill>
                            <a:schemeClr val="tx1"/>
                          </a:solidFill>
                        </a:rPr>
                        <a:t>SIDE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200" dirty="0"/>
                    </a:p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200" b="1" spc="-25" dirty="0"/>
                        <a:t>FOS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7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/>
                    </a:p>
                    <a:p>
                      <a:pPr marL="22225" algn="ctr">
                        <a:lnSpc>
                          <a:spcPct val="100000"/>
                        </a:lnSpc>
                      </a:pPr>
                      <a:r>
                        <a:rPr sz="1200" spc="-20" dirty="0"/>
                        <a:t>2.14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/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200" dirty="0"/>
                        <a:t>2.</a:t>
                      </a:r>
                      <a:r>
                        <a:rPr sz="1200" spc="-105" dirty="0"/>
                        <a:t> </a:t>
                      </a:r>
                      <a:r>
                        <a:rPr sz="1200" spc="45" dirty="0"/>
                        <a:t>6387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 dirty="0"/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1200" dirty="0"/>
                        <a:t>3</a:t>
                      </a:r>
                      <a:r>
                        <a:rPr sz="1200" spc="-185" dirty="0"/>
                        <a:t> </a:t>
                      </a:r>
                      <a:r>
                        <a:rPr sz="1200" dirty="0"/>
                        <a:t>.</a:t>
                      </a:r>
                      <a:r>
                        <a:rPr sz="1200" spc="-175" dirty="0"/>
                        <a:t> </a:t>
                      </a:r>
                      <a:r>
                        <a:rPr sz="1200" spc="65" dirty="0"/>
                        <a:t>1331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" name="object 31">
            <a:extLst>
              <a:ext uri="{FF2B5EF4-FFF2-40B4-BE49-F238E27FC236}">
                <a16:creationId xmlns:a16="http://schemas.microsoft.com/office/drawing/2014/main" id="{732517E5-5368-BE21-AD63-BF54D95EC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69369"/>
              </p:ext>
            </p:extLst>
          </p:nvPr>
        </p:nvGraphicFramePr>
        <p:xfrm>
          <a:off x="4100466" y="4848516"/>
          <a:ext cx="2425026" cy="149138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7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0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PROPERTIES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6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sz="1800" spc="-6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(Mpa)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sz="1800" spc="-25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11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Tensile</a:t>
                      </a:r>
                      <a:r>
                        <a:rPr sz="1800" spc="-6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(MPa)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670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" name="object 29">
            <a:extLst>
              <a:ext uri="{FF2B5EF4-FFF2-40B4-BE49-F238E27FC236}">
                <a16:creationId xmlns:a16="http://schemas.microsoft.com/office/drawing/2014/main" id="{CA70D7C9-6BA3-0340-2924-4F3B3E349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10530"/>
              </p:ext>
            </p:extLst>
          </p:nvPr>
        </p:nvGraphicFramePr>
        <p:xfrm>
          <a:off x="7130381" y="5179211"/>
          <a:ext cx="2437764" cy="121011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8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2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MATERIAL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SPECS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3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AISI</a:t>
                      </a:r>
                      <a:r>
                        <a:rPr sz="1800" spc="-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4130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DENSITY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7.85</a:t>
                      </a:r>
                      <a:r>
                        <a:rPr sz="1800" spc="-3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g/cc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" name="Rectangle 85"/>
          <p:cNvSpPr/>
          <p:nvPr/>
        </p:nvSpPr>
        <p:spPr>
          <a:xfrm>
            <a:off x="3959457" y="0"/>
            <a:ext cx="35774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Chassis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89" name="object 15">
            <a:extLst>
              <a:ext uri="{FF2B5EF4-FFF2-40B4-BE49-F238E27FC236}">
                <a16:creationId xmlns:a16="http://schemas.microsoft.com/office/drawing/2014/main" id="{D9FA6959-FE1E-4AF9-DF4E-0FB1361FA4CD}"/>
              </a:ext>
            </a:extLst>
          </p:cNvPr>
          <p:cNvSpPr txBox="1"/>
          <p:nvPr/>
        </p:nvSpPr>
        <p:spPr>
          <a:xfrm>
            <a:off x="1646972" y="3307047"/>
            <a:ext cx="137057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object 13">
            <a:extLst>
              <a:ext uri="{FF2B5EF4-FFF2-40B4-BE49-F238E27FC236}">
                <a16:creationId xmlns:a16="http://schemas.microsoft.com/office/drawing/2014/main" id="{83CE4708-78E2-CAAC-7F6E-49E3C2B74A3A}"/>
              </a:ext>
            </a:extLst>
          </p:cNvPr>
          <p:cNvSpPr txBox="1"/>
          <p:nvPr/>
        </p:nvSpPr>
        <p:spPr>
          <a:xfrm>
            <a:off x="9341093" y="2974895"/>
            <a:ext cx="108202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object 14">
            <a:extLst>
              <a:ext uri="{FF2B5EF4-FFF2-40B4-BE49-F238E27FC236}">
                <a16:creationId xmlns:a16="http://schemas.microsoft.com/office/drawing/2014/main" id="{BC5215F7-7CCD-CF80-5AE9-62D67EDAB4FA}"/>
              </a:ext>
            </a:extLst>
          </p:cNvPr>
          <p:cNvSpPr txBox="1"/>
          <p:nvPr/>
        </p:nvSpPr>
        <p:spPr>
          <a:xfrm>
            <a:off x="1646971" y="6098334"/>
            <a:ext cx="111924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sz="16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4AA48A9-55FF-CB20-418E-6887958A4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33327" r="2828" b="28291"/>
          <a:stretch/>
        </p:blipFill>
        <p:spPr>
          <a:xfrm>
            <a:off x="4332376" y="1870362"/>
            <a:ext cx="3211648" cy="199505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016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7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1;p37"/>
          <p:cNvSpPr/>
          <p:nvPr/>
        </p:nvSpPr>
        <p:spPr>
          <a:xfrm>
            <a:off x="207818" y="914400"/>
            <a:ext cx="11623964" cy="5777345"/>
          </a:xfrm>
          <a:prstGeom prst="roundRect">
            <a:avLst>
              <a:gd name="adj" fmla="val 464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A54A071-AEF0-92F7-15A1-82E611B773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568" y="1064805"/>
            <a:ext cx="4953670" cy="245425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4766F72F-B15B-9B25-B25F-B236B5C638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7076" y="1064804"/>
            <a:ext cx="4868221" cy="251438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A4D0B2FF-68FE-307F-67A2-6807CA55D8A3}"/>
              </a:ext>
            </a:extLst>
          </p:cNvPr>
          <p:cNvSpPr txBox="1"/>
          <p:nvPr/>
        </p:nvSpPr>
        <p:spPr>
          <a:xfrm>
            <a:off x="2042735" y="3608400"/>
            <a:ext cx="196247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77E417D-3633-BF29-7906-004F7AA14741}"/>
              </a:ext>
            </a:extLst>
          </p:cNvPr>
          <p:cNvSpPr txBox="1"/>
          <p:nvPr/>
        </p:nvSpPr>
        <p:spPr>
          <a:xfrm>
            <a:off x="7914513" y="3579185"/>
            <a:ext cx="296979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Sitting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FF16EA16-489F-FEB7-130F-ADCC20337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93505"/>
              </p:ext>
            </p:extLst>
          </p:nvPr>
        </p:nvGraphicFramePr>
        <p:xfrm>
          <a:off x="568036" y="4003963"/>
          <a:ext cx="5098474" cy="241955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9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Ergonomic</a:t>
                      </a:r>
                      <a:r>
                        <a:rPr sz="1800" b="1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considerations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Comfort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Reducing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</a:t>
                      </a:r>
                      <a:r>
                        <a:rPr sz="18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postures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Making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levers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Increasing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4973979E-C2EB-9638-F15D-28F6C76A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43864"/>
              </p:ext>
            </p:extLst>
          </p:nvPr>
        </p:nvGraphicFramePr>
        <p:xfrm>
          <a:off x="6386945" y="4051670"/>
          <a:ext cx="5070765" cy="23352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70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r>
                        <a:rPr sz="18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considerations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007">
                <a:tc>
                  <a:txBody>
                    <a:bodyPr/>
                    <a:lstStyle/>
                    <a:p>
                      <a:pPr marL="2266315" marR="92075" indent="-2167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Kill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switches(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brake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travel,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access,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drivers cockpit)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3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extinguisher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Dot</a:t>
                      </a:r>
                      <a:r>
                        <a:rPr sz="18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rated</a:t>
                      </a:r>
                      <a:r>
                        <a:rPr sz="18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helmet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SFI</a:t>
                      </a:r>
                      <a:r>
                        <a:rPr sz="18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rated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driver’s</a:t>
                      </a:r>
                      <a:r>
                        <a:rPr sz="18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Gloves,</a:t>
                      </a:r>
                      <a:r>
                        <a:rPr sz="18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shoes,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neck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32277" y="0"/>
            <a:ext cx="3456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Ergonomics &amp; Safety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9;p25"/>
          <p:cNvSpPr/>
          <p:nvPr/>
        </p:nvSpPr>
        <p:spPr>
          <a:xfrm>
            <a:off x="295422" y="609600"/>
            <a:ext cx="11688760" cy="6012873"/>
          </a:xfrm>
          <a:prstGeom prst="round2DiagRect">
            <a:avLst>
              <a:gd name="adj1" fmla="val 32430"/>
              <a:gd name="adj2" fmla="val 0"/>
            </a:avLst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3D18C995-8CE7-F981-BB55-7906CF798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287836"/>
              </p:ext>
            </p:extLst>
          </p:nvPr>
        </p:nvGraphicFramePr>
        <p:xfrm>
          <a:off x="5042399" y="994317"/>
          <a:ext cx="5778001" cy="28295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212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Steering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10" dirty="0"/>
                        <a:t>Parameter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Respective</a:t>
                      </a:r>
                      <a:r>
                        <a:rPr sz="1800" b="1" spc="-95" dirty="0"/>
                        <a:t> </a:t>
                      </a:r>
                      <a:r>
                        <a:rPr sz="1800" b="1" spc="-10" dirty="0"/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Steering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Wheel</a:t>
                      </a:r>
                      <a:r>
                        <a:rPr sz="1800" spc="-45" dirty="0"/>
                        <a:t> </a:t>
                      </a:r>
                      <a:r>
                        <a:rPr sz="1800" spc="-10" dirty="0"/>
                        <a:t>Radius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5 inch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Mechanical</a:t>
                      </a:r>
                      <a:r>
                        <a:rPr sz="1800" spc="-75" dirty="0"/>
                        <a:t> </a:t>
                      </a:r>
                      <a:r>
                        <a:rPr sz="1800" dirty="0"/>
                        <a:t>Linkage</a:t>
                      </a:r>
                      <a:r>
                        <a:rPr sz="1800" spc="-70" dirty="0"/>
                        <a:t> </a:t>
                      </a:r>
                      <a:r>
                        <a:rPr sz="1800" spc="-20" dirty="0"/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10:1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Ackerman</a:t>
                      </a:r>
                      <a:r>
                        <a:rPr sz="1800" spc="-60" dirty="0"/>
                        <a:t> </a:t>
                      </a:r>
                      <a:r>
                        <a:rPr sz="1800" spc="-10" dirty="0"/>
                        <a:t>Percentage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37.5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Ackerman</a:t>
                      </a:r>
                      <a:r>
                        <a:rPr sz="1800" spc="-100" dirty="0"/>
                        <a:t> </a:t>
                      </a:r>
                      <a:r>
                        <a:rPr sz="1800" spc="-20" dirty="0"/>
                        <a:t>Angle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Inside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=</a:t>
                      </a:r>
                      <a:r>
                        <a:rPr sz="1800" spc="-15" dirty="0"/>
                        <a:t> </a:t>
                      </a:r>
                      <a:r>
                        <a:rPr lang="en-US" sz="1800" spc="-15" dirty="0"/>
                        <a:t>21 </a:t>
                      </a:r>
                      <a:r>
                        <a:rPr lang="en-IN" dirty="0"/>
                        <a:t>°</a:t>
                      </a:r>
                      <a:endParaRPr lang="en-US" sz="1800" spc="-15" dirty="0"/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Outside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=</a:t>
                      </a:r>
                      <a:r>
                        <a:rPr lang="en-US" sz="1800" dirty="0"/>
                        <a:t>59 </a:t>
                      </a:r>
                      <a:r>
                        <a:rPr lang="en-IN" dirty="0"/>
                        <a:t>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Turning</a:t>
                      </a:r>
                      <a:r>
                        <a:rPr sz="1800" spc="-80" dirty="0"/>
                        <a:t> </a:t>
                      </a:r>
                      <a:r>
                        <a:rPr sz="1800" spc="-10" dirty="0"/>
                        <a:t>Radius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dirty="0"/>
                        <a:t>2.</a:t>
                      </a:r>
                      <a:r>
                        <a:rPr lang="en-US" sz="1800" dirty="0"/>
                        <a:t>7m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6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Lock</a:t>
                      </a:r>
                      <a:r>
                        <a:rPr sz="1800" spc="-30" dirty="0"/>
                        <a:t> </a:t>
                      </a:r>
                      <a:r>
                        <a:rPr sz="1800" spc="-80" dirty="0"/>
                        <a:t>To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Lock</a:t>
                      </a:r>
                      <a:r>
                        <a:rPr sz="1800" spc="-5" dirty="0"/>
                        <a:t> </a:t>
                      </a:r>
                      <a:r>
                        <a:rPr sz="1800" spc="-10" dirty="0"/>
                        <a:t>Distance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/>
                        <a:t>-230</a:t>
                      </a:r>
                      <a:r>
                        <a:rPr lang="en-IN" dirty="0"/>
                        <a:t>°</a:t>
                      </a:r>
                      <a:r>
                        <a:rPr lang="en-US" sz="1800" dirty="0"/>
                        <a:t>  to +230</a:t>
                      </a:r>
                      <a:r>
                        <a:rPr lang="en-IN" dirty="0"/>
                        <a:t>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object 8">
            <a:extLst>
              <a:ext uri="{FF2B5EF4-FFF2-40B4-BE49-F238E27FC236}">
                <a16:creationId xmlns:a16="http://schemas.microsoft.com/office/drawing/2014/main" id="{8F642D98-9BFD-8433-C3E6-0210A339F3E3}"/>
              </a:ext>
            </a:extLst>
          </p:cNvPr>
          <p:cNvSpPr txBox="1"/>
          <p:nvPr/>
        </p:nvSpPr>
        <p:spPr>
          <a:xfrm>
            <a:off x="1424106" y="3026006"/>
            <a:ext cx="37297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wheel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EBDF0DA6-0317-0B38-633C-C7FFABDA61EE}"/>
              </a:ext>
            </a:extLst>
          </p:cNvPr>
          <p:cNvSpPr txBox="1"/>
          <p:nvPr/>
        </p:nvSpPr>
        <p:spPr>
          <a:xfrm>
            <a:off x="1445846" y="5621861"/>
            <a:ext cx="3404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42" descr="A close-up of a machine&#10;&#10;Description automatically generated">
            <a:extLst>
              <a:ext uri="{FF2B5EF4-FFF2-40B4-BE49-F238E27FC236}">
                <a16:creationId xmlns:a16="http://schemas.microsoft.com/office/drawing/2014/main" id="{37D7C497-C5DB-1374-DB13-75EDBE59934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0038" y="3671455"/>
            <a:ext cx="2951018" cy="1731818"/>
          </a:xfrm>
          <a:prstGeom prst="rect">
            <a:avLst/>
          </a:prstGeom>
        </p:spPr>
      </p:pic>
      <p:grpSp>
        <p:nvGrpSpPr>
          <p:cNvPr id="22" name="object 5">
            <a:extLst>
              <a:ext uri="{FF2B5EF4-FFF2-40B4-BE49-F238E27FC236}">
                <a16:creationId xmlns:a16="http://schemas.microsoft.com/office/drawing/2014/main" id="{B6A06ECC-51E7-2D68-35B8-174778D719B6}"/>
              </a:ext>
            </a:extLst>
          </p:cNvPr>
          <p:cNvGrpSpPr/>
          <p:nvPr/>
        </p:nvGrpSpPr>
        <p:grpSpPr>
          <a:xfrm>
            <a:off x="1330036" y="1205344"/>
            <a:ext cx="2891936" cy="1607133"/>
            <a:chOff x="7072058" y="797242"/>
            <a:chExt cx="4505960" cy="2841625"/>
          </a:xfrm>
        </p:grpSpPr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FFADAE7-2783-2BBC-E612-8E4690330A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1519" y="806704"/>
              <a:ext cx="4486783" cy="2822067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504C8704-50C6-9D1F-DD2B-AA572F7FD5F5}"/>
                </a:ext>
              </a:extLst>
            </p:cNvPr>
            <p:cNvSpPr/>
            <p:nvPr/>
          </p:nvSpPr>
          <p:spPr>
            <a:xfrm>
              <a:off x="7076820" y="802005"/>
              <a:ext cx="4496435" cy="2832100"/>
            </a:xfrm>
            <a:custGeom>
              <a:avLst/>
              <a:gdLst/>
              <a:ahLst/>
              <a:cxnLst/>
              <a:rect l="l" t="t" r="r" b="b"/>
              <a:pathLst>
                <a:path w="4496434" h="2832100">
                  <a:moveTo>
                    <a:pt x="0" y="2831592"/>
                  </a:moveTo>
                  <a:lnTo>
                    <a:pt x="4496308" y="2831592"/>
                  </a:lnTo>
                  <a:lnTo>
                    <a:pt x="4496308" y="0"/>
                  </a:lnTo>
                  <a:lnTo>
                    <a:pt x="0" y="0"/>
                  </a:lnTo>
                  <a:lnTo>
                    <a:pt x="0" y="28315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F2E5ECE-1F54-F4DA-C367-D5B79D974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585929"/>
              </p:ext>
            </p:extLst>
          </p:nvPr>
        </p:nvGraphicFramePr>
        <p:xfrm>
          <a:off x="5024325" y="4041144"/>
          <a:ext cx="5809931" cy="231809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6243">
                  <a:extLst>
                    <a:ext uri="{9D8B030D-6E8A-4147-A177-3AD203B41FA5}">
                      <a16:colId xmlns:a16="http://schemas.microsoft.com/office/drawing/2014/main" val="4241193485"/>
                    </a:ext>
                  </a:extLst>
                </a:gridCol>
                <a:gridCol w="1936844">
                  <a:extLst>
                    <a:ext uri="{9D8B030D-6E8A-4147-A177-3AD203B41FA5}">
                      <a16:colId xmlns:a16="http://schemas.microsoft.com/office/drawing/2014/main" val="1440194129"/>
                    </a:ext>
                  </a:extLst>
                </a:gridCol>
                <a:gridCol w="1936844">
                  <a:extLst>
                    <a:ext uri="{9D8B030D-6E8A-4147-A177-3AD203B41FA5}">
                      <a16:colId xmlns:a16="http://schemas.microsoft.com/office/drawing/2014/main" val="4192351255"/>
                    </a:ext>
                  </a:extLst>
                </a:gridCol>
              </a:tblGrid>
              <a:tr h="4731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Inside</a:t>
                      </a:r>
                      <a:r>
                        <a:rPr sz="1800" b="1" spc="-35" dirty="0"/>
                        <a:t> </a:t>
                      </a:r>
                      <a:r>
                        <a:rPr sz="1800" b="1" spc="-20" dirty="0"/>
                        <a:t>Angle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Outside</a:t>
                      </a:r>
                      <a:r>
                        <a:rPr sz="1800" b="1" spc="-15" dirty="0"/>
                        <a:t> </a:t>
                      </a:r>
                      <a:r>
                        <a:rPr sz="1800" b="1" spc="-20" dirty="0"/>
                        <a:t>Angle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/>
                        <a:t>Turning</a:t>
                      </a:r>
                      <a:r>
                        <a:rPr sz="1800" b="1" spc="-50" dirty="0"/>
                        <a:t> </a:t>
                      </a:r>
                      <a:r>
                        <a:rPr sz="1800" b="1" spc="-10" dirty="0"/>
                        <a:t>Radius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63393127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/>
                        <a:t>10°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9.00°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6.47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88733623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/>
                        <a:t>20°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16.44°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3.376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69440057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/>
                        <a:t>30°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22.86°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2.36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97048469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/>
                        <a:t>40°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28.63°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1.88 </a:t>
                      </a:r>
                      <a:r>
                        <a:rPr sz="1800" spc="-50" dirty="0"/>
                        <a:t>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123181982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342271" y="0"/>
            <a:ext cx="2648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Steering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1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08;p32"/>
          <p:cNvSpPr/>
          <p:nvPr/>
        </p:nvSpPr>
        <p:spPr>
          <a:xfrm>
            <a:off x="277089" y="858981"/>
            <a:ext cx="11707093" cy="5999019"/>
          </a:xfrm>
          <a:prstGeom prst="round2SameRect">
            <a:avLst>
              <a:gd name="adj1" fmla="val 12865"/>
              <a:gd name="adj2" fmla="val 0"/>
            </a:avLst>
          </a:prstGeom>
          <a:solidFill>
            <a:srgbClr val="FFFF66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AF8A8D8C-B882-2800-F104-114B5FDA1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19136"/>
              </p:ext>
            </p:extLst>
          </p:nvPr>
        </p:nvGraphicFramePr>
        <p:xfrm>
          <a:off x="623454" y="2797406"/>
          <a:ext cx="5223163" cy="406059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/>
                        <a:t>Parameters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Respective</a:t>
                      </a:r>
                      <a:r>
                        <a:rPr sz="1800" b="1" spc="-95" dirty="0"/>
                        <a:t> </a:t>
                      </a:r>
                      <a:r>
                        <a:rPr sz="1800" b="1" spc="-10" dirty="0"/>
                        <a:t>Values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Pedal</a:t>
                      </a:r>
                      <a:r>
                        <a:rPr sz="1800" spc="-65" dirty="0"/>
                        <a:t> </a:t>
                      </a:r>
                      <a:r>
                        <a:rPr sz="1800" spc="-10" dirty="0"/>
                        <a:t>Effort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/>
                        <a:t> </a:t>
                      </a:r>
                      <a:r>
                        <a:rPr lang="en-US" sz="1800" spc="-20" dirty="0"/>
                        <a:t>266.8 </a:t>
                      </a:r>
                      <a:r>
                        <a:rPr sz="1800" spc="-50" dirty="0"/>
                        <a:t>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Leverage</a:t>
                      </a:r>
                      <a:r>
                        <a:rPr sz="1800" spc="-45" dirty="0"/>
                        <a:t> </a:t>
                      </a:r>
                      <a:r>
                        <a:rPr sz="1800" spc="-20" dirty="0"/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2:7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Master</a:t>
                      </a:r>
                      <a:r>
                        <a:rPr sz="1800" spc="-65" dirty="0"/>
                        <a:t> </a:t>
                      </a:r>
                      <a:r>
                        <a:rPr sz="1800" dirty="0"/>
                        <a:t>Cylinder</a:t>
                      </a:r>
                      <a:r>
                        <a:rPr sz="1800" spc="-45" dirty="0"/>
                        <a:t> </a:t>
                      </a:r>
                      <a:endParaRPr lang="en-US" sz="1800" spc="-45" dirty="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Pressure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4</a:t>
                      </a:r>
                      <a:r>
                        <a:rPr lang="en-IN" sz="1800" dirty="0"/>
                        <a:t>.13</a:t>
                      </a:r>
                      <a:r>
                        <a:rPr lang="en-IN" sz="1800" b="0" u="none" strike="noStrike" kern="1200" baseline="0" dirty="0">
                          <a:solidFill>
                            <a:schemeClr val="tx1"/>
                          </a:solidFill>
                        </a:rPr>
                        <a:t>×10⁶ to 5.52×10⁶ N/m² 	</a:t>
                      </a: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dirty="0"/>
                        <a:t>Ca</a:t>
                      </a:r>
                      <a:r>
                        <a:rPr sz="1800" dirty="0" err="1"/>
                        <a:t>liper</a:t>
                      </a:r>
                      <a:r>
                        <a:rPr sz="1800" spc="-35" dirty="0"/>
                        <a:t> </a:t>
                      </a:r>
                      <a:r>
                        <a:rPr sz="1800" spc="-10" dirty="0"/>
                        <a:t>Force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 </a:t>
                      </a:r>
                      <a:r>
                        <a:rPr lang="en-IN" dirty="0"/>
                        <a:t>88.96 - 222.41 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6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Clamping</a:t>
                      </a:r>
                      <a:r>
                        <a:rPr sz="1800" spc="-60" dirty="0"/>
                        <a:t> </a:t>
                      </a:r>
                      <a:r>
                        <a:rPr sz="1800" spc="-20" dirty="0"/>
                        <a:t>Force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 </a:t>
                      </a:r>
                      <a:r>
                        <a:rPr lang="en-US" sz="1800" dirty="0"/>
                        <a:t>950 </a:t>
                      </a:r>
                      <a:r>
                        <a:rPr sz="1800" spc="-50" dirty="0"/>
                        <a:t>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Disc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Diameter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0" dirty="0"/>
                        <a:t> </a:t>
                      </a:r>
                      <a:r>
                        <a:rPr lang="en-US" sz="1800" spc="-30" dirty="0"/>
                        <a:t>200 </a:t>
                      </a:r>
                      <a:r>
                        <a:rPr sz="1800" spc="-25" dirty="0"/>
                        <a:t>mm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6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Disc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Thickness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/>
                        <a:t> </a:t>
                      </a:r>
                      <a:r>
                        <a:rPr lang="en-US" sz="1800" spc="-10" dirty="0"/>
                        <a:t>4 </a:t>
                      </a:r>
                      <a:r>
                        <a:rPr sz="1800" spc="-25" dirty="0"/>
                        <a:t>mm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97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Brake</a:t>
                      </a:r>
                      <a:r>
                        <a:rPr sz="1800" spc="-65" dirty="0"/>
                        <a:t> </a:t>
                      </a:r>
                      <a:r>
                        <a:rPr sz="1800" dirty="0"/>
                        <a:t>Fluid</a:t>
                      </a:r>
                      <a:r>
                        <a:rPr sz="1800" spc="-30" dirty="0"/>
                        <a:t> </a:t>
                      </a:r>
                      <a:r>
                        <a:rPr sz="1800" spc="-20" dirty="0"/>
                        <a:t>Used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DOT</a:t>
                      </a:r>
                      <a:r>
                        <a:rPr sz="1800" spc="-75" dirty="0"/>
                        <a:t> </a:t>
                      </a:r>
                      <a:r>
                        <a:rPr lang="en-US" sz="1800" spc="-50" dirty="0"/>
                        <a:t>4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3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Height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45" dirty="0"/>
                        <a:t> </a:t>
                      </a:r>
                      <a:r>
                        <a:rPr sz="1800" spc="-20" dirty="0"/>
                        <a:t>C.G.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/>
                        <a:t>2</a:t>
                      </a:r>
                      <a:r>
                        <a:rPr sz="1800" dirty="0"/>
                        <a:t> </a:t>
                      </a:r>
                      <a:r>
                        <a:rPr sz="1800" spc="-10" dirty="0"/>
                        <a:t>inches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2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Load</a:t>
                      </a:r>
                      <a:r>
                        <a:rPr sz="1800" spc="-40" dirty="0"/>
                        <a:t> </a:t>
                      </a:r>
                      <a:r>
                        <a:rPr sz="1800" spc="-10" dirty="0"/>
                        <a:t>Distribution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18199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Front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:</a:t>
                      </a:r>
                      <a:r>
                        <a:rPr sz="1800" spc="-25" dirty="0"/>
                        <a:t> </a:t>
                      </a:r>
                      <a:r>
                        <a:rPr sz="1800" spc="-30" dirty="0"/>
                        <a:t> </a:t>
                      </a:r>
                      <a:r>
                        <a:rPr lang="en-IN" sz="1800" spc="-30" dirty="0"/>
                        <a:t>40%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Rear</a:t>
                      </a:r>
                      <a:r>
                        <a:rPr lang="en-US" sz="1800" spc="-30" dirty="0"/>
                        <a:t>:</a:t>
                      </a:r>
                      <a:r>
                        <a:rPr lang="en-US" sz="1800" spc="-30" baseline="0" dirty="0"/>
                        <a:t> </a:t>
                      </a:r>
                      <a:r>
                        <a:rPr lang="en-IN" sz="1800" spc="-30" baseline="0" dirty="0"/>
                        <a:t>60%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2" name="object 8">
            <a:extLst>
              <a:ext uri="{FF2B5EF4-FFF2-40B4-BE49-F238E27FC236}">
                <a16:creationId xmlns:a16="http://schemas.microsoft.com/office/drawing/2014/main" id="{296645C3-3F43-1B48-32D9-74BE5A19D12A}"/>
              </a:ext>
            </a:extLst>
          </p:cNvPr>
          <p:cNvGrpSpPr/>
          <p:nvPr/>
        </p:nvGrpSpPr>
        <p:grpSpPr>
          <a:xfrm>
            <a:off x="8977067" y="3930336"/>
            <a:ext cx="2743879" cy="1887044"/>
            <a:chOff x="8924480" y="4156798"/>
            <a:chExt cx="3135630" cy="1896110"/>
          </a:xfrm>
        </p:grpSpPr>
        <p:pic>
          <p:nvPicPr>
            <p:cNvPr id="23" name="object 9">
              <a:extLst>
                <a:ext uri="{FF2B5EF4-FFF2-40B4-BE49-F238E27FC236}">
                  <a16:creationId xmlns:a16="http://schemas.microsoft.com/office/drawing/2014/main" id="{BCA4D9E4-58D9-D271-B1E4-C929906C3B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3942" y="4166323"/>
              <a:ext cx="3116579" cy="1876552"/>
            </a:xfrm>
            <a:prstGeom prst="rect">
              <a:avLst/>
            </a:prstGeom>
          </p:spPr>
        </p:pic>
        <p:sp>
          <p:nvSpPr>
            <p:cNvPr id="24" name="object 10">
              <a:extLst>
                <a:ext uri="{FF2B5EF4-FFF2-40B4-BE49-F238E27FC236}">
                  <a16:creationId xmlns:a16="http://schemas.microsoft.com/office/drawing/2014/main" id="{86ABD206-5D38-76D8-518D-45DC5EA989C8}"/>
                </a:ext>
              </a:extLst>
            </p:cNvPr>
            <p:cNvSpPr/>
            <p:nvPr/>
          </p:nvSpPr>
          <p:spPr>
            <a:xfrm>
              <a:off x="8929243" y="4161561"/>
              <a:ext cx="3126105" cy="1886585"/>
            </a:xfrm>
            <a:custGeom>
              <a:avLst/>
              <a:gdLst/>
              <a:ahLst/>
              <a:cxnLst/>
              <a:rect l="l" t="t" r="r" b="b"/>
              <a:pathLst>
                <a:path w="3126104" h="1886585">
                  <a:moveTo>
                    <a:pt x="0" y="1886077"/>
                  </a:moveTo>
                  <a:lnTo>
                    <a:pt x="3126104" y="1886077"/>
                  </a:lnTo>
                  <a:lnTo>
                    <a:pt x="3126104" y="0"/>
                  </a:lnTo>
                  <a:lnTo>
                    <a:pt x="0" y="0"/>
                  </a:lnTo>
                  <a:lnTo>
                    <a:pt x="0" y="1886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object 11">
            <a:extLst>
              <a:ext uri="{FF2B5EF4-FFF2-40B4-BE49-F238E27FC236}">
                <a16:creationId xmlns:a16="http://schemas.microsoft.com/office/drawing/2014/main" id="{C1842C58-52C2-D5FB-EB87-175D76B2FB0F}"/>
              </a:ext>
            </a:extLst>
          </p:cNvPr>
          <p:cNvGrpSpPr/>
          <p:nvPr/>
        </p:nvGrpSpPr>
        <p:grpSpPr>
          <a:xfrm>
            <a:off x="6277886" y="3940471"/>
            <a:ext cx="2427703" cy="1887044"/>
            <a:chOff x="6178867" y="4166933"/>
            <a:chExt cx="2609850" cy="1896110"/>
          </a:xfrm>
        </p:grpSpPr>
        <p:pic>
          <p:nvPicPr>
            <p:cNvPr id="26" name="object 12">
              <a:extLst>
                <a:ext uri="{FF2B5EF4-FFF2-40B4-BE49-F238E27FC236}">
                  <a16:creationId xmlns:a16="http://schemas.microsoft.com/office/drawing/2014/main" id="{46BEDA46-891F-637D-C809-F4812B4694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328" y="4176458"/>
              <a:ext cx="2590546" cy="1876552"/>
            </a:xfrm>
            <a:prstGeom prst="rect">
              <a:avLst/>
            </a:prstGeom>
          </p:spPr>
        </p:pic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C2538453-34EF-65B9-96D1-EEB52EB3EE6A}"/>
                </a:ext>
              </a:extLst>
            </p:cNvPr>
            <p:cNvSpPr/>
            <p:nvPr/>
          </p:nvSpPr>
          <p:spPr>
            <a:xfrm>
              <a:off x="6183629" y="4171696"/>
              <a:ext cx="2600325" cy="1886585"/>
            </a:xfrm>
            <a:custGeom>
              <a:avLst/>
              <a:gdLst/>
              <a:ahLst/>
              <a:cxnLst/>
              <a:rect l="l" t="t" r="r" b="b"/>
              <a:pathLst>
                <a:path w="2600325" h="1886585">
                  <a:moveTo>
                    <a:pt x="0" y="1886077"/>
                  </a:moveTo>
                  <a:lnTo>
                    <a:pt x="2600071" y="1886077"/>
                  </a:lnTo>
                  <a:lnTo>
                    <a:pt x="2600071" y="0"/>
                  </a:lnTo>
                  <a:lnTo>
                    <a:pt x="0" y="0"/>
                  </a:lnTo>
                  <a:lnTo>
                    <a:pt x="0" y="1886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14">
            <a:extLst>
              <a:ext uri="{FF2B5EF4-FFF2-40B4-BE49-F238E27FC236}">
                <a16:creationId xmlns:a16="http://schemas.microsoft.com/office/drawing/2014/main" id="{0D64CC08-DE0D-EFC0-5E7C-29F17B62A80D}"/>
              </a:ext>
            </a:extLst>
          </p:cNvPr>
          <p:cNvSpPr txBox="1"/>
          <p:nvPr/>
        </p:nvSpPr>
        <p:spPr>
          <a:xfrm>
            <a:off x="6432502" y="6226604"/>
            <a:ext cx="20603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Braking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DE94189F-F989-41C9-A2CD-9C1A579F51A3}"/>
              </a:ext>
            </a:extLst>
          </p:cNvPr>
          <p:cNvSpPr txBox="1"/>
          <p:nvPr/>
        </p:nvSpPr>
        <p:spPr>
          <a:xfrm>
            <a:off x="9251643" y="6211426"/>
            <a:ext cx="2365854" cy="288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16">
            <a:extLst>
              <a:ext uri="{FF2B5EF4-FFF2-40B4-BE49-F238E27FC236}">
                <a16:creationId xmlns:a16="http://schemas.microsoft.com/office/drawing/2014/main" id="{02751499-A3EF-0CCE-5A0B-3539BA81C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814021"/>
              </p:ext>
            </p:extLst>
          </p:nvPr>
        </p:nvGraphicFramePr>
        <p:xfrm>
          <a:off x="637308" y="1159835"/>
          <a:ext cx="5195455" cy="14973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6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4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/>
                        <a:t>Speed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Stopping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10" dirty="0"/>
                        <a:t>Distance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Stopping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20" dirty="0"/>
                        <a:t>Time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spc="-20" dirty="0"/>
                        <a:t>50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5.89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1.41 </a:t>
                      </a:r>
                      <a:r>
                        <a:rPr sz="1800" spc="-25" dirty="0"/>
                        <a:t>sec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60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23.57</a:t>
                      </a:r>
                      <a:r>
                        <a:rPr sz="1800" spc="-5" dirty="0"/>
                        <a:t>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2.83 </a:t>
                      </a:r>
                      <a:r>
                        <a:rPr sz="1800" spc="-25" dirty="0"/>
                        <a:t>sec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70</a:t>
                      </a:r>
                      <a:r>
                        <a:rPr sz="1800" spc="-25" dirty="0"/>
                        <a:t>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31.41 </a:t>
                      </a:r>
                      <a:r>
                        <a:rPr sz="1800" spc="-50" dirty="0"/>
                        <a:t>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3.26 </a:t>
                      </a:r>
                      <a:r>
                        <a:rPr sz="1800" spc="-25" dirty="0"/>
                        <a:t>sec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4497448" y="0"/>
            <a:ext cx="278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Breaking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grpSp>
        <p:nvGrpSpPr>
          <p:cNvPr id="34" name="object 4">
            <a:extLst>
              <a:ext uri="{FF2B5EF4-FFF2-40B4-BE49-F238E27FC236}">
                <a16:creationId xmlns:a16="http://schemas.microsoft.com/office/drawing/2014/main" id="{2D30FE30-4A9F-FE4B-192A-74E5367CA209}"/>
              </a:ext>
            </a:extLst>
          </p:cNvPr>
          <p:cNvGrpSpPr/>
          <p:nvPr/>
        </p:nvGrpSpPr>
        <p:grpSpPr>
          <a:xfrm>
            <a:off x="6553200" y="1163158"/>
            <a:ext cx="4403564" cy="1940261"/>
            <a:chOff x="6191694" y="582866"/>
            <a:chExt cx="5868670" cy="2847975"/>
          </a:xfrm>
        </p:grpSpPr>
        <p:pic>
          <p:nvPicPr>
            <p:cNvPr id="35" name="object 5">
              <a:extLst>
                <a:ext uri="{FF2B5EF4-FFF2-40B4-BE49-F238E27FC236}">
                  <a16:creationId xmlns:a16="http://schemas.microsoft.com/office/drawing/2014/main" id="{4656D580-FABF-E26A-BDC6-BE0149671B6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1283" y="592328"/>
              <a:ext cx="5828841" cy="2792560"/>
            </a:xfrm>
            <a:prstGeom prst="rect">
              <a:avLst/>
            </a:prstGeom>
          </p:spPr>
        </p:pic>
        <p:sp>
          <p:nvSpPr>
            <p:cNvPr id="36" name="object 6">
              <a:extLst>
                <a:ext uri="{FF2B5EF4-FFF2-40B4-BE49-F238E27FC236}">
                  <a16:creationId xmlns:a16="http://schemas.microsoft.com/office/drawing/2014/main" id="{9C7CBA51-98D1-526B-93F9-F584C61DF1B3}"/>
                </a:ext>
              </a:extLst>
            </p:cNvPr>
            <p:cNvSpPr/>
            <p:nvPr/>
          </p:nvSpPr>
          <p:spPr>
            <a:xfrm>
              <a:off x="6196457" y="587629"/>
              <a:ext cx="5859145" cy="2838450"/>
            </a:xfrm>
            <a:custGeom>
              <a:avLst/>
              <a:gdLst/>
              <a:ahLst/>
              <a:cxnLst/>
              <a:rect l="l" t="t" r="r" b="b"/>
              <a:pathLst>
                <a:path w="5859145" h="2838450">
                  <a:moveTo>
                    <a:pt x="0" y="2838196"/>
                  </a:moveTo>
                  <a:lnTo>
                    <a:pt x="5858891" y="2838196"/>
                  </a:lnTo>
                  <a:lnTo>
                    <a:pt x="5858891" y="0"/>
                  </a:lnTo>
                  <a:lnTo>
                    <a:pt x="0" y="0"/>
                  </a:lnTo>
                  <a:lnTo>
                    <a:pt x="0" y="28381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object 7">
            <a:extLst>
              <a:ext uri="{FF2B5EF4-FFF2-40B4-BE49-F238E27FC236}">
                <a16:creationId xmlns:a16="http://schemas.microsoft.com/office/drawing/2014/main" id="{BC8F46A3-CE81-CC5C-B4DB-E6DD71F77596}"/>
              </a:ext>
            </a:extLst>
          </p:cNvPr>
          <p:cNvSpPr txBox="1"/>
          <p:nvPr/>
        </p:nvSpPr>
        <p:spPr>
          <a:xfrm>
            <a:off x="7426027" y="3286310"/>
            <a:ext cx="28540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1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drum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4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304800" y="1014722"/>
            <a:ext cx="11485419" cy="5510767"/>
          </a:xfrm>
          <a:prstGeom prst="roundRect">
            <a:avLst>
              <a:gd name="adj" fmla="val 73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C2C567-3BA5-A28F-408E-ED16F0D0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23901"/>
              </p:ext>
            </p:extLst>
          </p:nvPr>
        </p:nvGraphicFramePr>
        <p:xfrm>
          <a:off x="595744" y="1233056"/>
          <a:ext cx="4807529" cy="17398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Respective</a:t>
                      </a:r>
                      <a:r>
                        <a:rPr sz="1800" b="1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IN"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1.76923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Driving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Sprocket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teeth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Driven</a:t>
                      </a:r>
                      <a:r>
                        <a:rPr sz="1800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Sprocket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teeth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6">
            <a:extLst>
              <a:ext uri="{FF2B5EF4-FFF2-40B4-BE49-F238E27FC236}">
                <a16:creationId xmlns:a16="http://schemas.microsoft.com/office/drawing/2014/main" id="{163C46A7-B55A-C5BD-BDDE-D4813FADE3AB}"/>
              </a:ext>
            </a:extLst>
          </p:cNvPr>
          <p:cNvGrpSpPr/>
          <p:nvPr/>
        </p:nvGrpSpPr>
        <p:grpSpPr>
          <a:xfrm>
            <a:off x="718663" y="3405081"/>
            <a:ext cx="4462937" cy="2386119"/>
            <a:chOff x="6495097" y="3241560"/>
            <a:chExt cx="5123815" cy="2698115"/>
          </a:xfrm>
        </p:grpSpPr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A435C69-B027-A6AE-04AC-D4CA7AED8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4685" y="3251085"/>
              <a:ext cx="5104637" cy="2679065"/>
            </a:xfrm>
            <a:prstGeom prst="rect">
              <a:avLst/>
            </a:prstGeom>
          </p:spPr>
        </p:pic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06ADCFC8-B4A3-E0C2-5F3D-FC32ABACBF1C}"/>
                </a:ext>
              </a:extLst>
            </p:cNvPr>
            <p:cNvSpPr/>
            <p:nvPr/>
          </p:nvSpPr>
          <p:spPr>
            <a:xfrm>
              <a:off x="6499859" y="3246323"/>
              <a:ext cx="5114290" cy="2688590"/>
            </a:xfrm>
            <a:custGeom>
              <a:avLst/>
              <a:gdLst/>
              <a:ahLst/>
              <a:cxnLst/>
              <a:rect l="l" t="t" r="r" b="b"/>
              <a:pathLst>
                <a:path w="5114290" h="2688590">
                  <a:moveTo>
                    <a:pt x="0" y="2688590"/>
                  </a:moveTo>
                  <a:lnTo>
                    <a:pt x="5114163" y="2688590"/>
                  </a:lnTo>
                  <a:lnTo>
                    <a:pt x="5114163" y="0"/>
                  </a:lnTo>
                  <a:lnTo>
                    <a:pt x="0" y="0"/>
                  </a:lnTo>
                  <a:lnTo>
                    <a:pt x="0" y="268859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9">
            <a:extLst>
              <a:ext uri="{FF2B5EF4-FFF2-40B4-BE49-F238E27FC236}">
                <a16:creationId xmlns:a16="http://schemas.microsoft.com/office/drawing/2014/main" id="{89290377-D835-5F3C-6161-EC96C7782D60}"/>
              </a:ext>
            </a:extLst>
          </p:cNvPr>
          <p:cNvSpPr txBox="1"/>
          <p:nvPr/>
        </p:nvSpPr>
        <p:spPr>
          <a:xfrm>
            <a:off x="1365789" y="5902443"/>
            <a:ext cx="28545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5F2D16AA-6057-C60C-491E-403955B2D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72165"/>
              </p:ext>
            </p:extLst>
          </p:nvPr>
        </p:nvGraphicFramePr>
        <p:xfrm>
          <a:off x="5893731" y="1213887"/>
          <a:ext cx="5570854" cy="18611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2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Respective</a:t>
                      </a:r>
                      <a:r>
                        <a:rPr sz="1800" b="1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RTR 160 2V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16.04 bhp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8700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Torque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13.85 Nm @ 7000 rpm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1B6477B-939B-3FB7-6E08-C87E81C0F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02251"/>
              </p:ext>
            </p:extLst>
          </p:nvPr>
        </p:nvGraphicFramePr>
        <p:xfrm>
          <a:off x="5838312" y="3385634"/>
          <a:ext cx="5647105" cy="289771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4622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r>
                        <a:rPr sz="1800" b="1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Axel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52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Torque</a:t>
                      </a:r>
                      <a:r>
                        <a:rPr sz="18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</a:t>
                      </a: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30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r>
                        <a:rPr sz="1800" b="1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KW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212.16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125.17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1.045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77212" y="0"/>
            <a:ext cx="41231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And Transmission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DFD7-D973-4FCC-4E35-87B031CA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F6C1254-2B02-CBFB-0585-38C6250240AF}"/>
              </a:ext>
            </a:extLst>
          </p:cNvPr>
          <p:cNvGrpSpPr/>
          <p:nvPr/>
        </p:nvGrpSpPr>
        <p:grpSpPr>
          <a:xfrm>
            <a:off x="775855" y="1330034"/>
            <a:ext cx="10681854" cy="4336475"/>
            <a:chOff x="-880566" y="1635669"/>
            <a:chExt cx="9683597" cy="5143354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CFC6F3B4-613B-B726-AE0C-FA4C0DA9D6D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3534235"/>
                </p:ext>
              </p:extLst>
            </p:nvPr>
          </p:nvGraphicFramePr>
          <p:xfrm>
            <a:off x="4979064" y="1635669"/>
            <a:ext cx="3823967" cy="51433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35BD5D39-E686-7FBB-7540-A4339FA489B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08187185"/>
                </p:ext>
              </p:extLst>
            </p:nvPr>
          </p:nvGraphicFramePr>
          <p:xfrm>
            <a:off x="-880566" y="1635669"/>
            <a:ext cx="5639345" cy="51433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1" name="Rectangle 10"/>
          <p:cNvSpPr/>
          <p:nvPr/>
        </p:nvSpPr>
        <p:spPr>
          <a:xfrm>
            <a:off x="3569169" y="0"/>
            <a:ext cx="4554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And BOM / Costing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6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D5C8-8D4C-C008-E30B-037B736B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86;p43"/>
          <p:cNvSpPr/>
          <p:nvPr/>
        </p:nvSpPr>
        <p:spPr>
          <a:xfrm>
            <a:off x="263236" y="845127"/>
            <a:ext cx="11776363" cy="6012873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D612DAB-795D-F3DD-AADB-9511B7068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90768"/>
              </p:ext>
            </p:extLst>
          </p:nvPr>
        </p:nvGraphicFramePr>
        <p:xfrm>
          <a:off x="471054" y="975990"/>
          <a:ext cx="11374581" cy="55772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8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8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6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221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4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4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5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5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40450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COMPONENT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FUNCTION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b="1" spc="-10" dirty="0"/>
                        <a:t>POTENTIAL</a:t>
                      </a: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1" dirty="0"/>
                        <a:t>FAILURE</a:t>
                      </a:r>
                      <a:r>
                        <a:rPr sz="1000" b="1" spc="-40" dirty="0"/>
                        <a:t> </a:t>
                      </a:r>
                      <a:r>
                        <a:rPr sz="1000" b="1" spc="-20" dirty="0"/>
                        <a:t>MODE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b="1" spc="-10" dirty="0"/>
                        <a:t>POTENTIAL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1" spc="-10" dirty="0"/>
                        <a:t>EFFECTS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/>
                        <a:t>POTENTIAL</a:t>
                      </a:r>
                      <a:r>
                        <a:rPr sz="1000" b="1" spc="-60" dirty="0"/>
                        <a:t> </a:t>
                      </a:r>
                      <a:r>
                        <a:rPr sz="1000" b="1" spc="-10" dirty="0"/>
                        <a:t>CAUSES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R.P.N.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/>
                        <a:t>ACTIONS</a:t>
                      </a:r>
                      <a:r>
                        <a:rPr sz="1000" b="1" spc="-45" dirty="0"/>
                        <a:t> </a:t>
                      </a:r>
                      <a:r>
                        <a:rPr sz="1000" b="1" spc="-10" dirty="0"/>
                        <a:t>TAKEN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R.P.N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54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0" dirty="0"/>
                    </a:p>
                    <a:p>
                      <a:pPr marL="373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/>
                        <a:t>BRAKES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000"/>
                    </a:p>
                    <a:p>
                      <a:pPr marL="101600" marR="95885" indent="7620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Dissipate</a:t>
                      </a:r>
                      <a:r>
                        <a:rPr sz="1000" spc="-60" dirty="0"/>
                        <a:t> </a:t>
                      </a:r>
                      <a:r>
                        <a:rPr sz="1000" spc="-10" dirty="0"/>
                        <a:t>kinetic </a:t>
                      </a:r>
                      <a:r>
                        <a:rPr sz="1000" dirty="0"/>
                        <a:t>energy</a:t>
                      </a:r>
                      <a:r>
                        <a:rPr sz="1000" spc="-30" dirty="0"/>
                        <a:t> </a:t>
                      </a:r>
                      <a:r>
                        <a:rPr sz="1000" spc="-20" dirty="0"/>
                        <a:t>into</a:t>
                      </a:r>
                      <a:r>
                        <a:rPr sz="1000" spc="500" dirty="0"/>
                        <a:t> </a:t>
                      </a:r>
                      <a:r>
                        <a:rPr sz="1000" spc="-20" dirty="0"/>
                        <a:t>heat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5575" marR="137160" indent="-1270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000" dirty="0"/>
                        <a:t>Leakage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fluid </a:t>
                      </a:r>
                      <a:r>
                        <a:rPr sz="1000" dirty="0"/>
                        <a:t>from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brake</a:t>
                      </a:r>
                      <a:r>
                        <a:rPr sz="1000" spc="-15" dirty="0"/>
                        <a:t> </a:t>
                      </a:r>
                      <a:r>
                        <a:rPr sz="1000" spc="-20" dirty="0"/>
                        <a:t>line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9385" marB="0"/>
                </a:tc>
                <a:tc rowSpan="2">
                  <a:txBody>
                    <a:bodyPr/>
                    <a:lstStyle/>
                    <a:p>
                      <a:pPr marL="31750" marR="23495" indent="59055">
                        <a:lnSpc>
                          <a:spcPct val="114500"/>
                        </a:lnSpc>
                        <a:spcBef>
                          <a:spcPts val="975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braking </a:t>
                      </a:r>
                      <a:r>
                        <a:rPr sz="1000" dirty="0"/>
                        <a:t>may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cause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accident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382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38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/>
                        <a:t>Excessive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fluid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pressure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140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/>
                        <a:t>Use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higher</a:t>
                      </a:r>
                      <a:r>
                        <a:rPr sz="1000" spc="-10" dirty="0"/>
                        <a:t> strength</a:t>
                      </a: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fluid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lines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84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pedal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/>
                        <a:t>travel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239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00"/>
                    </a:p>
                    <a:p>
                      <a:pPr marL="436880" marR="17780" indent="-379730">
                        <a:lnSpc>
                          <a:spcPct val="114500"/>
                        </a:lnSpc>
                      </a:pPr>
                      <a:r>
                        <a:rPr sz="1000" spc="-10" dirty="0"/>
                        <a:t>Insufficient</a:t>
                      </a:r>
                      <a:r>
                        <a:rPr sz="1000" spc="50" dirty="0"/>
                        <a:t> </a:t>
                      </a:r>
                      <a:r>
                        <a:rPr sz="1000" spc="-10" dirty="0"/>
                        <a:t>braking force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83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/>
                        <a:t>Low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fluid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10" dirty="0"/>
                        <a:t> reservoir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140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/>
                        <a:t>Find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out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leakage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and</a:t>
                      </a: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/>
                        <a:t>repair</a:t>
                      </a:r>
                      <a:r>
                        <a:rPr sz="1000" spc="-5" dirty="0"/>
                        <a:t> </a:t>
                      </a:r>
                      <a:r>
                        <a:rPr sz="1000" spc="-25" dirty="0"/>
                        <a:t>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9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7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dirty="0"/>
                        <a:t>Air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trapped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system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25" dirty="0"/>
                        <a:t>168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/>
                        <a:t>Bleed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the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system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and</a:t>
                      </a:r>
                      <a:endParaRPr sz="1000"/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refill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master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cylinder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25" dirty="0"/>
                        <a:t>72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32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 dirty="0"/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KNUCKLE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/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000" dirty="0"/>
                        <a:t>Assist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in </a:t>
                      </a:r>
                      <a:r>
                        <a:rPr sz="1000" spc="-10" dirty="0"/>
                        <a:t>steering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Variation</a:t>
                      </a:r>
                      <a:r>
                        <a:rPr sz="1000" spc="-50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133350" marR="125095" algn="ctr">
                        <a:lnSpc>
                          <a:spcPts val="152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camber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angle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dirty="0"/>
                        <a:t>both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wheels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000" dirty="0"/>
                        <a:t>Tire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may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burst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out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654685" marR="195580" indent="-452755">
                        <a:lnSpc>
                          <a:spcPct val="114500"/>
                        </a:lnSpc>
                        <a:spcBef>
                          <a:spcPts val="610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positioning</a:t>
                      </a:r>
                      <a:r>
                        <a:rPr sz="1000" spc="-65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knuckle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648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9050" marR="10160" indent="97155">
                        <a:lnSpc>
                          <a:spcPct val="114500"/>
                        </a:lnSpc>
                        <a:spcBef>
                          <a:spcPts val="610"/>
                        </a:spcBef>
                      </a:pPr>
                      <a:r>
                        <a:rPr sz="1000" dirty="0"/>
                        <a:t>Set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knuckle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proper </a:t>
                      </a:r>
                      <a:r>
                        <a:rPr sz="1000" dirty="0"/>
                        <a:t>position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at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same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camber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9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1590" indent="-66040">
                        <a:lnSpc>
                          <a:spcPct val="114700"/>
                        </a:lnSpc>
                        <a:spcBef>
                          <a:spcPts val="615"/>
                        </a:spcBef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heating</a:t>
                      </a:r>
                      <a:r>
                        <a:rPr sz="1000" spc="-30" dirty="0"/>
                        <a:t> </a:t>
                      </a:r>
                      <a:r>
                        <a:rPr sz="1000" spc="-25" dirty="0"/>
                        <a:t>in </a:t>
                      </a:r>
                      <a:r>
                        <a:rPr sz="1000" dirty="0"/>
                        <a:t>knuckle</a:t>
                      </a:r>
                      <a:r>
                        <a:rPr sz="1000" spc="-50" dirty="0"/>
                        <a:t> </a:t>
                      </a:r>
                      <a:r>
                        <a:rPr sz="1000" spc="-10" dirty="0"/>
                        <a:t>assembly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8105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Bearing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failure</a:t>
                      </a:r>
                      <a:endParaRPr sz="1000"/>
                    </a:p>
                    <a:p>
                      <a:pPr marL="299720" marR="103505" indent="-187960">
                        <a:lnSpc>
                          <a:spcPts val="1520"/>
                        </a:lnSpc>
                        <a:spcBef>
                          <a:spcPts val="60"/>
                        </a:spcBef>
                      </a:pPr>
                      <a:r>
                        <a:rPr sz="1000" dirty="0"/>
                        <a:t>leads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bursting </a:t>
                      </a:r>
                      <a:r>
                        <a:rPr sz="1000" dirty="0"/>
                        <a:t>out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of </a:t>
                      </a:r>
                      <a:r>
                        <a:rPr sz="1000" spc="-20" dirty="0"/>
                        <a:t>tire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31115" algn="ctr">
                        <a:lnSpc>
                          <a:spcPct val="100000"/>
                        </a:lnSpc>
                      </a:pPr>
                      <a:r>
                        <a:rPr sz="1000" dirty="0"/>
                        <a:t>Proper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bearing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648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31750" algn="ctr">
                        <a:lnSpc>
                          <a:spcPct val="100000"/>
                        </a:lnSpc>
                      </a:pPr>
                      <a:r>
                        <a:rPr sz="1000" dirty="0"/>
                        <a:t>Proper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bearing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position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35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00"/>
                    </a:p>
                    <a:p>
                      <a:pPr marL="379730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PEDALS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 dirty="0"/>
                    </a:p>
                    <a:p>
                      <a:pPr marL="454025" marR="112395" indent="-335915">
                        <a:lnSpc>
                          <a:spcPct val="114500"/>
                        </a:lnSpc>
                      </a:pPr>
                      <a:r>
                        <a:rPr sz="1000" dirty="0"/>
                        <a:t>For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actuation</a:t>
                      </a:r>
                      <a:r>
                        <a:rPr sz="1000" spc="-45" dirty="0"/>
                        <a:t> </a:t>
                      </a:r>
                      <a:r>
                        <a:rPr sz="1000" spc="-25" dirty="0"/>
                        <a:t>of A</a:t>
                      </a:r>
                      <a:r>
                        <a:rPr lang="en-US" sz="1000" spc="-25" dirty="0"/>
                        <a:t>CB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279400" marR="21590" indent="-251460">
                        <a:lnSpc>
                          <a:spcPct val="114500"/>
                        </a:lnSpc>
                      </a:pPr>
                      <a:r>
                        <a:rPr sz="1000" spc="-10" dirty="0"/>
                        <a:t>Constraints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15" dirty="0"/>
                        <a:t> </a:t>
                      </a:r>
                      <a:r>
                        <a:rPr sz="1000" spc="-20" dirty="0"/>
                        <a:t>pedal </a:t>
                      </a:r>
                      <a:r>
                        <a:rPr sz="1000" spc="-10" dirty="0"/>
                        <a:t>movement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10" dirty="0"/>
                        <a:t>Improper</a:t>
                      </a:r>
                      <a:endParaRPr sz="1000"/>
                    </a:p>
                    <a:p>
                      <a:pPr marL="275590" indent="-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/>
                        <a:t>actuations</a:t>
                      </a:r>
                      <a:r>
                        <a:rPr sz="1000" spc="-55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235585" marR="227329" indent="39370">
                        <a:lnSpc>
                          <a:spcPct val="114500"/>
                        </a:lnSpc>
                        <a:spcBef>
                          <a:spcPts val="10"/>
                        </a:spcBef>
                      </a:pPr>
                      <a:r>
                        <a:rPr sz="1000" dirty="0"/>
                        <a:t>breaking</a:t>
                      </a:r>
                      <a:r>
                        <a:rPr sz="1000" spc="-45" dirty="0"/>
                        <a:t> </a:t>
                      </a:r>
                      <a:r>
                        <a:rPr sz="1000" spc="-50" dirty="0"/>
                        <a:t>&amp;</a:t>
                      </a:r>
                      <a:r>
                        <a:rPr sz="1000" spc="-10" dirty="0"/>
                        <a:t> acceleration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dirty="0"/>
                        <a:t>Faulty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at</a:t>
                      </a:r>
                      <a:r>
                        <a:rPr sz="1000" spc="-10" dirty="0"/>
                        <a:t> 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25" dirty="0"/>
                        <a:t>150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6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10" dirty="0"/>
                        <a:t>Insufficient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strength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25" dirty="0"/>
                        <a:t>175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dirty="0"/>
                        <a:t>Select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proper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0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31432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STEERING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To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turn</a:t>
                      </a:r>
                      <a:r>
                        <a:rPr sz="1000" spc="-25" dirty="0"/>
                        <a:t> the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vehicle/angular</a:t>
                      </a:r>
                      <a:endParaRPr sz="1000"/>
                    </a:p>
                    <a:p>
                      <a:pPr marL="182245" marR="177165" algn="ctr">
                        <a:lnSpc>
                          <a:spcPct val="114500"/>
                        </a:lnSpc>
                        <a:spcBef>
                          <a:spcPts val="10"/>
                        </a:spcBef>
                      </a:pPr>
                      <a:r>
                        <a:rPr sz="1000" dirty="0"/>
                        <a:t>positioning</a:t>
                      </a:r>
                      <a:r>
                        <a:rPr sz="1000" spc="-65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469900" marR="126364" indent="-337185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Steering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hard</a:t>
                      </a:r>
                      <a:r>
                        <a:rPr sz="1000" spc="-25" dirty="0"/>
                        <a:t> to </a:t>
                      </a:r>
                      <a:r>
                        <a:rPr sz="1000" spc="-20" dirty="0"/>
                        <a:t>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118745" marR="85725" indent="5715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Difficult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steer, </a:t>
                      </a:r>
                      <a:r>
                        <a:rPr sz="1000" dirty="0"/>
                        <a:t>may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under</a:t>
                      </a:r>
                      <a:r>
                        <a:rPr sz="1000" spc="-10" dirty="0"/>
                        <a:t> steer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dirty="0"/>
                        <a:t>Low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tire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pressure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sealing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should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be</a:t>
                      </a:r>
                      <a:endParaRPr sz="1000"/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inspected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Wheels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are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not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properly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aligned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dirty="0"/>
                        <a:t>Aligned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wheel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properly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252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48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000"/>
                    </a:p>
                    <a:p>
                      <a:pPr marL="33718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BATTERY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31750" algn="ctr">
                        <a:lnSpc>
                          <a:spcPct val="100000"/>
                        </a:lnSpc>
                      </a:pPr>
                      <a:r>
                        <a:rPr sz="1000" dirty="0"/>
                        <a:t>Provides</a:t>
                      </a:r>
                      <a:r>
                        <a:rPr sz="1000" spc="-50" dirty="0"/>
                        <a:t> </a:t>
                      </a:r>
                      <a:r>
                        <a:rPr sz="1000" spc="-10" dirty="0"/>
                        <a:t>electric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energy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381635" marR="232410" indent="-142240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Discharge</a:t>
                      </a:r>
                      <a:r>
                        <a:rPr sz="1000" spc="-5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battery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Failure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25" dirty="0"/>
                        <a:t>sub</a:t>
                      </a: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components</a:t>
                      </a:r>
                      <a:r>
                        <a:rPr sz="1000" spc="-60" dirty="0"/>
                        <a:t> </a:t>
                      </a:r>
                      <a:r>
                        <a:rPr sz="1000" spc="-20" dirty="0"/>
                        <a:t>runs</a:t>
                      </a:r>
                      <a:endParaRPr sz="1000" dirty="0"/>
                    </a:p>
                    <a:p>
                      <a:pPr marL="46990" marR="38735" algn="ctr">
                        <a:lnSpc>
                          <a:spcPct val="114500"/>
                        </a:lnSpc>
                        <a:spcBef>
                          <a:spcPts val="15"/>
                        </a:spcBef>
                      </a:pPr>
                      <a:r>
                        <a:rPr sz="1000" dirty="0"/>
                        <a:t>on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electric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battery, </a:t>
                      </a:r>
                      <a:r>
                        <a:rPr sz="1000" dirty="0"/>
                        <a:t>brake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light,</a:t>
                      </a:r>
                      <a:r>
                        <a:rPr sz="1000" spc="-10" dirty="0"/>
                        <a:t> starter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Reverse</a:t>
                      </a:r>
                      <a:r>
                        <a:rPr sz="1000" spc="-10" dirty="0"/>
                        <a:t> connection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25" dirty="0"/>
                        <a:t>112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connections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25" dirty="0"/>
                        <a:t>70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52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use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56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269240" marR="106045" indent="-155575">
                        <a:lnSpc>
                          <a:spcPct val="114500"/>
                        </a:lnSpc>
                      </a:pPr>
                      <a:r>
                        <a:rPr sz="1000" dirty="0"/>
                        <a:t>Keep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running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battery </a:t>
                      </a:r>
                      <a:r>
                        <a:rPr sz="1000" dirty="0"/>
                        <a:t>charging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7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 dirty="0"/>
                    </a:p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TRANSMISSION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 dirty="0"/>
                    </a:p>
                    <a:p>
                      <a:pPr marL="180975" marR="104775" indent="-68580">
                        <a:lnSpc>
                          <a:spcPct val="114500"/>
                        </a:lnSpc>
                      </a:pPr>
                      <a:r>
                        <a:rPr sz="1000" dirty="0"/>
                        <a:t>Transmit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engine </a:t>
                      </a:r>
                      <a:r>
                        <a:rPr sz="1000" dirty="0"/>
                        <a:t>power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10" dirty="0"/>
                        <a:t> </a:t>
                      </a:r>
                      <a:r>
                        <a:rPr sz="1000" spc="-20" dirty="0"/>
                        <a:t>axle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469900" marR="102870" indent="-361315">
                        <a:lnSpc>
                          <a:spcPct val="114500"/>
                        </a:lnSpc>
                      </a:pPr>
                      <a:r>
                        <a:rPr sz="1000" dirty="0"/>
                        <a:t>Outward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shaft</a:t>
                      </a:r>
                      <a:r>
                        <a:rPr sz="1000" spc="-3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20" dirty="0"/>
                        <a:t>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374650" marR="228600" indent="-137160">
                        <a:lnSpc>
                          <a:spcPct val="114500"/>
                        </a:lnSpc>
                      </a:pPr>
                      <a:r>
                        <a:rPr sz="1000" dirty="0"/>
                        <a:t>Vehicle</a:t>
                      </a:r>
                      <a:r>
                        <a:rPr sz="1000" spc="-35" dirty="0"/>
                        <a:t> </a:t>
                      </a:r>
                      <a:r>
                        <a:rPr sz="1000" spc="-20" dirty="0"/>
                        <a:t>stop </a:t>
                      </a:r>
                      <a:r>
                        <a:rPr sz="1000" spc="-10" dirty="0"/>
                        <a:t>moving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selection</a:t>
                      </a:r>
                      <a:r>
                        <a:rPr sz="1000" spc="-55" dirty="0"/>
                        <a:t> </a:t>
                      </a:r>
                      <a:r>
                        <a:rPr sz="1000" spc="-25" dirty="0"/>
                        <a:t>of</a:t>
                      </a: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sprocket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288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Select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sprocket</a:t>
                      </a:r>
                      <a:endParaRPr sz="1000"/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7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10" dirty="0"/>
                        <a:t>Inadequate</a:t>
                      </a:r>
                      <a:r>
                        <a:rPr sz="1000" spc="35" dirty="0"/>
                        <a:t> </a:t>
                      </a:r>
                      <a:r>
                        <a:rPr sz="1000" spc="-10" dirty="0"/>
                        <a:t>lubrication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108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Provide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lubrication</a:t>
                      </a:r>
                      <a:r>
                        <a:rPr sz="1000" spc="-15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time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period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24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096252" y="0"/>
            <a:ext cx="1500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DFMEA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3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263236" y="872836"/>
            <a:ext cx="11776363" cy="5777346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58627FF-9DE1-2DEF-0BA7-4D091101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67220"/>
              </p:ext>
            </p:extLst>
          </p:nvPr>
        </p:nvGraphicFramePr>
        <p:xfrm>
          <a:off x="484909" y="1149926"/>
          <a:ext cx="11361175" cy="5347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739"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dirty="0"/>
                        <a:t>Sr</a:t>
                      </a:r>
                      <a:r>
                        <a:rPr sz="1400" b="1" spc="-20" dirty="0"/>
                        <a:t> </a:t>
                      </a:r>
                      <a:r>
                        <a:rPr sz="1400" b="1" spc="-25" dirty="0"/>
                        <a:t>no.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spc="-10" dirty="0"/>
                        <a:t>Parameter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spc="-10" dirty="0"/>
                        <a:t>Method</a:t>
                      </a:r>
                      <a:r>
                        <a:rPr sz="1400" b="1" spc="-45" dirty="0"/>
                        <a:t> </a:t>
                      </a:r>
                      <a:r>
                        <a:rPr sz="1400" b="1" dirty="0"/>
                        <a:t>of</a:t>
                      </a:r>
                      <a:r>
                        <a:rPr sz="1400" b="1" spc="-10" dirty="0"/>
                        <a:t> Checking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L="646430" algn="l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dirty="0"/>
                        <a:t>Design</a:t>
                      </a:r>
                      <a:r>
                        <a:rPr sz="1400" b="1" spc="-45" dirty="0"/>
                        <a:t> </a:t>
                      </a:r>
                      <a:r>
                        <a:rPr sz="1400" b="1" spc="-10" dirty="0"/>
                        <a:t>Value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Wheel</a:t>
                      </a:r>
                      <a:r>
                        <a:rPr sz="1400" spc="-55" dirty="0"/>
                        <a:t> </a:t>
                      </a:r>
                      <a:r>
                        <a:rPr sz="1400" spc="-20" dirty="0"/>
                        <a:t>base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464945" marR="189230" indent="-1363980">
                        <a:lnSpc>
                          <a:spcPct val="112900"/>
                        </a:lnSpc>
                        <a:spcBef>
                          <a:spcPts val="340"/>
                        </a:spcBef>
                      </a:pPr>
                      <a:r>
                        <a:rPr sz="1400" spc="-10" dirty="0"/>
                        <a:t>Distance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from</a:t>
                      </a:r>
                      <a:r>
                        <a:rPr sz="1400" spc="-70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5" dirty="0"/>
                        <a:t> </a:t>
                      </a:r>
                      <a:r>
                        <a:rPr sz="1400" spc="-10" dirty="0"/>
                        <a:t>front</a:t>
                      </a:r>
                      <a:r>
                        <a:rPr sz="1400" spc="-50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to</a:t>
                      </a:r>
                      <a:r>
                        <a:rPr sz="1400" spc="-15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rear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wheel </a:t>
                      </a:r>
                      <a:r>
                        <a:rPr sz="1400" dirty="0"/>
                        <a:t>using</a:t>
                      </a:r>
                      <a:r>
                        <a:rPr sz="1400" spc="-10" dirty="0"/>
                        <a:t> measuring </a:t>
                      </a:r>
                      <a:r>
                        <a:rPr sz="1400" spc="-20" dirty="0"/>
                        <a:t>tape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4</a:t>
                      </a:r>
                      <a:r>
                        <a:rPr lang="en-US" sz="1400" dirty="0"/>
                        <a:t>0</a:t>
                      </a:r>
                      <a:r>
                        <a:rPr sz="1400" spc="-20" dirty="0"/>
                        <a:t> inch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Wheel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track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22985" marR="191770" indent="-906780">
                        <a:lnSpc>
                          <a:spcPct val="112900"/>
                        </a:lnSpc>
                        <a:spcBef>
                          <a:spcPts val="340"/>
                        </a:spcBef>
                      </a:pPr>
                      <a:r>
                        <a:rPr sz="1400" dirty="0"/>
                        <a:t>Minimum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distance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between</a:t>
                      </a:r>
                      <a:r>
                        <a:rPr sz="1400" spc="-15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both</a:t>
                      </a:r>
                      <a:r>
                        <a:rPr sz="1400" spc="-20" dirty="0"/>
                        <a:t> </a:t>
                      </a:r>
                      <a:r>
                        <a:rPr sz="1400" spc="-10" dirty="0"/>
                        <a:t>front</a:t>
                      </a:r>
                      <a:r>
                        <a:rPr sz="1400" spc="-60" dirty="0"/>
                        <a:t> </a:t>
                      </a:r>
                      <a:r>
                        <a:rPr sz="1400" dirty="0"/>
                        <a:t>wheels</a:t>
                      </a:r>
                      <a:r>
                        <a:rPr sz="1400" spc="-10" dirty="0"/>
                        <a:t> </a:t>
                      </a:r>
                      <a:r>
                        <a:rPr sz="1400" spc="-25" dirty="0"/>
                        <a:t>or </a:t>
                      </a:r>
                      <a:r>
                        <a:rPr sz="1400" spc="-10" dirty="0"/>
                        <a:t>rear</a:t>
                      </a:r>
                      <a:r>
                        <a:rPr sz="1400" spc="-70" dirty="0"/>
                        <a:t> </a:t>
                      </a:r>
                      <a:r>
                        <a:rPr sz="1400" dirty="0"/>
                        <a:t>wheels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using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measuring</a:t>
                      </a:r>
                      <a:r>
                        <a:rPr sz="1400" spc="-20" dirty="0"/>
                        <a:t> tape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38</a:t>
                      </a:r>
                      <a:r>
                        <a:rPr sz="1400" spc="-30" dirty="0"/>
                        <a:t> </a:t>
                      </a:r>
                      <a:r>
                        <a:rPr sz="1400" spc="-20" dirty="0"/>
                        <a:t>inch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10" dirty="0"/>
                        <a:t>Weight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69975" marR="493395" indent="-609600">
                        <a:lnSpc>
                          <a:spcPct val="112999"/>
                        </a:lnSpc>
                        <a:spcBef>
                          <a:spcPts val="340"/>
                        </a:spcBef>
                      </a:pPr>
                      <a:r>
                        <a:rPr sz="1400" spc="-20" dirty="0"/>
                        <a:t>Weight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65" dirty="0"/>
                        <a:t> </a:t>
                      </a:r>
                      <a:r>
                        <a:rPr sz="1400" dirty="0"/>
                        <a:t>vehicle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without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driver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dry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fuel</a:t>
                      </a:r>
                      <a:r>
                        <a:rPr sz="1400" spc="-25" dirty="0"/>
                        <a:t> </a:t>
                      </a:r>
                      <a:r>
                        <a:rPr sz="1400" spc="-20" dirty="0"/>
                        <a:t>tank </a:t>
                      </a:r>
                      <a:r>
                        <a:rPr sz="1400" spc="-10" dirty="0"/>
                        <a:t>measuring</a:t>
                      </a:r>
                      <a:r>
                        <a:rPr sz="1400" spc="5" dirty="0"/>
                        <a:t> </a:t>
                      </a:r>
                      <a:r>
                        <a:rPr sz="1400" dirty="0"/>
                        <a:t>on</a:t>
                      </a:r>
                      <a:r>
                        <a:rPr sz="1400" spc="-10" dirty="0"/>
                        <a:t> weighing machine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9539" algn="l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US" sz="1400" dirty="0"/>
                        <a:t>                       </a:t>
                      </a:r>
                      <a:r>
                        <a:rPr sz="1400" dirty="0"/>
                        <a:t>1</a:t>
                      </a:r>
                      <a:r>
                        <a:rPr lang="en-US" sz="1400" dirty="0"/>
                        <a:t>20</a:t>
                      </a:r>
                      <a:r>
                        <a:rPr sz="1400" spc="-20" dirty="0"/>
                        <a:t> </a:t>
                      </a:r>
                      <a:r>
                        <a:rPr sz="1400" spc="-25" dirty="0"/>
                        <a:t>kg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25" dirty="0"/>
                        <a:t>Turning</a:t>
                      </a:r>
                      <a:r>
                        <a:rPr sz="1400" spc="-35" dirty="0"/>
                        <a:t> </a:t>
                      </a:r>
                      <a:r>
                        <a:rPr sz="1400" spc="-10" dirty="0"/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R="300990" algn="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Radius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circle</a:t>
                      </a:r>
                      <a:r>
                        <a:rPr sz="1400" spc="-55" dirty="0"/>
                        <a:t> </a:t>
                      </a:r>
                      <a:r>
                        <a:rPr sz="1400" dirty="0"/>
                        <a:t>when</a:t>
                      </a:r>
                      <a:r>
                        <a:rPr sz="1400" spc="-25" dirty="0"/>
                        <a:t> </a:t>
                      </a:r>
                      <a:r>
                        <a:rPr sz="1400" spc="-10" dirty="0"/>
                        <a:t>steering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locked </a:t>
                      </a:r>
                      <a:r>
                        <a:rPr sz="1400" dirty="0"/>
                        <a:t>at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full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travel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937894" algn="l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1.7</a:t>
                      </a:r>
                      <a:r>
                        <a:rPr sz="1400" spc="-10" dirty="0"/>
                        <a:t> </a:t>
                      </a:r>
                      <a:r>
                        <a:rPr sz="1400" spc="-60" dirty="0"/>
                        <a:t>m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58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20" dirty="0"/>
                        <a:t>Ackerman</a:t>
                      </a:r>
                      <a:r>
                        <a:rPr sz="1400" dirty="0"/>
                        <a:t> </a:t>
                      </a:r>
                      <a:r>
                        <a:rPr sz="1400" spc="-10" dirty="0"/>
                        <a:t>angles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27430" marR="254635" indent="-861060">
                        <a:lnSpc>
                          <a:spcPct val="112900"/>
                        </a:lnSpc>
                        <a:spcBef>
                          <a:spcPts val="345"/>
                        </a:spcBef>
                      </a:pPr>
                      <a:r>
                        <a:rPr sz="1400" spc="-20" dirty="0"/>
                        <a:t>Vehicle </a:t>
                      </a:r>
                      <a:r>
                        <a:rPr sz="1400" dirty="0"/>
                        <a:t>with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steering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locked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at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full</a:t>
                      </a:r>
                      <a:r>
                        <a:rPr sz="1400" spc="-40" dirty="0"/>
                        <a:t> </a:t>
                      </a:r>
                      <a:r>
                        <a:rPr sz="1400" spc="-20" dirty="0"/>
                        <a:t>travel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angle between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initial</a:t>
                      </a:r>
                      <a:r>
                        <a:rPr sz="1400" spc="1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final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position.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dirty="0"/>
                        <a:t>Inside</a:t>
                      </a:r>
                      <a:r>
                        <a:rPr sz="1400" spc="-55" dirty="0"/>
                        <a:t> </a:t>
                      </a:r>
                      <a:r>
                        <a:rPr sz="1400" dirty="0"/>
                        <a:t>angle</a:t>
                      </a:r>
                      <a:r>
                        <a:rPr sz="1400" spc="-20" dirty="0"/>
                        <a:t> =40°</a:t>
                      </a:r>
                      <a:endParaRPr sz="1400" dirty="0"/>
                    </a:p>
                    <a:p>
                      <a:pPr marR="23495" algn="ctr">
                        <a:lnSpc>
                          <a:spcPts val="1639"/>
                        </a:lnSpc>
                        <a:spcBef>
                          <a:spcPts val="229"/>
                        </a:spcBef>
                      </a:pPr>
                      <a:r>
                        <a:rPr sz="1400" dirty="0"/>
                        <a:t>Outside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angle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=</a:t>
                      </a:r>
                      <a:r>
                        <a:rPr lang="en-IN" sz="1400" spc="-10" dirty="0"/>
                        <a:t>28.63</a:t>
                      </a:r>
                      <a:r>
                        <a:rPr sz="1400" spc="-10" dirty="0"/>
                        <a:t>°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1333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70" dirty="0"/>
                        <a:t>Top</a:t>
                      </a:r>
                      <a:r>
                        <a:rPr sz="1400" spc="-65" dirty="0"/>
                        <a:t> </a:t>
                      </a:r>
                      <a:r>
                        <a:rPr sz="1400" spc="-20" dirty="0"/>
                        <a:t>speed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97815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Max.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rpm</a:t>
                      </a:r>
                      <a:r>
                        <a:rPr sz="1400" spc="-45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engine*gear</a:t>
                      </a:r>
                      <a:r>
                        <a:rPr sz="1400" spc="25" dirty="0"/>
                        <a:t> </a:t>
                      </a:r>
                      <a:r>
                        <a:rPr sz="1400" spc="-10" dirty="0"/>
                        <a:t>ratio*0.1047*radius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wheel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lang="en-IN" sz="1400" spc="-20" dirty="0"/>
                        <a:t>90</a:t>
                      </a:r>
                      <a:r>
                        <a:rPr sz="1400" spc="-20" dirty="0"/>
                        <a:t> </a:t>
                      </a:r>
                      <a:r>
                        <a:rPr sz="1400" spc="-10" dirty="0"/>
                        <a:t>km/hr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Stopping</a:t>
                      </a:r>
                      <a:r>
                        <a:rPr sz="1400" spc="-65" dirty="0"/>
                        <a:t> </a:t>
                      </a:r>
                      <a:r>
                        <a:rPr sz="1400" spc="-10" dirty="0"/>
                        <a:t>distance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09410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(top</a:t>
                      </a:r>
                      <a:r>
                        <a:rPr sz="1400" spc="-50" dirty="0"/>
                        <a:t> </a:t>
                      </a:r>
                      <a:r>
                        <a:rPr sz="1400" dirty="0"/>
                        <a:t>speed)^2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/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(2*acceleration)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434975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30.79m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@68km/hr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Stopping</a:t>
                      </a:r>
                      <a:r>
                        <a:rPr sz="1400" spc="-65" dirty="0"/>
                        <a:t> </a:t>
                      </a:r>
                      <a:r>
                        <a:rPr sz="1400" spc="-20" dirty="0"/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(top</a:t>
                      </a:r>
                      <a:r>
                        <a:rPr sz="1400" spc="-70" dirty="0"/>
                        <a:t> </a:t>
                      </a:r>
                      <a:r>
                        <a:rPr sz="1400" dirty="0"/>
                        <a:t>speed)/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deceleration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874394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3.2</a:t>
                      </a:r>
                      <a:r>
                        <a:rPr sz="1400" spc="-20" dirty="0"/>
                        <a:t> </a:t>
                      </a:r>
                      <a:r>
                        <a:rPr sz="1400" spc="-25" dirty="0"/>
                        <a:t>sec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9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10" dirty="0"/>
                        <a:t>Deceleration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F=</a:t>
                      </a:r>
                      <a:r>
                        <a:rPr sz="1400" spc="-25" dirty="0"/>
                        <a:t> ma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737235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6.86</a:t>
                      </a:r>
                      <a:r>
                        <a:rPr sz="1400" spc="-35" dirty="0"/>
                        <a:t> </a:t>
                      </a:r>
                      <a:r>
                        <a:rPr sz="1400" spc="-20" dirty="0"/>
                        <a:t>m/s²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24744" y="0"/>
            <a:ext cx="2889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Validation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13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263236" y="872836"/>
            <a:ext cx="11776363" cy="5777346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FCBE3D2-B3AA-3773-9EF8-48BD43FBC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46924"/>
              </p:ext>
            </p:extLst>
          </p:nvPr>
        </p:nvGraphicFramePr>
        <p:xfrm>
          <a:off x="580103" y="1161786"/>
          <a:ext cx="11021963" cy="52826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4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09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9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2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sz="1600" b="1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(Days)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</a:t>
                      </a:r>
                      <a:r>
                        <a:rPr sz="16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r>
                        <a:rPr sz="1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IN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Understanding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sz="1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Anish C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r>
                        <a:rPr sz="1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05/07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Boopesh K   </a:t>
                      </a: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03/07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03/07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3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7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Rulebook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  <a:r>
                        <a:rPr sz="1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Chassis</a:t>
                      </a:r>
                      <a:r>
                        <a:rPr sz="14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sz="1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   Guru Prasanna V 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3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Chassis</a:t>
                      </a:r>
                      <a:r>
                        <a:rPr sz="14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  <a:r>
                        <a:rPr sz="14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Boopesh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254"/>
                        </a:spcBef>
                        <a:buNone/>
                      </a:pP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04/0</a:t>
                      </a: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IN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254"/>
                        </a:spcBef>
                        <a:buNone/>
                      </a:pP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06/07</a:t>
                      </a:r>
                      <a:endParaRPr lang="en-US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24/0</a:t>
                      </a:r>
                      <a:r>
                        <a:rPr lang="en-IN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Karthi V S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Anish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25/09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03/11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Modification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Prithiv Raj V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Prerace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43094" y="0"/>
            <a:ext cx="2462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1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39"/>
          <p:cNvGrpSpPr/>
          <p:nvPr/>
        </p:nvGrpSpPr>
        <p:grpSpPr>
          <a:xfrm>
            <a:off x="4492931" y="2233280"/>
            <a:ext cx="3140924" cy="3073011"/>
            <a:chOff x="4728365" y="1354693"/>
            <a:chExt cx="2522349" cy="2429337"/>
          </a:xfrm>
        </p:grpSpPr>
        <p:sp>
          <p:nvSpPr>
            <p:cNvPr id="1255" name="Google Shape;1255;p39"/>
            <p:cNvSpPr/>
            <p:nvPr/>
          </p:nvSpPr>
          <p:spPr>
            <a:xfrm>
              <a:off x="5638583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51972" y="0"/>
                  </a:moveTo>
                  <a:cubicBezTo>
                    <a:pt x="46092" y="0"/>
                    <a:pt x="40214" y="2230"/>
                    <a:pt x="35755" y="6689"/>
                  </a:cubicBezTo>
                  <a:lnTo>
                    <a:pt x="8930" y="33513"/>
                  </a:lnTo>
                  <a:cubicBezTo>
                    <a:pt x="0" y="42431"/>
                    <a:pt x="0" y="57040"/>
                    <a:pt x="8930" y="65958"/>
                  </a:cubicBezTo>
                  <a:cubicBezTo>
                    <a:pt x="13389" y="70423"/>
                    <a:pt x="19270" y="72655"/>
                    <a:pt x="25152" y="72655"/>
                  </a:cubicBezTo>
                  <a:cubicBezTo>
                    <a:pt x="31034" y="72655"/>
                    <a:pt x="36916" y="70423"/>
                    <a:pt x="41374" y="65958"/>
                  </a:cubicBezTo>
                  <a:lnTo>
                    <a:pt x="68199" y="39133"/>
                  </a:lnTo>
                  <a:cubicBezTo>
                    <a:pt x="77117" y="30215"/>
                    <a:pt x="77117" y="15618"/>
                    <a:pt x="68199" y="6689"/>
                  </a:cubicBezTo>
                  <a:cubicBezTo>
                    <a:pt x="63734" y="2230"/>
                    <a:pt x="57853" y="0"/>
                    <a:pt x="5197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5638583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25152" y="0"/>
                  </a:moveTo>
                  <a:cubicBezTo>
                    <a:pt x="19270" y="0"/>
                    <a:pt x="13389" y="2233"/>
                    <a:pt x="8930" y="6698"/>
                  </a:cubicBezTo>
                  <a:cubicBezTo>
                    <a:pt x="0" y="15615"/>
                    <a:pt x="0" y="30224"/>
                    <a:pt x="8930" y="39142"/>
                  </a:cubicBezTo>
                  <a:lnTo>
                    <a:pt x="35755" y="65967"/>
                  </a:lnTo>
                  <a:cubicBezTo>
                    <a:pt x="40214" y="70432"/>
                    <a:pt x="46092" y="72664"/>
                    <a:pt x="51972" y="72664"/>
                  </a:cubicBezTo>
                  <a:cubicBezTo>
                    <a:pt x="57853" y="72664"/>
                    <a:pt x="63734" y="70432"/>
                    <a:pt x="68199" y="65967"/>
                  </a:cubicBezTo>
                  <a:cubicBezTo>
                    <a:pt x="77117" y="57049"/>
                    <a:pt x="77117" y="42440"/>
                    <a:pt x="68199" y="33522"/>
                  </a:cubicBezTo>
                  <a:lnTo>
                    <a:pt x="41374" y="6698"/>
                  </a:lnTo>
                  <a:cubicBezTo>
                    <a:pt x="36916" y="2233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4728365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51971" y="0"/>
                  </a:moveTo>
                  <a:cubicBezTo>
                    <a:pt x="46089" y="0"/>
                    <a:pt x="40207" y="2233"/>
                    <a:pt x="35743" y="6698"/>
                  </a:cubicBezTo>
                  <a:lnTo>
                    <a:pt x="8930" y="33522"/>
                  </a:lnTo>
                  <a:cubicBezTo>
                    <a:pt x="0" y="42440"/>
                    <a:pt x="0" y="57049"/>
                    <a:pt x="8930" y="65967"/>
                  </a:cubicBezTo>
                  <a:cubicBezTo>
                    <a:pt x="13389" y="70432"/>
                    <a:pt x="19270" y="72664"/>
                    <a:pt x="25152" y="72664"/>
                  </a:cubicBezTo>
                  <a:cubicBezTo>
                    <a:pt x="31034" y="72664"/>
                    <a:pt x="36915" y="70432"/>
                    <a:pt x="41374" y="65967"/>
                  </a:cubicBezTo>
                  <a:lnTo>
                    <a:pt x="68199" y="39142"/>
                  </a:lnTo>
                  <a:cubicBezTo>
                    <a:pt x="77117" y="30224"/>
                    <a:pt x="77117" y="15615"/>
                    <a:pt x="68199" y="6698"/>
                  </a:cubicBezTo>
                  <a:cubicBezTo>
                    <a:pt x="63734" y="2233"/>
                    <a:pt x="57853" y="0"/>
                    <a:pt x="5197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4728365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25152" y="0"/>
                  </a:moveTo>
                  <a:cubicBezTo>
                    <a:pt x="19270" y="0"/>
                    <a:pt x="13389" y="2230"/>
                    <a:pt x="8930" y="6689"/>
                  </a:cubicBezTo>
                  <a:cubicBezTo>
                    <a:pt x="0" y="15618"/>
                    <a:pt x="0" y="30215"/>
                    <a:pt x="8930" y="39133"/>
                  </a:cubicBezTo>
                  <a:lnTo>
                    <a:pt x="35743" y="65958"/>
                  </a:lnTo>
                  <a:cubicBezTo>
                    <a:pt x="40207" y="70423"/>
                    <a:pt x="46089" y="72655"/>
                    <a:pt x="51971" y="72655"/>
                  </a:cubicBezTo>
                  <a:cubicBezTo>
                    <a:pt x="57853" y="72655"/>
                    <a:pt x="63734" y="70423"/>
                    <a:pt x="68199" y="65958"/>
                  </a:cubicBezTo>
                  <a:cubicBezTo>
                    <a:pt x="77117" y="57040"/>
                    <a:pt x="77117" y="42431"/>
                    <a:pt x="68199" y="33513"/>
                  </a:cubicBezTo>
                  <a:lnTo>
                    <a:pt x="41374" y="6689"/>
                  </a:lnTo>
                  <a:cubicBezTo>
                    <a:pt x="36915" y="2230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59" name="Google Shape;1259;p39"/>
          <p:cNvGrpSpPr/>
          <p:nvPr/>
        </p:nvGrpSpPr>
        <p:grpSpPr>
          <a:xfrm>
            <a:off x="3941958" y="1620999"/>
            <a:ext cx="4162952" cy="4100928"/>
            <a:chOff x="4294025" y="872025"/>
            <a:chExt cx="3396755" cy="3399457"/>
          </a:xfrm>
        </p:grpSpPr>
        <p:sp>
          <p:nvSpPr>
            <p:cNvPr id="1260" name="Google Shape;1260;p39"/>
            <p:cNvSpPr/>
            <p:nvPr/>
          </p:nvSpPr>
          <p:spPr>
            <a:xfrm>
              <a:off x="5537027" y="872025"/>
              <a:ext cx="907256" cy="1257958"/>
            </a:xfrm>
            <a:custGeom>
              <a:avLst/>
              <a:gdLst/>
              <a:ahLst/>
              <a:cxnLst/>
              <a:rect l="l" t="t" r="r" b="b"/>
              <a:pathLst>
                <a:path w="43399" h="60175" extrusionOk="0">
                  <a:moveTo>
                    <a:pt x="21706" y="0"/>
                  </a:moveTo>
                  <a:cubicBezTo>
                    <a:pt x="9716" y="0"/>
                    <a:pt x="0" y="9716"/>
                    <a:pt x="0" y="21705"/>
                  </a:cubicBezTo>
                  <a:lnTo>
                    <a:pt x="0" y="60174"/>
                  </a:lnTo>
                  <a:lnTo>
                    <a:pt x="43399" y="60174"/>
                  </a:lnTo>
                  <a:lnTo>
                    <a:pt x="43399" y="21705"/>
                  </a:lnTo>
                  <a:cubicBezTo>
                    <a:pt x="43399" y="9716"/>
                    <a:pt x="33683" y="0"/>
                    <a:pt x="2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Safety</a:t>
              </a:r>
              <a:endParaRPr sz="2400" dirty="0"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5537027" y="3013774"/>
              <a:ext cx="907256" cy="1257708"/>
            </a:xfrm>
            <a:custGeom>
              <a:avLst/>
              <a:gdLst/>
              <a:ahLst/>
              <a:cxnLst/>
              <a:rect l="l" t="t" r="r" b="b"/>
              <a:pathLst>
                <a:path w="43399" h="60163" extrusionOk="0">
                  <a:moveTo>
                    <a:pt x="0" y="0"/>
                  </a:moveTo>
                  <a:lnTo>
                    <a:pt x="0" y="38469"/>
                  </a:lnTo>
                  <a:cubicBezTo>
                    <a:pt x="0" y="50447"/>
                    <a:pt x="9716" y="60162"/>
                    <a:pt x="21706" y="60162"/>
                  </a:cubicBezTo>
                  <a:cubicBezTo>
                    <a:pt x="33683" y="60162"/>
                    <a:pt x="43399" y="50447"/>
                    <a:pt x="43399" y="38469"/>
                  </a:cubicBezTo>
                  <a:lnTo>
                    <a:pt x="433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caution</a:t>
              </a:r>
              <a:endParaRPr sz="2400" dirty="0"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6433051" y="2117736"/>
              <a:ext cx="1257728" cy="907277"/>
            </a:xfrm>
            <a:custGeom>
              <a:avLst/>
              <a:gdLst/>
              <a:ahLst/>
              <a:cxnLst/>
              <a:rect l="l" t="t" r="r" b="b"/>
              <a:pathLst>
                <a:path w="60164" h="43400" extrusionOk="0">
                  <a:moveTo>
                    <a:pt x="1" y="1"/>
                  </a:moveTo>
                  <a:lnTo>
                    <a:pt x="1" y="43399"/>
                  </a:lnTo>
                  <a:lnTo>
                    <a:pt x="38470" y="43399"/>
                  </a:lnTo>
                  <a:cubicBezTo>
                    <a:pt x="50448" y="43399"/>
                    <a:pt x="60163" y="33684"/>
                    <a:pt x="60163" y="21706"/>
                  </a:cubicBezTo>
                  <a:cubicBezTo>
                    <a:pt x="60163" y="9716"/>
                    <a:pt x="50448" y="1"/>
                    <a:pt x="38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Turn</a:t>
              </a:r>
              <a:endParaRPr sz="2400" dirty="0"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4294025" y="2117736"/>
              <a:ext cx="1257958" cy="907277"/>
            </a:xfrm>
            <a:custGeom>
              <a:avLst/>
              <a:gdLst/>
              <a:ahLst/>
              <a:cxnLst/>
              <a:rect l="l" t="t" r="r" b="b"/>
              <a:pathLst>
                <a:path w="60175" h="43400" extrusionOk="0">
                  <a:moveTo>
                    <a:pt x="21706" y="1"/>
                  </a:moveTo>
                  <a:cubicBezTo>
                    <a:pt x="9716" y="1"/>
                    <a:pt x="1" y="9716"/>
                    <a:pt x="1" y="21706"/>
                  </a:cubicBezTo>
                  <a:cubicBezTo>
                    <a:pt x="1" y="33684"/>
                    <a:pt x="9716" y="43399"/>
                    <a:pt x="21706" y="43399"/>
                  </a:cubicBezTo>
                  <a:lnTo>
                    <a:pt x="60175" y="43399"/>
                  </a:lnTo>
                  <a:lnTo>
                    <a:pt x="601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Danger</a:t>
              </a:r>
              <a:endParaRPr sz="2400" dirty="0"/>
            </a:p>
          </p:txBody>
        </p:sp>
      </p:grpSp>
      <p:grpSp>
        <p:nvGrpSpPr>
          <p:cNvPr id="1270" name="Google Shape;1270;p39"/>
          <p:cNvGrpSpPr/>
          <p:nvPr/>
        </p:nvGrpSpPr>
        <p:grpSpPr>
          <a:xfrm>
            <a:off x="6883891" y="4569673"/>
            <a:ext cx="437951" cy="416439"/>
            <a:chOff x="6577238" y="2457221"/>
            <a:chExt cx="332019" cy="310788"/>
          </a:xfrm>
        </p:grpSpPr>
        <p:sp>
          <p:nvSpPr>
            <p:cNvPr id="1271" name="Google Shape;1271;p39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1275;p39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77" name="Google Shape;1277;p39"/>
          <p:cNvGrpSpPr/>
          <p:nvPr/>
        </p:nvGrpSpPr>
        <p:grpSpPr>
          <a:xfrm>
            <a:off x="6939165" y="2535931"/>
            <a:ext cx="329460" cy="487539"/>
            <a:chOff x="6155459" y="1969108"/>
            <a:chExt cx="249770" cy="363849"/>
          </a:xfrm>
        </p:grpSpPr>
        <p:sp>
          <p:nvSpPr>
            <p:cNvPr id="1278" name="Google Shape;1278;p39"/>
            <p:cNvSpPr/>
            <p:nvPr/>
          </p:nvSpPr>
          <p:spPr>
            <a:xfrm>
              <a:off x="6195628" y="1969108"/>
              <a:ext cx="169813" cy="227012"/>
            </a:xfrm>
            <a:custGeom>
              <a:avLst/>
              <a:gdLst/>
              <a:ahLst/>
              <a:cxnLst/>
              <a:rect l="l" t="t" r="r" b="b"/>
              <a:pathLst>
                <a:path w="5335" h="7132" extrusionOk="0">
                  <a:moveTo>
                    <a:pt x="4120" y="333"/>
                  </a:moveTo>
                  <a:lnTo>
                    <a:pt x="4120" y="1750"/>
                  </a:lnTo>
                  <a:cubicBezTo>
                    <a:pt x="4120" y="1869"/>
                    <a:pt x="4084" y="1965"/>
                    <a:pt x="4036" y="2072"/>
                  </a:cubicBezTo>
                  <a:lnTo>
                    <a:pt x="3953" y="2238"/>
                  </a:lnTo>
                  <a:cubicBezTo>
                    <a:pt x="3941" y="2262"/>
                    <a:pt x="3941" y="2286"/>
                    <a:pt x="3941" y="2310"/>
                  </a:cubicBezTo>
                  <a:lnTo>
                    <a:pt x="3941" y="2667"/>
                  </a:lnTo>
                  <a:cubicBezTo>
                    <a:pt x="3941" y="3024"/>
                    <a:pt x="3786" y="3358"/>
                    <a:pt x="3536" y="3584"/>
                  </a:cubicBezTo>
                  <a:cubicBezTo>
                    <a:pt x="3292" y="3807"/>
                    <a:pt x="3011" y="3935"/>
                    <a:pt x="2699" y="3935"/>
                  </a:cubicBezTo>
                  <a:cubicBezTo>
                    <a:pt x="2661" y="3935"/>
                    <a:pt x="2623" y="3933"/>
                    <a:pt x="2584" y="3929"/>
                  </a:cubicBezTo>
                  <a:cubicBezTo>
                    <a:pt x="1917" y="3893"/>
                    <a:pt x="1405" y="3310"/>
                    <a:pt x="1405" y="2619"/>
                  </a:cubicBezTo>
                  <a:lnTo>
                    <a:pt x="1405" y="2310"/>
                  </a:lnTo>
                  <a:cubicBezTo>
                    <a:pt x="1405" y="2286"/>
                    <a:pt x="1405" y="2262"/>
                    <a:pt x="1393" y="2238"/>
                  </a:cubicBezTo>
                  <a:lnTo>
                    <a:pt x="1298" y="2072"/>
                  </a:lnTo>
                  <a:cubicBezTo>
                    <a:pt x="1262" y="1965"/>
                    <a:pt x="1227" y="1869"/>
                    <a:pt x="1227" y="1750"/>
                  </a:cubicBezTo>
                  <a:lnTo>
                    <a:pt x="1227" y="1238"/>
                  </a:lnTo>
                  <a:cubicBezTo>
                    <a:pt x="1227" y="738"/>
                    <a:pt x="1631" y="333"/>
                    <a:pt x="2131" y="333"/>
                  </a:cubicBezTo>
                  <a:close/>
                  <a:moveTo>
                    <a:pt x="3227" y="4155"/>
                  </a:moveTo>
                  <a:lnTo>
                    <a:pt x="3227" y="4346"/>
                  </a:lnTo>
                  <a:cubicBezTo>
                    <a:pt x="3227" y="4405"/>
                    <a:pt x="3239" y="4465"/>
                    <a:pt x="3251" y="4513"/>
                  </a:cubicBezTo>
                  <a:lnTo>
                    <a:pt x="2667" y="4965"/>
                  </a:lnTo>
                  <a:lnTo>
                    <a:pt x="2096" y="4524"/>
                  </a:lnTo>
                  <a:cubicBezTo>
                    <a:pt x="2108" y="4489"/>
                    <a:pt x="2120" y="4429"/>
                    <a:pt x="2120" y="4370"/>
                  </a:cubicBezTo>
                  <a:lnTo>
                    <a:pt x="2120" y="4155"/>
                  </a:lnTo>
                  <a:cubicBezTo>
                    <a:pt x="2251" y="4215"/>
                    <a:pt x="2405" y="4251"/>
                    <a:pt x="2572" y="4251"/>
                  </a:cubicBezTo>
                  <a:lnTo>
                    <a:pt x="2667" y="4251"/>
                  </a:lnTo>
                  <a:cubicBezTo>
                    <a:pt x="2870" y="4251"/>
                    <a:pt x="3048" y="4215"/>
                    <a:pt x="3227" y="4155"/>
                  </a:cubicBezTo>
                  <a:close/>
                  <a:moveTo>
                    <a:pt x="2131" y="0"/>
                  </a:moveTo>
                  <a:cubicBezTo>
                    <a:pt x="1453" y="0"/>
                    <a:pt x="905" y="560"/>
                    <a:pt x="905" y="1238"/>
                  </a:cubicBezTo>
                  <a:lnTo>
                    <a:pt x="905" y="1750"/>
                  </a:lnTo>
                  <a:cubicBezTo>
                    <a:pt x="905" y="1905"/>
                    <a:pt x="941" y="2072"/>
                    <a:pt x="1024" y="2215"/>
                  </a:cubicBezTo>
                  <a:lnTo>
                    <a:pt x="1084" y="2358"/>
                  </a:lnTo>
                  <a:lnTo>
                    <a:pt x="1084" y="2619"/>
                  </a:lnTo>
                  <a:cubicBezTo>
                    <a:pt x="1084" y="3191"/>
                    <a:pt x="1358" y="3703"/>
                    <a:pt x="1798" y="3989"/>
                  </a:cubicBezTo>
                  <a:lnTo>
                    <a:pt x="1798" y="4358"/>
                  </a:lnTo>
                  <a:cubicBezTo>
                    <a:pt x="1798" y="4453"/>
                    <a:pt x="1739" y="4524"/>
                    <a:pt x="1655" y="4536"/>
                  </a:cubicBezTo>
                  <a:lnTo>
                    <a:pt x="631" y="4858"/>
                  </a:lnTo>
                  <a:cubicBezTo>
                    <a:pt x="262" y="4977"/>
                    <a:pt x="0" y="5298"/>
                    <a:pt x="0" y="5703"/>
                  </a:cubicBezTo>
                  <a:lnTo>
                    <a:pt x="0" y="6965"/>
                  </a:lnTo>
                  <a:cubicBezTo>
                    <a:pt x="0" y="7060"/>
                    <a:pt x="84" y="7132"/>
                    <a:pt x="167" y="7132"/>
                  </a:cubicBezTo>
                  <a:cubicBezTo>
                    <a:pt x="262" y="7132"/>
                    <a:pt x="334" y="7060"/>
                    <a:pt x="334" y="6965"/>
                  </a:cubicBezTo>
                  <a:lnTo>
                    <a:pt x="334" y="5703"/>
                  </a:lnTo>
                  <a:cubicBezTo>
                    <a:pt x="334" y="5465"/>
                    <a:pt x="500" y="5239"/>
                    <a:pt x="715" y="5179"/>
                  </a:cubicBezTo>
                  <a:lnTo>
                    <a:pt x="1750" y="4870"/>
                  </a:lnTo>
                  <a:cubicBezTo>
                    <a:pt x="1810" y="4858"/>
                    <a:pt x="1846" y="4822"/>
                    <a:pt x="1893" y="4798"/>
                  </a:cubicBezTo>
                  <a:lnTo>
                    <a:pt x="2465" y="5227"/>
                  </a:lnTo>
                  <a:cubicBezTo>
                    <a:pt x="2524" y="5275"/>
                    <a:pt x="2596" y="5298"/>
                    <a:pt x="2667" y="5298"/>
                  </a:cubicBezTo>
                  <a:cubicBezTo>
                    <a:pt x="2739" y="5298"/>
                    <a:pt x="2822" y="5275"/>
                    <a:pt x="2882" y="5227"/>
                  </a:cubicBezTo>
                  <a:lnTo>
                    <a:pt x="3441" y="4798"/>
                  </a:lnTo>
                  <a:cubicBezTo>
                    <a:pt x="3489" y="4822"/>
                    <a:pt x="3536" y="4858"/>
                    <a:pt x="3596" y="4870"/>
                  </a:cubicBezTo>
                  <a:lnTo>
                    <a:pt x="4620" y="5179"/>
                  </a:lnTo>
                  <a:cubicBezTo>
                    <a:pt x="4858" y="5251"/>
                    <a:pt x="5001" y="5465"/>
                    <a:pt x="5001" y="5703"/>
                  </a:cubicBezTo>
                  <a:lnTo>
                    <a:pt x="5001" y="6965"/>
                  </a:lnTo>
                  <a:cubicBezTo>
                    <a:pt x="5001" y="7060"/>
                    <a:pt x="5084" y="7132"/>
                    <a:pt x="5168" y="7132"/>
                  </a:cubicBezTo>
                  <a:cubicBezTo>
                    <a:pt x="5263" y="7132"/>
                    <a:pt x="5334" y="7060"/>
                    <a:pt x="5334" y="6965"/>
                  </a:cubicBezTo>
                  <a:lnTo>
                    <a:pt x="5334" y="5703"/>
                  </a:lnTo>
                  <a:cubicBezTo>
                    <a:pt x="5334" y="5322"/>
                    <a:pt x="5084" y="4977"/>
                    <a:pt x="4715" y="4870"/>
                  </a:cubicBezTo>
                  <a:lnTo>
                    <a:pt x="3679" y="4560"/>
                  </a:lnTo>
                  <a:cubicBezTo>
                    <a:pt x="3608" y="4524"/>
                    <a:pt x="3548" y="4453"/>
                    <a:pt x="3548" y="4382"/>
                  </a:cubicBezTo>
                  <a:lnTo>
                    <a:pt x="3548" y="4012"/>
                  </a:lnTo>
                  <a:cubicBezTo>
                    <a:pt x="3620" y="3965"/>
                    <a:pt x="3703" y="3905"/>
                    <a:pt x="3763" y="3846"/>
                  </a:cubicBezTo>
                  <a:cubicBezTo>
                    <a:pt x="4084" y="3548"/>
                    <a:pt x="4263" y="3120"/>
                    <a:pt x="4263" y="2679"/>
                  </a:cubicBezTo>
                  <a:lnTo>
                    <a:pt x="4263" y="2369"/>
                  </a:lnTo>
                  <a:lnTo>
                    <a:pt x="4322" y="2238"/>
                  </a:lnTo>
                  <a:cubicBezTo>
                    <a:pt x="4394" y="2084"/>
                    <a:pt x="4441" y="1917"/>
                    <a:pt x="4441" y="1762"/>
                  </a:cubicBezTo>
                  <a:lnTo>
                    <a:pt x="4441" y="167"/>
                  </a:lnTo>
                  <a:cubicBezTo>
                    <a:pt x="4441" y="83"/>
                    <a:pt x="4370" y="0"/>
                    <a:pt x="42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6275585" y="2146083"/>
              <a:ext cx="10249" cy="50037"/>
            </a:xfrm>
            <a:custGeom>
              <a:avLst/>
              <a:gdLst/>
              <a:ahLst/>
              <a:cxnLst/>
              <a:rect l="l" t="t" r="r" b="b"/>
              <a:pathLst>
                <a:path w="322" h="157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405"/>
                  </a:lnTo>
                  <a:cubicBezTo>
                    <a:pt x="0" y="1500"/>
                    <a:pt x="72" y="1572"/>
                    <a:pt x="155" y="1572"/>
                  </a:cubicBezTo>
                  <a:cubicBezTo>
                    <a:pt x="251" y="1572"/>
                    <a:pt x="322" y="1500"/>
                    <a:pt x="322" y="1405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6223671" y="2157446"/>
              <a:ext cx="10631" cy="38673"/>
            </a:xfrm>
            <a:custGeom>
              <a:avLst/>
              <a:gdLst/>
              <a:ahLst/>
              <a:cxnLst/>
              <a:rect l="l" t="t" r="r" b="b"/>
              <a:pathLst>
                <a:path w="334" h="1215" extrusionOk="0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3"/>
                    <a:pt x="84" y="1215"/>
                    <a:pt x="167" y="1215"/>
                  </a:cubicBezTo>
                  <a:cubicBezTo>
                    <a:pt x="250" y="1215"/>
                    <a:pt x="334" y="1143"/>
                    <a:pt x="334" y="1048"/>
                  </a:cubicBezTo>
                  <a:lnTo>
                    <a:pt x="334" y="155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326736" y="2157446"/>
              <a:ext cx="10281" cy="38673"/>
            </a:xfrm>
            <a:custGeom>
              <a:avLst/>
              <a:gdLst/>
              <a:ahLst/>
              <a:cxnLst/>
              <a:rect l="l" t="t" r="r" b="b"/>
              <a:pathLst>
                <a:path w="323" h="1215" extrusionOk="0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048"/>
                  </a:lnTo>
                  <a:cubicBezTo>
                    <a:pt x="1" y="1143"/>
                    <a:pt x="72" y="1215"/>
                    <a:pt x="156" y="1215"/>
                  </a:cubicBezTo>
                  <a:cubicBezTo>
                    <a:pt x="251" y="1215"/>
                    <a:pt x="322" y="1143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6264222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2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12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2" y="322"/>
                  </a:cubicBezTo>
                  <a:close/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12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6155459" y="2299949"/>
              <a:ext cx="33358" cy="33008"/>
            </a:xfrm>
            <a:custGeom>
              <a:avLst/>
              <a:gdLst/>
              <a:ahLst/>
              <a:cxnLst/>
              <a:rect l="l" t="t" r="r" b="b"/>
              <a:pathLst>
                <a:path w="1048" h="1037" extrusionOk="0">
                  <a:moveTo>
                    <a:pt x="524" y="322"/>
                  </a:moveTo>
                  <a:cubicBezTo>
                    <a:pt x="631" y="322"/>
                    <a:pt x="715" y="417"/>
                    <a:pt x="715" y="524"/>
                  </a:cubicBezTo>
                  <a:cubicBezTo>
                    <a:pt x="715" y="619"/>
                    <a:pt x="631" y="715"/>
                    <a:pt x="524" y="715"/>
                  </a:cubicBezTo>
                  <a:cubicBezTo>
                    <a:pt x="417" y="715"/>
                    <a:pt x="334" y="619"/>
                    <a:pt x="334" y="524"/>
                  </a:cubicBezTo>
                  <a:cubicBezTo>
                    <a:pt x="334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810" y="1036"/>
                    <a:pt x="1048" y="798"/>
                    <a:pt x="1048" y="524"/>
                  </a:cubicBezTo>
                  <a:cubicBezTo>
                    <a:pt x="1048" y="238"/>
                    <a:pt x="810" y="0"/>
                    <a:pt x="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6372221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10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6185379" y="2208597"/>
              <a:ext cx="189134" cy="84763"/>
            </a:xfrm>
            <a:custGeom>
              <a:avLst/>
              <a:gdLst/>
              <a:ahLst/>
              <a:cxnLst/>
              <a:rect l="l" t="t" r="r" b="b"/>
              <a:pathLst>
                <a:path w="5942" h="2663" extrusionOk="0">
                  <a:moveTo>
                    <a:pt x="2977" y="1"/>
                  </a:moveTo>
                  <a:cubicBezTo>
                    <a:pt x="2894" y="1"/>
                    <a:pt x="2811" y="72"/>
                    <a:pt x="2811" y="156"/>
                  </a:cubicBezTo>
                  <a:lnTo>
                    <a:pt x="2811" y="715"/>
                  </a:lnTo>
                  <a:lnTo>
                    <a:pt x="1644" y="715"/>
                  </a:lnTo>
                  <a:cubicBezTo>
                    <a:pt x="1418" y="715"/>
                    <a:pt x="1191" y="810"/>
                    <a:pt x="1060" y="1013"/>
                  </a:cubicBezTo>
                  <a:lnTo>
                    <a:pt x="60" y="2394"/>
                  </a:lnTo>
                  <a:cubicBezTo>
                    <a:pt x="1" y="2465"/>
                    <a:pt x="25" y="2573"/>
                    <a:pt x="108" y="2632"/>
                  </a:cubicBezTo>
                  <a:cubicBezTo>
                    <a:pt x="133" y="2653"/>
                    <a:pt x="162" y="2662"/>
                    <a:pt x="193" y="2662"/>
                  </a:cubicBezTo>
                  <a:cubicBezTo>
                    <a:pt x="249" y="2662"/>
                    <a:pt x="307" y="2631"/>
                    <a:pt x="346" y="2584"/>
                  </a:cubicBezTo>
                  <a:lnTo>
                    <a:pt x="1334" y="1203"/>
                  </a:lnTo>
                  <a:cubicBezTo>
                    <a:pt x="1418" y="1096"/>
                    <a:pt x="1513" y="1049"/>
                    <a:pt x="1632" y="1049"/>
                  </a:cubicBezTo>
                  <a:lnTo>
                    <a:pt x="2811" y="1049"/>
                  </a:lnTo>
                  <a:lnTo>
                    <a:pt x="2811" y="2323"/>
                  </a:lnTo>
                  <a:cubicBezTo>
                    <a:pt x="2811" y="2406"/>
                    <a:pt x="2894" y="2477"/>
                    <a:pt x="2977" y="2477"/>
                  </a:cubicBezTo>
                  <a:cubicBezTo>
                    <a:pt x="3061" y="2477"/>
                    <a:pt x="3144" y="2406"/>
                    <a:pt x="3144" y="2323"/>
                  </a:cubicBezTo>
                  <a:lnTo>
                    <a:pt x="3144" y="1049"/>
                  </a:lnTo>
                  <a:lnTo>
                    <a:pt x="4323" y="1049"/>
                  </a:lnTo>
                  <a:cubicBezTo>
                    <a:pt x="4430" y="1049"/>
                    <a:pt x="4549" y="1108"/>
                    <a:pt x="4620" y="1203"/>
                  </a:cubicBezTo>
                  <a:lnTo>
                    <a:pt x="5609" y="2584"/>
                  </a:lnTo>
                  <a:cubicBezTo>
                    <a:pt x="5644" y="2632"/>
                    <a:pt x="5704" y="2656"/>
                    <a:pt x="5752" y="2656"/>
                  </a:cubicBezTo>
                  <a:cubicBezTo>
                    <a:pt x="5775" y="2656"/>
                    <a:pt x="5823" y="2644"/>
                    <a:pt x="5847" y="2632"/>
                  </a:cubicBezTo>
                  <a:cubicBezTo>
                    <a:pt x="5930" y="2573"/>
                    <a:pt x="5942" y="2465"/>
                    <a:pt x="5882" y="2394"/>
                  </a:cubicBezTo>
                  <a:lnTo>
                    <a:pt x="4882" y="1013"/>
                  </a:lnTo>
                  <a:cubicBezTo>
                    <a:pt x="4751" y="834"/>
                    <a:pt x="4537" y="715"/>
                    <a:pt x="4299" y="715"/>
                  </a:cubicBezTo>
                  <a:lnTo>
                    <a:pt x="3144" y="715"/>
                  </a:lnTo>
                  <a:lnTo>
                    <a:pt x="3144" y="156"/>
                  </a:lnTo>
                  <a:cubicBezTo>
                    <a:pt x="3144" y="72"/>
                    <a:pt x="3073" y="1"/>
                    <a:pt x="2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246397" y="2010773"/>
              <a:ext cx="69007" cy="25814"/>
            </a:xfrm>
            <a:custGeom>
              <a:avLst/>
              <a:gdLst/>
              <a:ahLst/>
              <a:cxnLst/>
              <a:rect l="l" t="t" r="r" b="b"/>
              <a:pathLst>
                <a:path w="2168" h="811" extrusionOk="0">
                  <a:moveTo>
                    <a:pt x="951" y="1"/>
                  </a:moveTo>
                  <a:cubicBezTo>
                    <a:pt x="505" y="1"/>
                    <a:pt x="146" y="113"/>
                    <a:pt x="120" y="120"/>
                  </a:cubicBezTo>
                  <a:cubicBezTo>
                    <a:pt x="48" y="156"/>
                    <a:pt x="1" y="215"/>
                    <a:pt x="1" y="287"/>
                  </a:cubicBezTo>
                  <a:lnTo>
                    <a:pt x="1" y="644"/>
                  </a:lnTo>
                  <a:cubicBezTo>
                    <a:pt x="1" y="739"/>
                    <a:pt x="84" y="810"/>
                    <a:pt x="167" y="810"/>
                  </a:cubicBezTo>
                  <a:cubicBezTo>
                    <a:pt x="263" y="810"/>
                    <a:pt x="334" y="739"/>
                    <a:pt x="334" y="644"/>
                  </a:cubicBezTo>
                  <a:lnTo>
                    <a:pt x="334" y="406"/>
                  </a:lnTo>
                  <a:cubicBezTo>
                    <a:pt x="467" y="372"/>
                    <a:pt x="695" y="329"/>
                    <a:pt x="951" y="329"/>
                  </a:cubicBezTo>
                  <a:cubicBezTo>
                    <a:pt x="1246" y="329"/>
                    <a:pt x="1578" y="387"/>
                    <a:pt x="1846" y="584"/>
                  </a:cubicBezTo>
                  <a:cubicBezTo>
                    <a:pt x="1882" y="610"/>
                    <a:pt x="1920" y="622"/>
                    <a:pt x="1957" y="622"/>
                  </a:cubicBezTo>
                  <a:cubicBezTo>
                    <a:pt x="2005" y="622"/>
                    <a:pt x="2050" y="601"/>
                    <a:pt x="2084" y="560"/>
                  </a:cubicBezTo>
                  <a:cubicBezTo>
                    <a:pt x="2168" y="501"/>
                    <a:pt x="2132" y="394"/>
                    <a:pt x="2072" y="334"/>
                  </a:cubicBezTo>
                  <a:cubicBezTo>
                    <a:pt x="1727" y="74"/>
                    <a:pt x="1311" y="1"/>
                    <a:pt x="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7" name="Google Shape;1287;p39"/>
          <p:cNvGrpSpPr/>
          <p:nvPr/>
        </p:nvGrpSpPr>
        <p:grpSpPr>
          <a:xfrm>
            <a:off x="4942158" y="4534047"/>
            <a:ext cx="328998" cy="487539"/>
            <a:chOff x="6633705" y="1969108"/>
            <a:chExt cx="249420" cy="363849"/>
          </a:xfrm>
        </p:grpSpPr>
        <p:sp>
          <p:nvSpPr>
            <p:cNvPr id="1288" name="Google Shape;1288;p39"/>
            <p:cNvSpPr/>
            <p:nvPr/>
          </p:nvSpPr>
          <p:spPr>
            <a:xfrm>
              <a:off x="6678426" y="1969108"/>
              <a:ext cx="159214" cy="238407"/>
            </a:xfrm>
            <a:custGeom>
              <a:avLst/>
              <a:gdLst/>
              <a:ahLst/>
              <a:cxnLst/>
              <a:rect l="l" t="t" r="r" b="b"/>
              <a:pathLst>
                <a:path w="5002" h="7490" extrusionOk="0">
                  <a:moveTo>
                    <a:pt x="2525" y="333"/>
                  </a:moveTo>
                  <a:cubicBezTo>
                    <a:pt x="2906" y="333"/>
                    <a:pt x="3239" y="572"/>
                    <a:pt x="3251" y="857"/>
                  </a:cubicBezTo>
                  <a:cubicBezTo>
                    <a:pt x="3025" y="762"/>
                    <a:pt x="2775" y="714"/>
                    <a:pt x="2525" y="714"/>
                  </a:cubicBezTo>
                  <a:cubicBezTo>
                    <a:pt x="2263" y="714"/>
                    <a:pt x="2013" y="762"/>
                    <a:pt x="1787" y="857"/>
                  </a:cubicBezTo>
                  <a:cubicBezTo>
                    <a:pt x="1811" y="560"/>
                    <a:pt x="2120" y="333"/>
                    <a:pt x="2525" y="333"/>
                  </a:cubicBezTo>
                  <a:close/>
                  <a:moveTo>
                    <a:pt x="2525" y="1036"/>
                  </a:moveTo>
                  <a:cubicBezTo>
                    <a:pt x="3418" y="1036"/>
                    <a:pt x="4144" y="1762"/>
                    <a:pt x="4144" y="2655"/>
                  </a:cubicBezTo>
                  <a:cubicBezTo>
                    <a:pt x="4144" y="2786"/>
                    <a:pt x="4132" y="2905"/>
                    <a:pt x="4097" y="3036"/>
                  </a:cubicBezTo>
                  <a:cubicBezTo>
                    <a:pt x="4073" y="2905"/>
                    <a:pt x="3989" y="2786"/>
                    <a:pt x="3870" y="2679"/>
                  </a:cubicBezTo>
                  <a:cubicBezTo>
                    <a:pt x="3216" y="2107"/>
                    <a:pt x="2049" y="1953"/>
                    <a:pt x="2001" y="1941"/>
                  </a:cubicBezTo>
                  <a:cubicBezTo>
                    <a:pt x="1994" y="1940"/>
                    <a:pt x="1987" y="1939"/>
                    <a:pt x="1980" y="1939"/>
                  </a:cubicBezTo>
                  <a:cubicBezTo>
                    <a:pt x="1894" y="1939"/>
                    <a:pt x="1822" y="2006"/>
                    <a:pt x="1811" y="2084"/>
                  </a:cubicBezTo>
                  <a:cubicBezTo>
                    <a:pt x="1787" y="2179"/>
                    <a:pt x="1870" y="2262"/>
                    <a:pt x="1953" y="2286"/>
                  </a:cubicBezTo>
                  <a:cubicBezTo>
                    <a:pt x="1965" y="2286"/>
                    <a:pt x="3073" y="2429"/>
                    <a:pt x="3656" y="2941"/>
                  </a:cubicBezTo>
                  <a:cubicBezTo>
                    <a:pt x="3727" y="3012"/>
                    <a:pt x="3787" y="3120"/>
                    <a:pt x="3787" y="3215"/>
                  </a:cubicBezTo>
                  <a:lnTo>
                    <a:pt x="3787" y="3370"/>
                  </a:lnTo>
                  <a:cubicBezTo>
                    <a:pt x="3787" y="4084"/>
                    <a:pt x="3216" y="4644"/>
                    <a:pt x="2525" y="4644"/>
                  </a:cubicBezTo>
                  <a:cubicBezTo>
                    <a:pt x="1822" y="4644"/>
                    <a:pt x="1251" y="4084"/>
                    <a:pt x="1251" y="3381"/>
                  </a:cubicBezTo>
                  <a:cubicBezTo>
                    <a:pt x="1251" y="3334"/>
                    <a:pt x="1287" y="3274"/>
                    <a:pt x="1311" y="3250"/>
                  </a:cubicBezTo>
                  <a:cubicBezTo>
                    <a:pt x="1453" y="3143"/>
                    <a:pt x="1644" y="2977"/>
                    <a:pt x="1763" y="2727"/>
                  </a:cubicBezTo>
                  <a:cubicBezTo>
                    <a:pt x="1811" y="2643"/>
                    <a:pt x="1775" y="2548"/>
                    <a:pt x="1692" y="2500"/>
                  </a:cubicBezTo>
                  <a:cubicBezTo>
                    <a:pt x="1664" y="2490"/>
                    <a:pt x="1637" y="2485"/>
                    <a:pt x="1612" y="2485"/>
                  </a:cubicBezTo>
                  <a:cubicBezTo>
                    <a:pt x="1551" y="2485"/>
                    <a:pt x="1499" y="2516"/>
                    <a:pt x="1465" y="2584"/>
                  </a:cubicBezTo>
                  <a:cubicBezTo>
                    <a:pt x="1370" y="2762"/>
                    <a:pt x="1227" y="2893"/>
                    <a:pt x="1120" y="2965"/>
                  </a:cubicBezTo>
                  <a:cubicBezTo>
                    <a:pt x="1060" y="3012"/>
                    <a:pt x="1001" y="3072"/>
                    <a:pt x="977" y="3143"/>
                  </a:cubicBezTo>
                  <a:cubicBezTo>
                    <a:pt x="930" y="2977"/>
                    <a:pt x="894" y="2822"/>
                    <a:pt x="894" y="2655"/>
                  </a:cubicBezTo>
                  <a:cubicBezTo>
                    <a:pt x="894" y="1762"/>
                    <a:pt x="1632" y="1036"/>
                    <a:pt x="2525" y="1036"/>
                  </a:cubicBezTo>
                  <a:close/>
                  <a:moveTo>
                    <a:pt x="3061" y="4882"/>
                  </a:moveTo>
                  <a:lnTo>
                    <a:pt x="3061" y="5120"/>
                  </a:lnTo>
                  <a:cubicBezTo>
                    <a:pt x="3061" y="5167"/>
                    <a:pt x="3061" y="5215"/>
                    <a:pt x="3073" y="5263"/>
                  </a:cubicBezTo>
                  <a:lnTo>
                    <a:pt x="2525" y="5679"/>
                  </a:lnTo>
                  <a:lnTo>
                    <a:pt x="1942" y="5263"/>
                  </a:lnTo>
                  <a:cubicBezTo>
                    <a:pt x="1953" y="5215"/>
                    <a:pt x="1953" y="5167"/>
                    <a:pt x="1953" y="5120"/>
                  </a:cubicBezTo>
                  <a:lnTo>
                    <a:pt x="1953" y="4882"/>
                  </a:lnTo>
                  <a:cubicBezTo>
                    <a:pt x="2132" y="4941"/>
                    <a:pt x="2311" y="4989"/>
                    <a:pt x="2501" y="4989"/>
                  </a:cubicBezTo>
                  <a:cubicBezTo>
                    <a:pt x="2704" y="4989"/>
                    <a:pt x="2882" y="4965"/>
                    <a:pt x="3061" y="4882"/>
                  </a:cubicBezTo>
                  <a:close/>
                  <a:moveTo>
                    <a:pt x="2525" y="5679"/>
                  </a:moveTo>
                  <a:cubicBezTo>
                    <a:pt x="2525" y="5685"/>
                    <a:pt x="2519" y="5688"/>
                    <a:pt x="2516" y="5688"/>
                  </a:cubicBezTo>
                  <a:cubicBezTo>
                    <a:pt x="2513" y="5688"/>
                    <a:pt x="2513" y="5685"/>
                    <a:pt x="2525" y="5679"/>
                  </a:cubicBezTo>
                  <a:close/>
                  <a:moveTo>
                    <a:pt x="2501" y="0"/>
                  </a:moveTo>
                  <a:cubicBezTo>
                    <a:pt x="1930" y="0"/>
                    <a:pt x="1453" y="405"/>
                    <a:pt x="1453" y="881"/>
                  </a:cubicBezTo>
                  <a:cubicBezTo>
                    <a:pt x="1453" y="929"/>
                    <a:pt x="1453" y="976"/>
                    <a:pt x="1465" y="1012"/>
                  </a:cubicBezTo>
                  <a:cubicBezTo>
                    <a:pt x="918" y="1357"/>
                    <a:pt x="560" y="1965"/>
                    <a:pt x="560" y="2667"/>
                  </a:cubicBezTo>
                  <a:cubicBezTo>
                    <a:pt x="560" y="3120"/>
                    <a:pt x="715" y="3560"/>
                    <a:pt x="1001" y="3917"/>
                  </a:cubicBezTo>
                  <a:cubicBezTo>
                    <a:pt x="1120" y="4251"/>
                    <a:pt x="1346" y="4524"/>
                    <a:pt x="1632" y="4727"/>
                  </a:cubicBezTo>
                  <a:lnTo>
                    <a:pt x="1632" y="5120"/>
                  </a:lnTo>
                  <a:cubicBezTo>
                    <a:pt x="1632" y="5203"/>
                    <a:pt x="1584" y="5275"/>
                    <a:pt x="1513" y="5298"/>
                  </a:cubicBezTo>
                  <a:lnTo>
                    <a:pt x="418" y="5775"/>
                  </a:lnTo>
                  <a:cubicBezTo>
                    <a:pt x="168" y="5894"/>
                    <a:pt x="1" y="6156"/>
                    <a:pt x="1" y="6418"/>
                  </a:cubicBezTo>
                  <a:lnTo>
                    <a:pt x="1" y="7322"/>
                  </a:lnTo>
                  <a:cubicBezTo>
                    <a:pt x="1" y="7418"/>
                    <a:pt x="84" y="7489"/>
                    <a:pt x="168" y="7489"/>
                  </a:cubicBezTo>
                  <a:cubicBezTo>
                    <a:pt x="263" y="7489"/>
                    <a:pt x="334" y="7418"/>
                    <a:pt x="334" y="7322"/>
                  </a:cubicBezTo>
                  <a:lnTo>
                    <a:pt x="334" y="6418"/>
                  </a:lnTo>
                  <a:cubicBezTo>
                    <a:pt x="334" y="6275"/>
                    <a:pt x="418" y="6132"/>
                    <a:pt x="560" y="6072"/>
                  </a:cubicBezTo>
                  <a:lnTo>
                    <a:pt x="1644" y="5596"/>
                  </a:lnTo>
                  <a:cubicBezTo>
                    <a:pt x="1692" y="5584"/>
                    <a:pt x="1715" y="5560"/>
                    <a:pt x="1751" y="5536"/>
                  </a:cubicBezTo>
                  <a:lnTo>
                    <a:pt x="2299" y="5941"/>
                  </a:lnTo>
                  <a:cubicBezTo>
                    <a:pt x="2358" y="5989"/>
                    <a:pt x="2430" y="6013"/>
                    <a:pt x="2501" y="6013"/>
                  </a:cubicBezTo>
                  <a:cubicBezTo>
                    <a:pt x="2584" y="6013"/>
                    <a:pt x="2656" y="5989"/>
                    <a:pt x="2715" y="5941"/>
                  </a:cubicBezTo>
                  <a:lnTo>
                    <a:pt x="3263" y="5536"/>
                  </a:lnTo>
                  <a:cubicBezTo>
                    <a:pt x="3299" y="5572"/>
                    <a:pt x="3335" y="5584"/>
                    <a:pt x="3370" y="5596"/>
                  </a:cubicBezTo>
                  <a:lnTo>
                    <a:pt x="4454" y="6072"/>
                  </a:lnTo>
                  <a:cubicBezTo>
                    <a:pt x="4585" y="6132"/>
                    <a:pt x="4680" y="6275"/>
                    <a:pt x="4680" y="6418"/>
                  </a:cubicBezTo>
                  <a:lnTo>
                    <a:pt x="4680" y="7322"/>
                  </a:lnTo>
                  <a:cubicBezTo>
                    <a:pt x="4680" y="7418"/>
                    <a:pt x="4751" y="7489"/>
                    <a:pt x="4847" y="7489"/>
                  </a:cubicBezTo>
                  <a:cubicBezTo>
                    <a:pt x="4930" y="7489"/>
                    <a:pt x="5001" y="7418"/>
                    <a:pt x="5001" y="7322"/>
                  </a:cubicBezTo>
                  <a:lnTo>
                    <a:pt x="5001" y="6418"/>
                  </a:lnTo>
                  <a:cubicBezTo>
                    <a:pt x="5001" y="6156"/>
                    <a:pt x="4847" y="5894"/>
                    <a:pt x="4585" y="5775"/>
                  </a:cubicBezTo>
                  <a:lnTo>
                    <a:pt x="3501" y="5298"/>
                  </a:lnTo>
                  <a:cubicBezTo>
                    <a:pt x="3430" y="5275"/>
                    <a:pt x="3382" y="5203"/>
                    <a:pt x="3382" y="5120"/>
                  </a:cubicBezTo>
                  <a:lnTo>
                    <a:pt x="3382" y="4727"/>
                  </a:lnTo>
                  <a:cubicBezTo>
                    <a:pt x="3668" y="4524"/>
                    <a:pt x="3894" y="4251"/>
                    <a:pt x="4013" y="3917"/>
                  </a:cubicBezTo>
                  <a:cubicBezTo>
                    <a:pt x="4287" y="3560"/>
                    <a:pt x="4454" y="3131"/>
                    <a:pt x="4454" y="2667"/>
                  </a:cubicBezTo>
                  <a:cubicBezTo>
                    <a:pt x="4454" y="1965"/>
                    <a:pt x="4097" y="1357"/>
                    <a:pt x="3549" y="1012"/>
                  </a:cubicBezTo>
                  <a:cubicBezTo>
                    <a:pt x="3561" y="976"/>
                    <a:pt x="3561" y="929"/>
                    <a:pt x="3561" y="881"/>
                  </a:cubicBezTo>
                  <a:cubicBezTo>
                    <a:pt x="3561" y="393"/>
                    <a:pt x="3085" y="0"/>
                    <a:pt x="2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6753481" y="2168809"/>
              <a:ext cx="10249" cy="38705"/>
            </a:xfrm>
            <a:custGeom>
              <a:avLst/>
              <a:gdLst/>
              <a:ahLst/>
              <a:cxnLst/>
              <a:rect l="l" t="t" r="r" b="b"/>
              <a:pathLst>
                <a:path w="322" h="1216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4"/>
                    <a:pt x="72" y="1215"/>
                    <a:pt x="167" y="1215"/>
                  </a:cubicBezTo>
                  <a:cubicBezTo>
                    <a:pt x="250" y="1215"/>
                    <a:pt x="322" y="1144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6707614" y="2180173"/>
              <a:ext cx="10631" cy="27342"/>
            </a:xfrm>
            <a:custGeom>
              <a:avLst/>
              <a:gdLst/>
              <a:ahLst/>
              <a:cxnLst/>
              <a:rect l="l" t="t" r="r" b="b"/>
              <a:pathLst>
                <a:path w="334" h="859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91"/>
                  </a:lnTo>
                  <a:cubicBezTo>
                    <a:pt x="1" y="787"/>
                    <a:pt x="72" y="858"/>
                    <a:pt x="155" y="858"/>
                  </a:cubicBezTo>
                  <a:cubicBezTo>
                    <a:pt x="251" y="858"/>
                    <a:pt x="322" y="787"/>
                    <a:pt x="322" y="691"/>
                  </a:cubicBezTo>
                  <a:lnTo>
                    <a:pt x="322" y="156"/>
                  </a:lnTo>
                  <a:cubicBezTo>
                    <a:pt x="334" y="72"/>
                    <a:pt x="263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6798966" y="2180173"/>
              <a:ext cx="10249" cy="27342"/>
            </a:xfrm>
            <a:custGeom>
              <a:avLst/>
              <a:gdLst/>
              <a:ahLst/>
              <a:cxnLst/>
              <a:rect l="l" t="t" r="r" b="b"/>
              <a:pathLst>
                <a:path w="322" h="859" extrusionOk="0">
                  <a:moveTo>
                    <a:pt x="167" y="1"/>
                  </a:moveTo>
                  <a:cubicBezTo>
                    <a:pt x="71" y="1"/>
                    <a:pt x="0" y="72"/>
                    <a:pt x="0" y="156"/>
                  </a:cubicBezTo>
                  <a:lnTo>
                    <a:pt x="0" y="691"/>
                  </a:lnTo>
                  <a:cubicBezTo>
                    <a:pt x="0" y="787"/>
                    <a:pt x="71" y="858"/>
                    <a:pt x="167" y="858"/>
                  </a:cubicBezTo>
                  <a:cubicBezTo>
                    <a:pt x="250" y="858"/>
                    <a:pt x="321" y="787"/>
                    <a:pt x="321" y="691"/>
                  </a:cubicBezTo>
                  <a:lnTo>
                    <a:pt x="321" y="156"/>
                  </a:lnTo>
                  <a:cubicBezTo>
                    <a:pt x="321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6742118" y="2299949"/>
              <a:ext cx="32976" cy="33008"/>
            </a:xfrm>
            <a:custGeom>
              <a:avLst/>
              <a:gdLst/>
              <a:ahLst/>
              <a:cxnLst/>
              <a:rect l="l" t="t" r="r" b="b"/>
              <a:pathLst>
                <a:path w="1036" h="1037" extrusionOk="0">
                  <a:moveTo>
                    <a:pt x="524" y="322"/>
                  </a:moveTo>
                  <a:cubicBezTo>
                    <a:pt x="619" y="322"/>
                    <a:pt x="714" y="417"/>
                    <a:pt x="714" y="524"/>
                  </a:cubicBezTo>
                  <a:cubicBezTo>
                    <a:pt x="714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6633705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8" y="715"/>
                    <a:pt x="322" y="619"/>
                    <a:pt x="322" y="524"/>
                  </a:cubicBezTo>
                  <a:cubicBezTo>
                    <a:pt x="322" y="417"/>
                    <a:pt x="418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9" y="1036"/>
                    <a:pt x="1037" y="798"/>
                    <a:pt x="1037" y="524"/>
                  </a:cubicBezTo>
                  <a:cubicBezTo>
                    <a:pt x="1037" y="238"/>
                    <a:pt x="799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6850117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24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6664039" y="2219610"/>
              <a:ext cx="188370" cy="73750"/>
            </a:xfrm>
            <a:custGeom>
              <a:avLst/>
              <a:gdLst/>
              <a:ahLst/>
              <a:cxnLst/>
              <a:rect l="l" t="t" r="r" b="b"/>
              <a:pathLst>
                <a:path w="5918" h="2317" extrusionOk="0">
                  <a:moveTo>
                    <a:pt x="2977" y="0"/>
                  </a:moveTo>
                  <a:cubicBezTo>
                    <a:pt x="2882" y="0"/>
                    <a:pt x="2810" y="83"/>
                    <a:pt x="2810" y="167"/>
                  </a:cubicBezTo>
                  <a:lnTo>
                    <a:pt x="2810" y="369"/>
                  </a:lnTo>
                  <a:lnTo>
                    <a:pt x="1632" y="369"/>
                  </a:lnTo>
                  <a:cubicBezTo>
                    <a:pt x="1405" y="369"/>
                    <a:pt x="1191" y="464"/>
                    <a:pt x="1048" y="667"/>
                  </a:cubicBezTo>
                  <a:lnTo>
                    <a:pt x="60" y="2048"/>
                  </a:lnTo>
                  <a:cubicBezTo>
                    <a:pt x="0" y="2119"/>
                    <a:pt x="24" y="2227"/>
                    <a:pt x="96" y="2286"/>
                  </a:cubicBezTo>
                  <a:cubicBezTo>
                    <a:pt x="125" y="2307"/>
                    <a:pt x="156" y="2316"/>
                    <a:pt x="186" y="2316"/>
                  </a:cubicBezTo>
                  <a:cubicBezTo>
                    <a:pt x="241" y="2316"/>
                    <a:pt x="295" y="2285"/>
                    <a:pt x="334" y="2238"/>
                  </a:cubicBezTo>
                  <a:lnTo>
                    <a:pt x="1334" y="857"/>
                  </a:lnTo>
                  <a:cubicBezTo>
                    <a:pt x="1405" y="750"/>
                    <a:pt x="1512" y="703"/>
                    <a:pt x="1632" y="703"/>
                  </a:cubicBezTo>
                  <a:lnTo>
                    <a:pt x="2810" y="703"/>
                  </a:lnTo>
                  <a:lnTo>
                    <a:pt x="2810" y="1977"/>
                  </a:lnTo>
                  <a:cubicBezTo>
                    <a:pt x="2810" y="2060"/>
                    <a:pt x="2882" y="2131"/>
                    <a:pt x="2977" y="2131"/>
                  </a:cubicBezTo>
                  <a:cubicBezTo>
                    <a:pt x="3060" y="2131"/>
                    <a:pt x="3132" y="2060"/>
                    <a:pt x="3132" y="1977"/>
                  </a:cubicBezTo>
                  <a:lnTo>
                    <a:pt x="3132" y="703"/>
                  </a:lnTo>
                  <a:lnTo>
                    <a:pt x="4310" y="703"/>
                  </a:lnTo>
                  <a:cubicBezTo>
                    <a:pt x="4430" y="703"/>
                    <a:pt x="4549" y="762"/>
                    <a:pt x="4608" y="857"/>
                  </a:cubicBezTo>
                  <a:lnTo>
                    <a:pt x="5608" y="2238"/>
                  </a:lnTo>
                  <a:cubicBezTo>
                    <a:pt x="5632" y="2286"/>
                    <a:pt x="5692" y="2310"/>
                    <a:pt x="5739" y="2310"/>
                  </a:cubicBezTo>
                  <a:cubicBezTo>
                    <a:pt x="5775" y="2310"/>
                    <a:pt x="5811" y="2298"/>
                    <a:pt x="5846" y="2286"/>
                  </a:cubicBezTo>
                  <a:cubicBezTo>
                    <a:pt x="5906" y="2227"/>
                    <a:pt x="5918" y="2119"/>
                    <a:pt x="5870" y="2048"/>
                  </a:cubicBezTo>
                  <a:lnTo>
                    <a:pt x="4882" y="667"/>
                  </a:lnTo>
                  <a:cubicBezTo>
                    <a:pt x="4739" y="488"/>
                    <a:pt x="4537" y="369"/>
                    <a:pt x="4299" y="369"/>
                  </a:cubicBezTo>
                  <a:lnTo>
                    <a:pt x="3132" y="369"/>
                  </a:lnTo>
                  <a:lnTo>
                    <a:pt x="3132" y="167"/>
                  </a:lnTo>
                  <a:cubicBezTo>
                    <a:pt x="3132" y="83"/>
                    <a:pt x="3060" y="0"/>
                    <a:pt x="2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96" name="Google Shape;1296;p39"/>
          <p:cNvGrpSpPr/>
          <p:nvPr/>
        </p:nvGrpSpPr>
        <p:grpSpPr>
          <a:xfrm>
            <a:off x="4871778" y="2542040"/>
            <a:ext cx="467424" cy="475340"/>
            <a:chOff x="3235438" y="1970604"/>
            <a:chExt cx="354363" cy="354745"/>
          </a:xfrm>
        </p:grpSpPr>
        <p:sp>
          <p:nvSpPr>
            <p:cNvPr id="1297" name="Google Shape;1297;p39"/>
            <p:cNvSpPr/>
            <p:nvPr/>
          </p:nvSpPr>
          <p:spPr>
            <a:xfrm>
              <a:off x="3235438" y="2125712"/>
              <a:ext cx="132667" cy="199288"/>
            </a:xfrm>
            <a:custGeom>
              <a:avLst/>
              <a:gdLst/>
              <a:ahLst/>
              <a:cxnLst/>
              <a:rect l="l" t="t" r="r" b="b"/>
              <a:pathLst>
                <a:path w="4168" h="6261" extrusionOk="0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257433" y="2292373"/>
              <a:ext cx="10249" cy="32626"/>
            </a:xfrm>
            <a:custGeom>
              <a:avLst/>
              <a:gdLst/>
              <a:ahLst/>
              <a:cxnLst/>
              <a:rect l="l" t="t" r="r" b="b"/>
              <a:pathLst>
                <a:path w="322" h="1025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335098" y="2292373"/>
              <a:ext cx="10281" cy="32626"/>
            </a:xfrm>
            <a:custGeom>
              <a:avLst/>
              <a:gdLst/>
              <a:ahLst/>
              <a:cxnLst/>
              <a:rect l="l" t="t" r="r" b="b"/>
              <a:pathLst>
                <a:path w="323" h="1025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490110" y="2163685"/>
              <a:ext cx="55734" cy="18430"/>
            </a:xfrm>
            <a:custGeom>
              <a:avLst/>
              <a:gdLst/>
              <a:ahLst/>
              <a:cxnLst/>
              <a:rect l="l" t="t" r="r" b="b"/>
              <a:pathLst>
                <a:path w="1751" h="579" extrusionOk="0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445771" y="2131664"/>
              <a:ext cx="144031" cy="192953"/>
            </a:xfrm>
            <a:custGeom>
              <a:avLst/>
              <a:gdLst/>
              <a:ahLst/>
              <a:cxnLst/>
              <a:rect l="l" t="t" r="r" b="b"/>
              <a:pathLst>
                <a:path w="4525" h="6062" extrusionOk="0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3473813" y="2287058"/>
              <a:ext cx="10631" cy="38291"/>
            </a:xfrm>
            <a:custGeom>
              <a:avLst/>
              <a:gdLst/>
              <a:ahLst/>
              <a:cxnLst/>
              <a:rect l="l" t="t" r="r" b="b"/>
              <a:pathLst>
                <a:path w="334" h="1203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551128" y="2287058"/>
              <a:ext cx="10249" cy="38291"/>
            </a:xfrm>
            <a:custGeom>
              <a:avLst/>
              <a:gdLst/>
              <a:ahLst/>
              <a:cxnLst/>
              <a:rect l="l" t="t" r="r" b="b"/>
              <a:pathLst>
                <a:path w="322" h="120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290377" y="1970604"/>
              <a:ext cx="221378" cy="185346"/>
            </a:xfrm>
            <a:custGeom>
              <a:avLst/>
              <a:gdLst/>
              <a:ahLst/>
              <a:cxnLst/>
              <a:rect l="l" t="t" r="r" b="b"/>
              <a:pathLst>
                <a:path w="6955" h="5823" extrusionOk="0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3329432" y="2004344"/>
              <a:ext cx="26928" cy="10249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368074" y="200434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3329432" y="2031622"/>
              <a:ext cx="121304" cy="10631"/>
            </a:xfrm>
            <a:custGeom>
              <a:avLst/>
              <a:gdLst/>
              <a:ahLst/>
              <a:cxnLst/>
              <a:rect l="l" t="t" r="r" b="b"/>
              <a:pathLst>
                <a:path w="3811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3329432" y="2059664"/>
              <a:ext cx="82249" cy="10663"/>
            </a:xfrm>
            <a:custGeom>
              <a:avLst/>
              <a:gdLst/>
              <a:ahLst/>
              <a:cxnLst/>
              <a:rect l="l" t="t" r="r" b="b"/>
              <a:pathLst>
                <a:path w="2584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3423777" y="2059664"/>
              <a:ext cx="26960" cy="10663"/>
            </a:xfrm>
            <a:custGeom>
              <a:avLst/>
              <a:gdLst/>
              <a:ahLst/>
              <a:cxnLst/>
              <a:rect l="l" t="t" r="r" b="b"/>
              <a:pathLst>
                <a:path w="847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310" name="Google Shape;1310;p39"/>
          <p:cNvSpPr txBox="1">
            <a:spLocks noGrp="1"/>
          </p:cNvSpPr>
          <p:nvPr>
            <p:ph type="title"/>
          </p:nvPr>
        </p:nvSpPr>
        <p:spPr>
          <a:xfrm>
            <a:off x="4449366" y="0"/>
            <a:ext cx="3170634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IN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  <a:r>
              <a:rPr lang="en-IN" sz="2800" b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Equipments</a:t>
            </a:r>
            <a:endParaRPr lang="en-IN" sz="28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7" name="Google Shape;1317;p39"/>
          <p:cNvGrpSpPr/>
          <p:nvPr/>
        </p:nvGrpSpPr>
        <p:grpSpPr>
          <a:xfrm>
            <a:off x="112112" y="3251200"/>
            <a:ext cx="3475421" cy="3881820"/>
            <a:chOff x="457188" y="-34921"/>
            <a:chExt cx="2265000" cy="3860097"/>
          </a:xfrm>
        </p:grpSpPr>
        <p:sp>
          <p:nvSpPr>
            <p:cNvPr id="1318" name="Google Shape;1318;p39"/>
            <p:cNvSpPr txBox="1"/>
            <p:nvPr/>
          </p:nvSpPr>
          <p:spPr>
            <a:xfrm>
              <a:off x="457188" y="-34921"/>
              <a:ext cx="2265000" cy="3407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IN" sz="2133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List of necessary equipment</a:t>
              </a:r>
              <a:endParaRPr lang="en-US" alt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sz="213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Helmets                                                                        </a:t>
              </a:r>
              <a:endPara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Seatbelts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Protective barriers</a:t>
              </a:r>
            </a:p>
            <a:p>
              <a:pPr>
                <a:lnSpc>
                  <a:spcPct val="90000"/>
                </a:lnSpc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Track lighting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Timing system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Track cleaning equipment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Kart maintenance tools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Safety nets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Fire extinguishers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First aid kits</a:t>
              </a:r>
            </a:p>
            <a:p>
              <a:endParaRPr sz="2267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9" name="Google Shape;1319;p39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1" name="Picture 4" descr="Image result for Kart maintenance tools">
            <a:extLst>
              <a:ext uri="{FF2B5EF4-FFF2-40B4-BE49-F238E27FC236}">
                <a16:creationId xmlns:a16="http://schemas.microsoft.com/office/drawing/2014/main" id="{D91A10C6-4043-5462-1488-806864DEB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91" y="1143661"/>
            <a:ext cx="2089436" cy="160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6" descr="Image result for First aid kits">
            <a:extLst>
              <a:ext uri="{FF2B5EF4-FFF2-40B4-BE49-F238E27FC236}">
                <a16:creationId xmlns:a16="http://schemas.microsoft.com/office/drawing/2014/main" id="{2E426EB6-D984-CC03-447D-5648DEF03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448" y="3105211"/>
            <a:ext cx="1368008" cy="112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10A41FA-C53A-6A89-65D1-A96A6433C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372" y="1009037"/>
            <a:ext cx="1173728" cy="1790901"/>
          </a:xfrm>
          <a:prstGeom prst="rect">
            <a:avLst/>
          </a:prstGeom>
        </p:spPr>
      </p:pic>
      <p:pic>
        <p:nvPicPr>
          <p:cNvPr id="74" name="Picture 2" descr="Image result for Timing system">
            <a:extLst>
              <a:ext uri="{FF2B5EF4-FFF2-40B4-BE49-F238E27FC236}">
                <a16:creationId xmlns:a16="http://schemas.microsoft.com/office/drawing/2014/main" id="{E14D584C-236D-86A1-695D-B36758E12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771" y="3048000"/>
            <a:ext cx="1773349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96263B4-BE7E-63E7-4BDD-4B9452C1D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579" y="5007429"/>
            <a:ext cx="1737179" cy="158355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DC165B1-8CA0-4830-52AF-ADB389628F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089" y="3083517"/>
            <a:ext cx="1685739" cy="167783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10D315A-B091-C4B3-1175-D8962632CA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761" y="4905828"/>
            <a:ext cx="1836727" cy="1728989"/>
          </a:xfrm>
          <a:prstGeom prst="rect">
            <a:avLst/>
          </a:prstGeom>
        </p:spPr>
      </p:pic>
      <p:pic>
        <p:nvPicPr>
          <p:cNvPr id="78" name="object 6">
            <a:extLst>
              <a:ext uri="{FF2B5EF4-FFF2-40B4-BE49-F238E27FC236}">
                <a16:creationId xmlns:a16="http://schemas.microsoft.com/office/drawing/2014/main" id="{9B1435B1-4950-FA5F-219D-60B30BBBE33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54984" y="1389178"/>
            <a:ext cx="1737017" cy="1515073"/>
          </a:xfrm>
          <a:prstGeom prst="rect">
            <a:avLst/>
          </a:prstGeom>
        </p:spPr>
      </p:pic>
      <p:pic>
        <p:nvPicPr>
          <p:cNvPr id="79" name="object 4">
            <a:extLst>
              <a:ext uri="{FF2B5EF4-FFF2-40B4-BE49-F238E27FC236}">
                <a16:creationId xmlns:a16="http://schemas.microsoft.com/office/drawing/2014/main" id="{ABF3B777-55E5-BE5A-BB0F-7495E67CF619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01369" y="520700"/>
            <a:ext cx="1509484" cy="232180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17358D4-4837-9428-1591-99E33567DA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6466" y="5400408"/>
            <a:ext cx="1730334" cy="134384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0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405D-F234-5BED-5DF7-07DD54C3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11" name="Google Shape;1486;p43"/>
          <p:cNvSpPr/>
          <p:nvPr/>
        </p:nvSpPr>
        <p:spPr>
          <a:xfrm>
            <a:off x="9290999" y="6243720"/>
            <a:ext cx="2879834" cy="56756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RACERS ARE NOT BORN THEY ARE MADE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63" name="Google Shape;136;p17"/>
          <p:cNvSpPr/>
          <p:nvPr/>
        </p:nvSpPr>
        <p:spPr>
          <a:xfrm rot="10800000">
            <a:off x="1801089" y="1357743"/>
            <a:ext cx="4225635" cy="3477492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37;p17"/>
          <p:cNvSpPr/>
          <p:nvPr/>
        </p:nvSpPr>
        <p:spPr>
          <a:xfrm rot="10800000">
            <a:off x="2117211" y="1574798"/>
            <a:ext cx="3651851" cy="2984502"/>
          </a:xfrm>
          <a:prstGeom prst="ellipse">
            <a:avLst/>
          </a:prstGeom>
          <a:solidFill>
            <a:srgbClr val="E917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38;p17"/>
          <p:cNvSpPr/>
          <p:nvPr/>
        </p:nvSpPr>
        <p:spPr>
          <a:xfrm flipH="1">
            <a:off x="2359267" y="1821516"/>
            <a:ext cx="3142118" cy="2501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888723" y="2105893"/>
            <a:ext cx="1873777" cy="1328840"/>
          </a:xfrm>
          <a:prstGeom prst="rect">
            <a:avLst/>
          </a:prstGeom>
        </p:spPr>
      </p:pic>
      <p:sp>
        <p:nvSpPr>
          <p:cNvPr id="79" name="Google Shape;140;p17"/>
          <p:cNvSpPr/>
          <p:nvPr/>
        </p:nvSpPr>
        <p:spPr>
          <a:xfrm>
            <a:off x="5890973" y="2508063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41;p17"/>
          <p:cNvSpPr/>
          <p:nvPr/>
        </p:nvSpPr>
        <p:spPr>
          <a:xfrm>
            <a:off x="5933835" y="3526630"/>
            <a:ext cx="93300" cy="806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142;p17"/>
          <p:cNvSpPr/>
          <p:nvPr/>
        </p:nvSpPr>
        <p:spPr>
          <a:xfrm>
            <a:off x="5999155" y="3017639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144;p17"/>
          <p:cNvGrpSpPr/>
          <p:nvPr/>
        </p:nvGrpSpPr>
        <p:grpSpPr>
          <a:xfrm>
            <a:off x="5952260" y="3555104"/>
            <a:ext cx="3021943" cy="446216"/>
            <a:chOff x="2908589" y="3445783"/>
            <a:chExt cx="3021943" cy="446216"/>
          </a:xfrm>
        </p:grpSpPr>
        <p:sp>
          <p:nvSpPr>
            <p:cNvPr id="83" name="Google Shape;145;p17"/>
            <p:cNvSpPr/>
            <p:nvPr/>
          </p:nvSpPr>
          <p:spPr>
            <a:xfrm>
              <a:off x="4516632" y="3464799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Execution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84" name="Google Shape;146;p17"/>
            <p:cNvCxnSpPr/>
            <p:nvPr/>
          </p:nvCxnSpPr>
          <p:spPr>
            <a:xfrm flipH="1" flipV="1">
              <a:off x="2908589" y="3445783"/>
              <a:ext cx="1612805" cy="249284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" name="Google Shape;148;p17"/>
          <p:cNvGrpSpPr/>
          <p:nvPr/>
        </p:nvGrpSpPr>
        <p:grpSpPr>
          <a:xfrm>
            <a:off x="5641975" y="1468632"/>
            <a:ext cx="3364744" cy="626868"/>
            <a:chOff x="2565788" y="1385505"/>
            <a:chExt cx="3364744" cy="626868"/>
          </a:xfrm>
        </p:grpSpPr>
        <p:sp>
          <p:nvSpPr>
            <p:cNvPr id="86" name="Google Shape;149;p17"/>
            <p:cNvSpPr/>
            <p:nvPr/>
          </p:nvSpPr>
          <p:spPr>
            <a:xfrm>
              <a:off x="4516632" y="1385505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8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87" name="Google Shape;150;p17"/>
            <p:cNvCxnSpPr>
              <a:stCxn id="86" idx="1"/>
            </p:cNvCxnSpPr>
            <p:nvPr/>
          </p:nvCxnSpPr>
          <p:spPr>
            <a:xfrm flipH="1">
              <a:off x="2565788" y="1599105"/>
              <a:ext cx="1950844" cy="413268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" name="Google Shape;152;p17"/>
          <p:cNvGrpSpPr/>
          <p:nvPr/>
        </p:nvGrpSpPr>
        <p:grpSpPr>
          <a:xfrm>
            <a:off x="5999155" y="2841020"/>
            <a:ext cx="2993232" cy="427200"/>
            <a:chOff x="2937300" y="2771748"/>
            <a:chExt cx="2993232" cy="427200"/>
          </a:xfrm>
        </p:grpSpPr>
        <p:sp>
          <p:nvSpPr>
            <p:cNvPr id="89" name="Google Shape;153;p17"/>
            <p:cNvSpPr/>
            <p:nvPr/>
          </p:nvSpPr>
          <p:spPr>
            <a:xfrm>
              <a:off x="4516632" y="2771748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Planning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0" name="Google Shape;154;p17"/>
            <p:cNvCxnSpPr>
              <a:stCxn id="89" idx="1"/>
              <a:endCxn id="81" idx="2"/>
            </p:cNvCxnSpPr>
            <p:nvPr/>
          </p:nvCxnSpPr>
          <p:spPr>
            <a:xfrm flipH="1">
              <a:off x="2937300" y="2985348"/>
              <a:ext cx="1579332" cy="9669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1" name="Google Shape;156;p17"/>
          <p:cNvGrpSpPr/>
          <p:nvPr/>
        </p:nvGrpSpPr>
        <p:grpSpPr>
          <a:xfrm>
            <a:off x="5890973" y="2161824"/>
            <a:ext cx="3073705" cy="427200"/>
            <a:chOff x="2856827" y="2078697"/>
            <a:chExt cx="3073705" cy="427200"/>
          </a:xfrm>
        </p:grpSpPr>
        <p:sp>
          <p:nvSpPr>
            <p:cNvPr id="92" name="Google Shape;157;p17"/>
            <p:cNvSpPr/>
            <p:nvPr/>
          </p:nvSpPr>
          <p:spPr>
            <a:xfrm>
              <a:off x="4516632" y="2078697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3" name="Google Shape;158;p17"/>
            <p:cNvCxnSpPr>
              <a:stCxn id="92" idx="1"/>
              <a:endCxn id="79" idx="2"/>
            </p:cNvCxnSpPr>
            <p:nvPr/>
          </p:nvCxnSpPr>
          <p:spPr>
            <a:xfrm flipH="1">
              <a:off x="2856827" y="2292297"/>
              <a:ext cx="1659805" cy="179289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" name="Google Shape;160;p17"/>
          <p:cNvGrpSpPr/>
          <p:nvPr/>
        </p:nvGrpSpPr>
        <p:grpSpPr>
          <a:xfrm>
            <a:off x="5657850" y="4062413"/>
            <a:ext cx="3306828" cy="605764"/>
            <a:chOff x="2623704" y="3979286"/>
            <a:chExt cx="3306828" cy="605764"/>
          </a:xfrm>
        </p:grpSpPr>
        <p:sp>
          <p:nvSpPr>
            <p:cNvPr id="95" name="Google Shape;161;p17"/>
            <p:cNvSpPr/>
            <p:nvPr/>
          </p:nvSpPr>
          <p:spPr>
            <a:xfrm>
              <a:off x="4516632" y="4157850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Tracing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6" name="Google Shape;162;p17"/>
            <p:cNvCxnSpPr>
              <a:stCxn id="95" idx="1"/>
            </p:cNvCxnSpPr>
            <p:nvPr/>
          </p:nvCxnSpPr>
          <p:spPr>
            <a:xfrm flipH="1" flipV="1">
              <a:off x="2623704" y="3979286"/>
              <a:ext cx="1892928" cy="392164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725E7BA-2618-2406-A13B-3580C9A07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899" y="3454400"/>
            <a:ext cx="2057401" cy="53340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725E7BA-2618-2406-A13B-3580C9A07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728" y="4840110"/>
            <a:ext cx="1977616" cy="1399495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2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1730</Words>
  <Application>Microsoft Office PowerPoint</Application>
  <PresentationFormat>Widescreen</PresentationFormat>
  <Paragraphs>811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</vt:lpstr>
      <vt:lpstr>Team Composition And Allocation</vt:lpstr>
      <vt:lpstr>Important 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Safety Equipments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Pradeep M</dc:creator>
  <cp:lastModifiedBy>Guru prasanna V</cp:lastModifiedBy>
  <cp:revision>40</cp:revision>
  <dcterms:created xsi:type="dcterms:W3CDTF">2025-01-23T15:43:47Z</dcterms:created>
  <dcterms:modified xsi:type="dcterms:W3CDTF">2025-04-12T05:00:32Z</dcterms:modified>
</cp:coreProperties>
</file>