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DDC43-75D2-49C4-B18D-15CC072903E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70243-9D19-442C-8ABE-3CD074E80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1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854E-08B7-0AFB-2227-E81992452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DDE1E-0109-1DEA-F0F2-FCB1A2FC0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BC768-E3F0-5CB4-02C1-38311056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80EC1-9EFE-74C6-7786-6C27367E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B4C1B-4D9C-0E2B-9A99-8E01FB67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22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2E29-4B80-335A-44D1-A1A52195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ED35-049B-6EBE-05B0-B978D82B4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95BF-F2FE-FF35-D189-604FE578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A43F0-6371-7929-BBE4-72660B3C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8C419-6003-BEAC-2806-A42E8B7A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16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44EE-75AC-49DE-45EF-61FEC27B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37965-C701-E722-E82F-B81D8D801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60BFB-6545-4CCF-D4F6-E7AB9E17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4E390-ED69-347B-0CB1-324180A8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8A4BF-30FF-EB6F-E326-6DDCE6AF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83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4E9F-CADA-2729-D7E4-5D21EF73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419D2-9B96-F998-2C86-CB9C202C9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C26E4-3675-F9DF-CB2A-649AC152E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3CF66-4110-7998-70BC-BDA57714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8E48C-242B-3909-3A1B-B3737E78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766E9-103C-FB55-3F0A-EE4A900B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31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B6D-F194-0D96-B7B6-67BA3A17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795A0-DD31-DB12-70FF-88E5479D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04ACE-CD47-8C14-3332-796E58CF5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39F84-DD9B-2E54-6B71-9AC36AC19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74857-C88E-762C-CAE2-D5843A35C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DCA589-E4A2-6836-77ED-98169AA6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6CCB3-18AC-250C-5100-FB99E420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79697-A4BA-6DCE-7D00-7CC663CA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3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4802-C7E9-6E9B-284D-722341F8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1C962-A0C8-A79B-A3E0-49A121C1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4CD5A-6B84-7628-2D5A-F9D0D666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D0B11-0AAE-A53E-55FA-BAEA0591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5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5E8AF-9B9F-02E8-9B38-212D3740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FBB8C-3749-2640-00E3-407959FD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D7029-3E4B-904E-7384-04E5A490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6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FE7A-5281-CFDE-0F88-9DCBF80B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E7EE-4421-1660-2392-7A8F03AD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13370-8F4F-4268-DCCF-347FF29DC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8A562-CCD0-B616-DA4A-B3D807D4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59AD4-1D8C-A2F9-746B-1D621C13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147DD-8DF1-57E7-FFA1-E9D3F797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75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744E-24FD-C12F-FAEB-EB1307CF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A15E95-120F-1AE4-B9CA-089E0014D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69711-A4D2-D6E5-4596-D92128DCE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C3C40-A8A3-35D4-8B94-C98873AE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C00A6-37ED-C92B-AEEC-33416521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B7E35-74A2-812F-7960-0770074A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F4E2-9A24-FB05-9327-27E15C9D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5B1AD-7850-70AC-6F70-71245F439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94CA-088E-A64B-408C-E36D4C8D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9EEB3-05ED-8028-CE9E-9DB91924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180A4-23DB-9E77-2EAE-6E8CB06C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4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92BAF-0ECF-DA9D-3637-62965DDB1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9E22D-797B-33B8-6EE2-C2A8E15FC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6867A-AC63-2983-BBE8-C62497DC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A991-1A63-D522-B233-72B45E4B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D5129-7DC9-EB33-88D8-6525EB0F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6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2B660-81C1-8A3D-9E18-757BA9A7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13F61-3B54-4520-8EB4-8CB397322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32D8E-8E39-DE80-CB83-28E20127C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4E86D-4AA9-46F5-B773-41FDB6987936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AB6E1-40B7-9583-694C-41387AFB8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9B6A-8C5A-F7B8-CC17-7DF0B2EB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4468D-511C-4D94-95A8-E1C471AC6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86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image" Target="../media/image15.png"/><Relationship Id="rId5" Type="http://schemas.openxmlformats.org/officeDocument/2006/relationships/image" Target="../media/image10.jpg"/><Relationship Id="rId10" Type="http://schemas.openxmlformats.org/officeDocument/2006/relationships/image" Target="../media/image1.pn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E97EE1B-F7E7-48DB-C9DC-B8F2F5F8CC9A}"/>
              </a:ext>
            </a:extLst>
          </p:cNvPr>
          <p:cNvSpPr>
            <a:spLocks noGrp="1"/>
          </p:cNvSpPr>
          <p:nvPr/>
        </p:nvSpPr>
        <p:spPr>
          <a:xfrm>
            <a:off x="1589361" y="99092"/>
            <a:ext cx="9144000" cy="1447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ARTING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NDURANCE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CHAMPIONSHIP</a:t>
            </a: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Organized by </a:t>
            </a: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CADEMY</a:t>
            </a: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NDIGENOUS</a:t>
            </a: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OTOR</a:t>
            </a:r>
            <a:r>
              <a:rPr lang="en-US" sz="1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PORTS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Powered By</a:t>
            </a:r>
            <a:br>
              <a:rPr lang="en-US" sz="1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ACADEMY OF INDIGENOUS MOTOR SPORTS,EDUCATIONAL &amp; SOCIAL WELFARE TRUST)</a:t>
            </a:r>
            <a:br>
              <a:rPr lang="en-US" sz="13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(Registered  Trust)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482F3D5-9AD8-9147-DBE2-F0C2A8718520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7B9C6E-6444-13E7-57F5-8E9830BD30FD}"/>
              </a:ext>
            </a:extLst>
          </p:cNvPr>
          <p:cNvSpPr txBox="1">
            <a:spLocks/>
          </p:cNvSpPr>
          <p:nvPr/>
        </p:nvSpPr>
        <p:spPr>
          <a:xfrm>
            <a:off x="2278101" y="1938043"/>
            <a:ext cx="9389325" cy="204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TEAM NAME   	    	                   </a:t>
            </a:r>
            <a:r>
              <a:rPr lang="en-US" sz="1600" b="1" dirty="0">
                <a:latin typeface="Times New Roman" pitchFamily="18" charset="0"/>
                <a:ea typeface="+mj-ea"/>
                <a:cs typeface="Times New Roman" pitchFamily="18" charset="0"/>
              </a:rPr>
              <a:t>:             SPARKERS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TEAM VIN NO	   	                   :             </a:t>
            </a:r>
            <a:r>
              <a:rPr lang="en-IN" sz="1600" i="0" u="none" strike="noStrike" baseline="0" dirty="0">
                <a:latin typeface="Times New Roman" panose="02020603050405020304" pitchFamily="18" charset="0"/>
              </a:rPr>
              <a:t>25KECCV15002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COLLEGE NAME 		                   :             KNOWLEDGE INSTITUTE OF TECHNOLOGY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ENGINE CATEGORY	                   :              150cc</a:t>
            </a: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FUEL SYSTEM		                   </a:t>
            </a:r>
            <a:r>
              <a:rPr lang="en-US" sz="1600" b="1" dirty="0">
                <a:latin typeface="Times New Roman" pitchFamily="18" charset="0"/>
                <a:ea typeface="+mj-ea"/>
                <a:cs typeface="Times New Roman" pitchFamily="18" charset="0"/>
              </a:rPr>
              <a:t>: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          CARBURETOR 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20000"/>
              </a:spcBef>
              <a:defRPr/>
            </a:pP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14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20000"/>
              </a:spcBef>
              <a:defRPr/>
            </a:pPr>
            <a:endParaRPr lang="en-US" sz="14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CA7A69-CD58-FCC4-6D27-B5D9EE47B8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1" y="99092"/>
            <a:ext cx="1037095" cy="1037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D3D545-0C74-B695-EDD3-E536CEA9C7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704" y="-69597"/>
            <a:ext cx="1671935" cy="167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A30CE2-EAB0-D48C-7CC6-F52B40914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0" y="4101062"/>
            <a:ext cx="2198501" cy="198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A33C52-2847-BDEF-A864-55FFC7F166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4786275" y="4296393"/>
            <a:ext cx="2750172" cy="1959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B8EC98-BBB1-CFD9-3AF9-10D2C7713F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t="33327" r="2828" b="28291"/>
          <a:stretch/>
        </p:blipFill>
        <p:spPr>
          <a:xfrm>
            <a:off x="8554100" y="4237907"/>
            <a:ext cx="3211648" cy="2048374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0484E72-70BC-4AD8-D762-214D225C2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1546892"/>
            <a:ext cx="5257800" cy="381000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COST 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9970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906C-961F-640B-B525-AAD490C9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C37C1C-F7BC-5E29-56DB-404AE92876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094778" y="760316"/>
            <a:ext cx="7690554" cy="54539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B80A5A5-E5D2-6A4A-10FF-CDB49F74AE90}"/>
              </a:ext>
            </a:extLst>
          </p:cNvPr>
          <p:cNvSpPr txBox="1">
            <a:spLocks/>
          </p:cNvSpPr>
          <p:nvPr/>
        </p:nvSpPr>
        <p:spPr>
          <a:xfrm>
            <a:off x="532867" y="746339"/>
            <a:ext cx="10397612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itchFamily="18" charset="0"/>
              </a:rPr>
              <a:t>Here's an overview of a Go-Kart with a 149.5 CC engine, categorized by component, along with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itchFamily="18" charset="0"/>
              </a:rPr>
              <a:t>AISI material selection : Chassis and Frame.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itchFamily="18" charset="0"/>
              </a:rPr>
              <a:t> Main Frame:  AISI 4130 Chromoly Steel (yield strength: 435 -475 MPa)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itchFamily="18" charset="0"/>
              </a:rPr>
              <a:t>Engine and Transmission- Engine: 149.5 CC, 4-stroke, single-cylinder.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itchFamily="18" charset="0"/>
              </a:rPr>
              <a:t> Transmission: 5-speed manual transmission.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itchFamily="18" charset="0"/>
              </a:rPr>
              <a:t>Brakes- Front Brakes: Ventilated disc brakes with hydraulic </a:t>
            </a:r>
            <a:r>
              <a:rPr lang="en-IN" sz="1800" dirty="0" err="1">
                <a:latin typeface="Times New Roman" panose="02020603050405020304" pitchFamily="18" charset="0"/>
                <a:cs typeface="Times New Roman" pitchFamily="18" charset="0"/>
              </a:rPr>
              <a:t>caliper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Tires: Racing slicks or treaded tires (depending on the application)Safety Features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Cage: AISI 1020 Steel (yield strength: 280-320 MPa).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Helmet: Mandatory for driver safety.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Weight: approximately 170kg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Speed: approximately 70 to 80 km/h (50-75 mph),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the gearing and tire selection-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Acceleration: approximately 0-60 km/h (0-37 mph) in 3-5 seconds, depending on the engine tuning and weight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3BBEEC-71DE-A786-4F8B-CC53B14C492A}"/>
              </a:ext>
            </a:extLst>
          </p:cNvPr>
          <p:cNvSpPr/>
          <p:nvPr/>
        </p:nvSpPr>
        <p:spPr>
          <a:xfrm>
            <a:off x="3432028" y="63241"/>
            <a:ext cx="51047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</a:t>
            </a:r>
            <a:r>
              <a:rPr lang="en-IN" sz="3200" b="1" u="sng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VERVIEW OF KART </a:t>
            </a:r>
            <a:endParaRPr lang="en-IN" sz="3200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41B48-4236-CB58-FB99-A187E851D0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059BD-2669-325B-1C5D-F5B3809C3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A70D2082-7B0C-1B4E-672B-56B7CCF8CDFC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975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4A2D-0D22-E830-54E2-BA42730F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70C894-D94D-F22D-354D-CB3C68556CA1}"/>
              </a:ext>
            </a:extLst>
          </p:cNvPr>
          <p:cNvSpPr txBox="1">
            <a:spLocks/>
          </p:cNvSpPr>
          <p:nvPr/>
        </p:nvSpPr>
        <p:spPr>
          <a:xfrm>
            <a:off x="1725562" y="1541209"/>
            <a:ext cx="8458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975EC-B7CE-C5F5-3AD2-0F11321556F4}"/>
              </a:ext>
            </a:extLst>
          </p:cNvPr>
          <p:cNvSpPr/>
          <p:nvPr/>
        </p:nvSpPr>
        <p:spPr>
          <a:xfrm>
            <a:off x="3830011" y="54658"/>
            <a:ext cx="45319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</a:t>
            </a:r>
            <a:r>
              <a:rPr lang="en-IN" sz="3200" b="1" u="sng" dirty="0">
                <a:solidFill>
                  <a:schemeClr val="accent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EAM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E7FDD-A76C-43F3-D2E5-487B5FDC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381" y="1037095"/>
            <a:ext cx="5080211" cy="4962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0243F-E528-55DD-07A0-59066A1D7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15" y="1065861"/>
            <a:ext cx="5008907" cy="5312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4EE77D-4F30-E8E3-424A-E3E4DA363D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363FFB-62BD-D517-944F-CA91A0056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3E2ED83E-51AE-12EB-DFDF-3F29BDA98253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2059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F8F10-7C55-C442-05F7-17C6278F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ECD4DF-6F8F-4A67-23EA-A26C2EFF32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094778" y="760316"/>
            <a:ext cx="7690554" cy="54539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47BA97-FECD-0F7A-90E3-74EE497A2CB1}"/>
              </a:ext>
            </a:extLst>
          </p:cNvPr>
          <p:cNvSpPr txBox="1">
            <a:spLocks/>
          </p:cNvSpPr>
          <p:nvPr/>
        </p:nvSpPr>
        <p:spPr>
          <a:xfrm>
            <a:off x="457200" y="1037096"/>
            <a:ext cx="8229600" cy="5089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38CBB9-E95D-083B-3BAD-0A2362CAB1C7}"/>
              </a:ext>
            </a:extLst>
          </p:cNvPr>
          <p:cNvSpPr txBox="1">
            <a:spLocks/>
          </p:cNvSpPr>
          <p:nvPr/>
        </p:nvSpPr>
        <p:spPr>
          <a:xfrm>
            <a:off x="2781300" y="601255"/>
            <a:ext cx="6629400" cy="533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COST CATEGORIES</a:t>
            </a:r>
            <a:br>
              <a:rPr lang="en-IN" sz="32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b="1" u="sng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AD8B9-7B51-D652-F5C2-1E61F3403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267565"/>
              </p:ext>
            </p:extLst>
          </p:nvPr>
        </p:nvGraphicFramePr>
        <p:xfrm>
          <a:off x="2329407" y="1037095"/>
          <a:ext cx="7239000" cy="489395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692577064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308502618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336979028"/>
                    </a:ext>
                  </a:extLst>
                </a:gridCol>
              </a:tblGrid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EQUIPMENT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IN INR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657536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CHASIS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42671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ENGINE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299598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BATTERY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473474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WIRES AND EQUIPMENT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602804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691664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BRAKES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61520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STEERING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963884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SAFTEY EQUIPMENT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0102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ELECTRICAL EQUIPMENTS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981530"/>
                  </a:ext>
                </a:extLst>
              </a:tr>
              <a:tr h="444905">
                <a:tc>
                  <a:txBody>
                    <a:bodyPr/>
                    <a:lstStyle/>
                    <a:p>
                      <a:r>
                        <a:rPr lang="en-IN" dirty="0"/>
                        <a:t>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OTHER EQUIPMENTS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5899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A6EAE10-CF7B-0699-8C7C-3018E8F84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036BA-B73F-C484-826A-D74E5E4BE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9AB876E2-08A2-E073-8F2F-9BFBAB745492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0056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E11E-D78A-262F-BC13-CFFAF18D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70D24C2-FA97-3CF7-AD5B-D0050DE77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094778" y="760316"/>
            <a:ext cx="7690554" cy="54539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F245D3-C302-1D5B-ACDC-A5B224589DE9}"/>
              </a:ext>
            </a:extLst>
          </p:cNvPr>
          <p:cNvSpPr txBox="1">
            <a:spLocks/>
          </p:cNvSpPr>
          <p:nvPr/>
        </p:nvSpPr>
        <p:spPr>
          <a:xfrm>
            <a:off x="603725" y="1176799"/>
            <a:ext cx="3268393" cy="103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STEERING SYSTEM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2DC1D-1599-4C3C-5E10-F72AEDE17E9A}"/>
              </a:ext>
            </a:extLst>
          </p:cNvPr>
          <p:cNvSpPr/>
          <p:nvPr/>
        </p:nvSpPr>
        <p:spPr>
          <a:xfrm>
            <a:off x="4097197" y="161774"/>
            <a:ext cx="37743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ESTMATED COST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C27285-1A14-AA7C-A487-DEFAAEC73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84881"/>
              </p:ext>
            </p:extLst>
          </p:nvPr>
        </p:nvGraphicFramePr>
        <p:xfrm>
          <a:off x="301336" y="2295377"/>
          <a:ext cx="3795861" cy="24346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2058">
                  <a:extLst>
                    <a:ext uri="{9D8B030D-6E8A-4147-A177-3AD203B41FA5}">
                      <a16:colId xmlns:a16="http://schemas.microsoft.com/office/drawing/2014/main" val="1543462969"/>
                    </a:ext>
                  </a:extLst>
                </a:gridCol>
                <a:gridCol w="1605459">
                  <a:extLst>
                    <a:ext uri="{9D8B030D-6E8A-4147-A177-3AD203B41FA5}">
                      <a16:colId xmlns:a16="http://schemas.microsoft.com/office/drawing/2014/main" val="1683574372"/>
                    </a:ext>
                  </a:extLst>
                </a:gridCol>
                <a:gridCol w="1518344">
                  <a:extLst>
                    <a:ext uri="{9D8B030D-6E8A-4147-A177-3AD203B41FA5}">
                      <a16:colId xmlns:a16="http://schemas.microsoft.com/office/drawing/2014/main" val="1174437510"/>
                    </a:ext>
                  </a:extLst>
                </a:gridCol>
              </a:tblGrid>
              <a:tr h="501314">
                <a:tc>
                  <a:txBody>
                    <a:bodyPr/>
                    <a:lstStyle/>
                    <a:p>
                      <a:r>
                        <a:rPr lang="en-IN" dirty="0"/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COMPONENT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 IN INR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96836"/>
                  </a:ext>
                </a:extLst>
              </a:tr>
              <a:tr h="384834">
                <a:tc>
                  <a:txBody>
                    <a:bodyPr/>
                    <a:lstStyle/>
                    <a:p>
                      <a:r>
                        <a:rPr lang="en-IN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STEERING WHEEL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83184"/>
                  </a:ext>
                </a:extLst>
              </a:tr>
              <a:tr h="38483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KNUKLE PIN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962625"/>
                  </a:ext>
                </a:extLst>
              </a:tr>
              <a:tr h="38483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TIE ROD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367123"/>
                  </a:ext>
                </a:extLst>
              </a:tr>
              <a:tr h="384834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367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2007B8-B52E-BEA5-0083-69BDD20E8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84172"/>
              </p:ext>
            </p:extLst>
          </p:nvPr>
        </p:nvGraphicFramePr>
        <p:xfrm>
          <a:off x="4509242" y="2218356"/>
          <a:ext cx="3562133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8501">
                  <a:extLst>
                    <a:ext uri="{9D8B030D-6E8A-4147-A177-3AD203B41FA5}">
                      <a16:colId xmlns:a16="http://schemas.microsoft.com/office/drawing/2014/main" val="1194712885"/>
                    </a:ext>
                  </a:extLst>
                </a:gridCol>
                <a:gridCol w="1526628">
                  <a:extLst>
                    <a:ext uri="{9D8B030D-6E8A-4147-A177-3AD203B41FA5}">
                      <a16:colId xmlns:a16="http://schemas.microsoft.com/office/drawing/2014/main" val="3705477218"/>
                    </a:ext>
                  </a:extLst>
                </a:gridCol>
                <a:gridCol w="1357004">
                  <a:extLst>
                    <a:ext uri="{9D8B030D-6E8A-4147-A177-3AD203B41FA5}">
                      <a16:colId xmlns:a16="http://schemas.microsoft.com/office/drawing/2014/main" val="3175460009"/>
                    </a:ext>
                  </a:extLst>
                </a:gridCol>
              </a:tblGrid>
              <a:tr h="568088">
                <a:tc>
                  <a:txBody>
                    <a:bodyPr/>
                    <a:lstStyle/>
                    <a:p>
                      <a:r>
                        <a:rPr lang="en-IN" dirty="0"/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COMPONENT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 IN INR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749359"/>
                  </a:ext>
                </a:extLst>
              </a:tr>
              <a:tr h="60197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MASTER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298269"/>
                  </a:ext>
                </a:extLst>
              </a:tr>
              <a:tr h="324622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TUBE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99080"/>
                  </a:ext>
                </a:extLst>
              </a:tr>
              <a:tr h="324622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787036"/>
                  </a:ext>
                </a:extLst>
              </a:tr>
              <a:tr h="324622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CALIPER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9116"/>
                  </a:ext>
                </a:extLst>
              </a:tr>
              <a:tr h="324622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0951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AD20CF1-DA58-95D9-2BF9-662A3FC55B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1FC7D-3CF8-FC23-F14E-F5129CF59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4139442A-A13A-8051-D0F4-0E36388DBD90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3926A-6BF9-AAA3-9D0F-77EB486774FF}"/>
              </a:ext>
            </a:extLst>
          </p:cNvPr>
          <p:cNvSpPr txBox="1"/>
          <p:nvPr/>
        </p:nvSpPr>
        <p:spPr>
          <a:xfrm>
            <a:off x="4701793" y="1552812"/>
            <a:ext cx="3369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BREAKING SYSTEM </a:t>
            </a: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F31E54-C049-7C1B-A097-C256977A29CB}"/>
              </a:ext>
            </a:extLst>
          </p:cNvPr>
          <p:cNvSpPr txBox="1"/>
          <p:nvPr/>
        </p:nvSpPr>
        <p:spPr>
          <a:xfrm>
            <a:off x="8795332" y="1414312"/>
            <a:ext cx="30953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ENGINE AND 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TRANSIMISSON 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sz="24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89D398-E47C-BD6D-5679-245BE9483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957779"/>
              </p:ext>
            </p:extLst>
          </p:nvPr>
        </p:nvGraphicFramePr>
        <p:xfrm>
          <a:off x="8580049" y="2213895"/>
          <a:ext cx="3310615" cy="30740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6856">
                  <a:extLst>
                    <a:ext uri="{9D8B030D-6E8A-4147-A177-3AD203B41FA5}">
                      <a16:colId xmlns:a16="http://schemas.microsoft.com/office/drawing/2014/main" val="1210547027"/>
                    </a:ext>
                  </a:extLst>
                </a:gridCol>
                <a:gridCol w="1720221">
                  <a:extLst>
                    <a:ext uri="{9D8B030D-6E8A-4147-A177-3AD203B41FA5}">
                      <a16:colId xmlns:a16="http://schemas.microsoft.com/office/drawing/2014/main" val="1331575429"/>
                    </a:ext>
                  </a:extLst>
                </a:gridCol>
                <a:gridCol w="1103538">
                  <a:extLst>
                    <a:ext uri="{9D8B030D-6E8A-4147-A177-3AD203B41FA5}">
                      <a16:colId xmlns:a16="http://schemas.microsoft.com/office/drawing/2014/main" val="35824931"/>
                    </a:ext>
                  </a:extLst>
                </a:gridCol>
              </a:tblGrid>
              <a:tr h="552575">
                <a:tc>
                  <a:txBody>
                    <a:bodyPr/>
                    <a:lstStyle/>
                    <a:p>
                      <a:r>
                        <a:rPr lang="en-IN" dirty="0"/>
                        <a:t>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 IN INR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561868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718224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477337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219151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BEARING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75893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DRIVEN GEAR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940993"/>
                  </a:ext>
                </a:extLst>
              </a:tr>
              <a:tr h="405661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98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45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79C5-C3B9-F664-6315-BE46BB75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156EAF4-D748-9AFF-BCD7-F11D84A0D3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094778" y="760316"/>
            <a:ext cx="7690554" cy="54539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BE19E6-8919-E7B1-FEA9-D9770A860ABB}"/>
              </a:ext>
            </a:extLst>
          </p:cNvPr>
          <p:cNvSpPr txBox="1">
            <a:spLocks/>
          </p:cNvSpPr>
          <p:nvPr/>
        </p:nvSpPr>
        <p:spPr>
          <a:xfrm>
            <a:off x="532867" y="1221360"/>
            <a:ext cx="3298722" cy="402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SAFTEY </a:t>
            </a:r>
          </a:p>
          <a:p>
            <a:r>
              <a:rPr lang="en-IN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EQUIPMENT 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47986D-41D5-EA29-BD64-2F9A50371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433726"/>
              </p:ext>
            </p:extLst>
          </p:nvPr>
        </p:nvGraphicFramePr>
        <p:xfrm>
          <a:off x="486697" y="2184743"/>
          <a:ext cx="3200400" cy="3109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8274218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759733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183682024"/>
                    </a:ext>
                  </a:extLst>
                </a:gridCol>
              </a:tblGrid>
              <a:tr h="578821">
                <a:tc>
                  <a:txBody>
                    <a:bodyPr/>
                    <a:lstStyle/>
                    <a:p>
                      <a:r>
                        <a:rPr lang="en-IN" dirty="0"/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COMPONENT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 IN INR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88293"/>
                  </a:ext>
                </a:extLst>
              </a:tr>
              <a:tr h="493836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14917"/>
                  </a:ext>
                </a:extLst>
              </a:tr>
              <a:tr h="493836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HELMET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945019"/>
                  </a:ext>
                </a:extLst>
              </a:tr>
              <a:tr h="493836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GLOVES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85022"/>
                  </a:ext>
                </a:extLst>
              </a:tr>
              <a:tr h="493836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32125"/>
                  </a:ext>
                </a:extLst>
              </a:tr>
              <a:tr h="493836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28570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0831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3A95660-09E3-8C8D-B9F0-E57C448567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EA5C2-F846-30C3-1E2A-DD2A586EB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8" name="Footer Placeholder 9">
            <a:extLst>
              <a:ext uri="{FF2B5EF4-FFF2-40B4-BE49-F238E27FC236}">
                <a16:creationId xmlns:a16="http://schemas.microsoft.com/office/drawing/2014/main" id="{20FD87BF-4400-AB05-6FD7-0A7C7249A18A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EEFE5-FE84-CEB6-185C-04B81AD4A2A3}"/>
              </a:ext>
            </a:extLst>
          </p:cNvPr>
          <p:cNvSpPr txBox="1"/>
          <p:nvPr/>
        </p:nvSpPr>
        <p:spPr>
          <a:xfrm>
            <a:off x="2993923" y="54658"/>
            <a:ext cx="6204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ESTMATED COST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F0278-E048-429B-5BBF-FEF1B287F576}"/>
              </a:ext>
            </a:extLst>
          </p:cNvPr>
          <p:cNvSpPr txBox="1"/>
          <p:nvPr/>
        </p:nvSpPr>
        <p:spPr>
          <a:xfrm>
            <a:off x="4193459" y="1295420"/>
            <a:ext cx="29939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ELECTICAL EQUIPMENTS </a:t>
            </a:r>
            <a:endParaRPr lang="en-IN" sz="24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A65A85-F658-9345-2303-F0D763D2D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834101"/>
              </p:ext>
            </p:extLst>
          </p:nvPr>
        </p:nvGraphicFramePr>
        <p:xfrm>
          <a:off x="4016478" y="2184743"/>
          <a:ext cx="3426542" cy="28184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8937">
                  <a:extLst>
                    <a:ext uri="{9D8B030D-6E8A-4147-A177-3AD203B41FA5}">
                      <a16:colId xmlns:a16="http://schemas.microsoft.com/office/drawing/2014/main" val="323979005"/>
                    </a:ext>
                  </a:extLst>
                </a:gridCol>
                <a:gridCol w="1695424">
                  <a:extLst>
                    <a:ext uri="{9D8B030D-6E8A-4147-A177-3AD203B41FA5}">
                      <a16:colId xmlns:a16="http://schemas.microsoft.com/office/drawing/2014/main" val="136314890"/>
                    </a:ext>
                  </a:extLst>
                </a:gridCol>
                <a:gridCol w="1142181">
                  <a:extLst>
                    <a:ext uri="{9D8B030D-6E8A-4147-A177-3AD203B41FA5}">
                      <a16:colId xmlns:a16="http://schemas.microsoft.com/office/drawing/2014/main" val="126623252"/>
                    </a:ext>
                  </a:extLst>
                </a:gridCol>
              </a:tblGrid>
              <a:tr h="631981">
                <a:tc>
                  <a:txBody>
                    <a:bodyPr/>
                    <a:lstStyle/>
                    <a:p>
                      <a:r>
                        <a:rPr lang="en-US" dirty="0"/>
                        <a:t>S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COMPONENTS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IN INR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00894"/>
                  </a:ext>
                </a:extLst>
              </a:tr>
              <a:tr h="63198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BATTERY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745547"/>
                  </a:ext>
                </a:extLst>
              </a:tr>
              <a:tr h="81910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WIRES AND OTHER EQUIPMENTS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80139"/>
                  </a:ext>
                </a:extLst>
              </a:tr>
              <a:tr h="63198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63307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66EFCB2-0911-8349-91C5-A11DE02C4BAB}"/>
              </a:ext>
            </a:extLst>
          </p:cNvPr>
          <p:cNvSpPr txBox="1"/>
          <p:nvPr/>
        </p:nvSpPr>
        <p:spPr>
          <a:xfrm>
            <a:off x="8706465" y="1394252"/>
            <a:ext cx="2403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OTHER COMPONENTS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4F38964-7A5F-C38D-2891-E78B6F4BD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87717"/>
              </p:ext>
            </p:extLst>
          </p:nvPr>
        </p:nvGraphicFramePr>
        <p:xfrm>
          <a:off x="8135186" y="2184743"/>
          <a:ext cx="3532240" cy="33384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5336">
                  <a:extLst>
                    <a:ext uri="{9D8B030D-6E8A-4147-A177-3AD203B41FA5}">
                      <a16:colId xmlns:a16="http://schemas.microsoft.com/office/drawing/2014/main" val="1746601964"/>
                    </a:ext>
                  </a:extLst>
                </a:gridCol>
                <a:gridCol w="1527961">
                  <a:extLst>
                    <a:ext uri="{9D8B030D-6E8A-4147-A177-3AD203B41FA5}">
                      <a16:colId xmlns:a16="http://schemas.microsoft.com/office/drawing/2014/main" val="3592896909"/>
                    </a:ext>
                  </a:extLst>
                </a:gridCol>
                <a:gridCol w="1618943">
                  <a:extLst>
                    <a:ext uri="{9D8B030D-6E8A-4147-A177-3AD203B41FA5}">
                      <a16:colId xmlns:a16="http://schemas.microsoft.com/office/drawing/2014/main" val="58538691"/>
                    </a:ext>
                  </a:extLst>
                </a:gridCol>
              </a:tblGrid>
              <a:tr h="872649">
                <a:tc>
                  <a:txBody>
                    <a:bodyPr/>
                    <a:lstStyle/>
                    <a:p>
                      <a:r>
                        <a:rPr lang="en-US" dirty="0"/>
                        <a:t>S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COMPONENTS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IN INR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983843"/>
                  </a:ext>
                </a:extLst>
              </a:tr>
              <a:tr h="4848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615232"/>
                  </a:ext>
                </a:extLst>
              </a:tr>
              <a:tr h="48480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FARINGS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954695"/>
                  </a:ext>
                </a:extLst>
              </a:tr>
              <a:tr h="48480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FUEL TANK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37423"/>
                  </a:ext>
                </a:extLst>
              </a:tr>
              <a:tr h="48480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WELDING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089207"/>
                  </a:ext>
                </a:extLst>
              </a:tr>
              <a:tr h="48480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14900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280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26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B9B8-8B1D-4F59-3C48-7B4C4825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9746451-0B13-8A27-E8C5-F238791FF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2094778" y="760316"/>
            <a:ext cx="7690554" cy="54539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244F99-FC0E-158F-7E4E-6D73E2349431}"/>
              </a:ext>
            </a:extLst>
          </p:cNvPr>
          <p:cNvSpPr txBox="1">
            <a:spLocks/>
          </p:cNvSpPr>
          <p:nvPr/>
        </p:nvSpPr>
        <p:spPr>
          <a:xfrm>
            <a:off x="2171134" y="5214780"/>
            <a:ext cx="7666703" cy="501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TOTAL VECHILE COST :  130150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C19F1-46C6-AE7D-74FE-CEB3A238FF92}"/>
              </a:ext>
            </a:extLst>
          </p:cNvPr>
          <p:cNvSpPr/>
          <p:nvPr/>
        </p:nvSpPr>
        <p:spPr>
          <a:xfrm>
            <a:off x="1752600" y="-60224"/>
            <a:ext cx="84581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BUDGET ALLOCATION &amp; COST MANAGEMENT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0D9F0-965B-DE06-66FE-34DEAB20D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816" y="1330616"/>
            <a:ext cx="1371600" cy="1671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AF2AEE-68EC-B082-A08E-5851E92C3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502" y="1330616"/>
            <a:ext cx="1237729" cy="1671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43FED-6488-0C9B-F448-0D6D026D9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74" y="1330616"/>
            <a:ext cx="990600" cy="1671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DF6236-3401-1FDB-75F0-609E87AEE7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837" y="1300421"/>
            <a:ext cx="2228329" cy="1862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E4F34D-F570-2CB6-EAD2-0F0D0B8436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967" y="3270537"/>
            <a:ext cx="24384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802B2B-8C24-965B-4B3E-2EABD4170F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148" y="3229223"/>
            <a:ext cx="4114800" cy="1455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C4BB98-0812-099A-FFF2-357FE72EC4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729" y="1365055"/>
            <a:ext cx="1972503" cy="3407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C1A64B-24C8-605C-C1BA-8309D2715E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BCF517-14DE-F83F-82BB-8D34D0724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2" t="32961" r="7997" b="25162"/>
          <a:stretch/>
        </p:blipFill>
        <p:spPr>
          <a:xfrm>
            <a:off x="10688692" y="54658"/>
            <a:ext cx="1385321" cy="982438"/>
          </a:xfrm>
          <a:prstGeom prst="rect">
            <a:avLst/>
          </a:prstGeom>
        </p:spPr>
      </p:pic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0320DACC-B51C-CB1B-CA26-908B6412BE32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26D95A-CE7B-E78A-B11F-21234B1105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99" y="1203780"/>
            <a:ext cx="2919521" cy="353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1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B1B80-78A8-EEC2-66C9-6DA3FE49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99292A-493F-F755-51CB-7F8CCA56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34" y="136525"/>
            <a:ext cx="1249732" cy="10323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94D0BB-6A98-E4BC-02FB-47778F66D9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" y="0"/>
            <a:ext cx="1037095" cy="1037095"/>
          </a:xfrm>
          <a:prstGeom prst="rect">
            <a:avLst/>
          </a:prstGeom>
        </p:spPr>
      </p:pic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FE220053-1E39-E367-5FEB-C9BB544FD900}"/>
              </a:ext>
            </a:extLst>
          </p:cNvPr>
          <p:cNvSpPr>
            <a:spLocks noGrp="1"/>
          </p:cNvSpPr>
          <p:nvPr/>
        </p:nvSpPr>
        <p:spPr>
          <a:xfrm>
            <a:off x="301336" y="6425946"/>
            <a:ext cx="1136609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www.aimsacademys.org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	 	               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Season:05 		                                                        AIMS/KEC             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161C19-2583-1E86-3F89-AE697FA10350}"/>
              </a:ext>
            </a:extLst>
          </p:cNvPr>
          <p:cNvSpPr/>
          <p:nvPr/>
        </p:nvSpPr>
        <p:spPr>
          <a:xfrm>
            <a:off x="2620297" y="928942"/>
            <a:ext cx="6951406" cy="4648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35774-0E8C-C9E5-0B82-BF3C8A3A3C3E}"/>
              </a:ext>
            </a:extLst>
          </p:cNvPr>
          <p:cNvSpPr txBox="1"/>
          <p:nvPr/>
        </p:nvSpPr>
        <p:spPr>
          <a:xfrm>
            <a:off x="2964425" y="1536174"/>
            <a:ext cx="58895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i="1" dirty="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  <a:endParaRPr lang="en-IN" sz="12000" b="1" i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6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601</Words>
  <Application>Microsoft Office PowerPoint</Application>
  <PresentationFormat>Widescreen</PresentationFormat>
  <Paragraphs>191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Bradley Hand ITC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M</dc:creator>
  <cp:lastModifiedBy>Pradeep M</cp:lastModifiedBy>
  <cp:revision>1</cp:revision>
  <dcterms:created xsi:type="dcterms:W3CDTF">2025-02-12T16:41:35Z</dcterms:created>
  <dcterms:modified xsi:type="dcterms:W3CDTF">2025-02-12T17:02:45Z</dcterms:modified>
</cp:coreProperties>
</file>