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10693400" cx="7556500"/>
  <p:notesSz cx="6858000" cy="9144000"/>
  <p:embeddedFontLst>
    <p:embeddedFont>
      <p:font typeface="Architects Daughter"/>
      <p:regular r:id="rId53"/>
    </p:embeddedFont>
    <p:embeddedFont>
      <p:font typeface="Bodoni"/>
      <p:regular r:id="rId54"/>
      <p:bold r:id="rId55"/>
      <p:italic r:id="rId56"/>
      <p:boldItalic r:id="rId57"/>
    </p:embeddedFont>
    <p:embeddedFont>
      <p:font typeface="Book Antiqua"/>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2" roundtripDataSignature="AMtx7mj201pjbyZx8RXPaOgzWQWmogMX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A411FB-B787-4B0C-873D-8BDE20D64C28}">
  <a:tblStyle styleId="{B1A411FB-B787-4B0C-873D-8BDE20D64C2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AA01411-1129-4BFD-8B59-67041B4AEC9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BookAntiqua-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BookAntiqua-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ArchitectsDaughter-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Bodoni-bold.fntdata"/><Relationship Id="rId10" Type="http://schemas.openxmlformats.org/officeDocument/2006/relationships/slide" Target="slides/slide4.xml"/><Relationship Id="rId54" Type="http://schemas.openxmlformats.org/officeDocument/2006/relationships/font" Target="fonts/Bodoni-regular.fntdata"/><Relationship Id="rId13" Type="http://schemas.openxmlformats.org/officeDocument/2006/relationships/slide" Target="slides/slide7.xml"/><Relationship Id="rId57" Type="http://schemas.openxmlformats.org/officeDocument/2006/relationships/font" Target="fonts/Bodoni-boldItalic.fntdata"/><Relationship Id="rId12" Type="http://schemas.openxmlformats.org/officeDocument/2006/relationships/slide" Target="slides/slide6.xml"/><Relationship Id="rId56" Type="http://schemas.openxmlformats.org/officeDocument/2006/relationships/font" Target="fonts/Bodoni-italic.fntdata"/><Relationship Id="rId15" Type="http://schemas.openxmlformats.org/officeDocument/2006/relationships/slide" Target="slides/slide9.xml"/><Relationship Id="rId59" Type="http://schemas.openxmlformats.org/officeDocument/2006/relationships/font" Target="fonts/BookAntiqua-bold.fntdata"/><Relationship Id="rId14" Type="http://schemas.openxmlformats.org/officeDocument/2006/relationships/slide" Target="slides/slide8.xml"/><Relationship Id="rId58" Type="http://schemas.openxmlformats.org/officeDocument/2006/relationships/font" Target="fonts/BookAntiqua-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d334041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7d334041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7d3340413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7d3340413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0e1ea200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80e1ea200b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0e1ea200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80e1ea200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0e1ea200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80e1ea200b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17a84c2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817a84c22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817a84c22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817a84c226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18763da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818763dad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818763dad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818763dad8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18763dad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818763dad8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cb00882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8cb00882a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cb00882a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8cb00882a1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cdd4024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8cdd4024e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cdd4024e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8cdd4024e3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cdd4024e3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8cdd4024e3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8cdd4024e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8cdd4024e3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8cdd4024e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8cdd4024e3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cdd4024e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38cdd4024e3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cdd4024e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8cdd4024e3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8cdd4024e3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8cdd4024e3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cdd4024e3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8cdd4024e3_2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8cdd4024e3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8cdd4024e3_2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cdd4024e3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8cdd4024e3_1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cdd4024e3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8cdd4024e3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8cdd4024e3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8cdd4024e3_1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cdd4024e3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38cdd4024e3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8ce53cbc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8ce53cbcb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8402e4479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8402e44794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8402e4479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8402e44794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8402e4479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8402e44794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8402e4479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8402e44794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8402e4479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8402e44794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44d0da0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3844d0da0a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844d0da0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844d0da0a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844d0da0a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844d0da0ad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844d0da0a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844d0da0ad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44d0da0a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3844d0da0ad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844d0da0ad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844d0da0ad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1.png"/><Relationship Id="rId6"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jpg"/><Relationship Id="rId5" Type="http://schemas.openxmlformats.org/officeDocument/2006/relationships/image" Target="../media/image7.jpg"/><Relationship Id="rId6" Type="http://schemas.openxmlformats.org/officeDocument/2006/relationships/image" Target="../media/image6.jpg"/><Relationship Id="rId7"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flipH="1">
            <a:off x="0" y="-2540"/>
            <a:ext cx="7560000" cy="10692000"/>
          </a:xfrm>
          <a:custGeom>
            <a:rect b="b" l="l" r="r" t="t"/>
            <a:pathLst>
              <a:path extrusionOk="0" h="10692000" w="7560000">
                <a:moveTo>
                  <a:pt x="7560000" y="0"/>
                </a:moveTo>
                <a:lnTo>
                  <a:pt x="0" y="0"/>
                </a:lnTo>
                <a:lnTo>
                  <a:pt x="0" y="10692000"/>
                </a:lnTo>
                <a:lnTo>
                  <a:pt x="7560000" y="10692000"/>
                </a:lnTo>
                <a:lnTo>
                  <a:pt x="7560000" y="0"/>
                </a:lnTo>
                <a:close/>
              </a:path>
            </a:pathLst>
          </a:custGeom>
          <a:blipFill rotWithShape="1">
            <a:blip r:embed="rId3">
              <a:alphaModFix/>
            </a:blip>
            <a:stretch>
              <a:fillRect b="-13600" l="-4168" r="-26984" t="-10043"/>
            </a:stretch>
          </a:blipFill>
          <a:ln>
            <a:noFill/>
          </a:ln>
        </p:spPr>
      </p:sp>
      <p:grpSp>
        <p:nvGrpSpPr>
          <p:cNvPr id="85" name="Google Shape;85;p1"/>
          <p:cNvGrpSpPr/>
          <p:nvPr/>
        </p:nvGrpSpPr>
        <p:grpSpPr>
          <a:xfrm rot="4912187">
            <a:off x="2083114" y="-4807009"/>
            <a:ext cx="1637209" cy="10332843"/>
            <a:chOff x="0" y="-38100"/>
            <a:chExt cx="488386" cy="3082330"/>
          </a:xfrm>
        </p:grpSpPr>
        <p:sp>
          <p:nvSpPr>
            <p:cNvPr id="86" name="Google Shape;86;p1"/>
            <p:cNvSpPr/>
            <p:nvPr/>
          </p:nvSpPr>
          <p:spPr>
            <a:xfrm>
              <a:off x="0" y="0"/>
              <a:ext cx="488386" cy="3044230"/>
            </a:xfrm>
            <a:custGeom>
              <a:rect b="b" l="l" r="r" t="t"/>
              <a:pathLst>
                <a:path extrusionOk="0" h="3044230" w="488386">
                  <a:moveTo>
                    <a:pt x="0" y="0"/>
                  </a:moveTo>
                  <a:lnTo>
                    <a:pt x="488386" y="0"/>
                  </a:lnTo>
                  <a:lnTo>
                    <a:pt x="488386" y="3044230"/>
                  </a:lnTo>
                  <a:lnTo>
                    <a:pt x="0" y="3044230"/>
                  </a:lnTo>
                  <a:close/>
                </a:path>
              </a:pathLst>
            </a:custGeom>
            <a:solidFill>
              <a:srgbClr val="B5C2CB">
                <a:alpha val="68235"/>
              </a:srgbClr>
            </a:solidFill>
            <a:ln>
              <a:noFill/>
            </a:ln>
          </p:spPr>
        </p:sp>
        <p:sp>
          <p:nvSpPr>
            <p:cNvPr id="87" name="Google Shape;87;p1"/>
            <p:cNvSpPr txBox="1"/>
            <p:nvPr/>
          </p:nvSpPr>
          <p:spPr>
            <a:xfrm>
              <a:off x="0" y="-38100"/>
              <a:ext cx="488386" cy="3082330"/>
            </a:xfrm>
            <a:prstGeom prst="rect">
              <a:avLst/>
            </a:prstGeom>
            <a:noFill/>
            <a:ln>
              <a:noFill/>
            </a:ln>
          </p:spPr>
          <p:txBody>
            <a:bodyPr anchorCtr="0" anchor="ctr" bIns="50800" lIns="50800" spcFirstLastPara="1" rIns="50800" wrap="square" tIns="50800">
              <a:noAutofit/>
            </a:bodyPr>
            <a:lstStyle/>
            <a:p>
              <a:pPr indent="0" lvl="0" marL="0" marR="0" rtl="0" algn="ctr">
                <a:lnSpc>
                  <a:spcPct val="10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
          <p:cNvGrpSpPr/>
          <p:nvPr/>
        </p:nvGrpSpPr>
        <p:grpSpPr>
          <a:xfrm rot="4846657">
            <a:off x="1916000" y="5435925"/>
            <a:ext cx="2788242" cy="10332843"/>
            <a:chOff x="0" y="-38100"/>
            <a:chExt cx="831744" cy="3082330"/>
          </a:xfrm>
        </p:grpSpPr>
        <p:sp>
          <p:nvSpPr>
            <p:cNvPr id="89" name="Google Shape;89;p1"/>
            <p:cNvSpPr/>
            <p:nvPr/>
          </p:nvSpPr>
          <p:spPr>
            <a:xfrm>
              <a:off x="0" y="0"/>
              <a:ext cx="831744" cy="3044230"/>
            </a:xfrm>
            <a:custGeom>
              <a:rect b="b" l="l" r="r" t="t"/>
              <a:pathLst>
                <a:path extrusionOk="0" h="3044230" w="831744">
                  <a:moveTo>
                    <a:pt x="0" y="0"/>
                  </a:moveTo>
                  <a:lnTo>
                    <a:pt x="831744" y="0"/>
                  </a:lnTo>
                  <a:lnTo>
                    <a:pt x="831744" y="3044230"/>
                  </a:lnTo>
                  <a:lnTo>
                    <a:pt x="0" y="3044230"/>
                  </a:lnTo>
                  <a:close/>
                </a:path>
              </a:pathLst>
            </a:custGeom>
            <a:solidFill>
              <a:srgbClr val="1A3248">
                <a:alpha val="68235"/>
              </a:srgbClr>
            </a:solidFill>
            <a:ln>
              <a:noFill/>
            </a:ln>
          </p:spPr>
        </p:sp>
        <p:sp>
          <p:nvSpPr>
            <p:cNvPr id="90" name="Google Shape;90;p1"/>
            <p:cNvSpPr txBox="1"/>
            <p:nvPr/>
          </p:nvSpPr>
          <p:spPr>
            <a:xfrm>
              <a:off x="0" y="-38100"/>
              <a:ext cx="831744" cy="3082330"/>
            </a:xfrm>
            <a:prstGeom prst="rect">
              <a:avLst/>
            </a:prstGeom>
            <a:noFill/>
            <a:ln>
              <a:noFill/>
            </a:ln>
          </p:spPr>
          <p:txBody>
            <a:bodyPr anchorCtr="0" anchor="ctr" bIns="50800" lIns="50800" spcFirstLastPara="1" rIns="50800" wrap="square" tIns="50800">
              <a:noAutofit/>
            </a:bodyPr>
            <a:lstStyle/>
            <a:p>
              <a:pPr indent="0" lvl="0" marL="0" marR="0" rtl="0" algn="ctr">
                <a:lnSpc>
                  <a:spcPct val="10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 name="Google Shape;91;p1"/>
          <p:cNvGrpSpPr/>
          <p:nvPr/>
        </p:nvGrpSpPr>
        <p:grpSpPr>
          <a:xfrm>
            <a:off x="0" y="9466297"/>
            <a:ext cx="7560000" cy="1225703"/>
            <a:chOff x="0" y="-38100"/>
            <a:chExt cx="2709333" cy="439264"/>
          </a:xfrm>
        </p:grpSpPr>
        <p:sp>
          <p:nvSpPr>
            <p:cNvPr id="92" name="Google Shape;92;p1"/>
            <p:cNvSpPr/>
            <p:nvPr/>
          </p:nvSpPr>
          <p:spPr>
            <a:xfrm>
              <a:off x="0" y="0"/>
              <a:ext cx="2709333" cy="401164"/>
            </a:xfrm>
            <a:custGeom>
              <a:rect b="b" l="l" r="r" t="t"/>
              <a:pathLst>
                <a:path extrusionOk="0" h="401164" w="2709333">
                  <a:moveTo>
                    <a:pt x="0" y="0"/>
                  </a:moveTo>
                  <a:lnTo>
                    <a:pt x="2709333" y="0"/>
                  </a:lnTo>
                  <a:lnTo>
                    <a:pt x="2709333" y="401164"/>
                  </a:lnTo>
                  <a:lnTo>
                    <a:pt x="0" y="401164"/>
                  </a:lnTo>
                  <a:close/>
                </a:path>
              </a:pathLst>
            </a:custGeom>
            <a:solidFill>
              <a:srgbClr val="1A3248"/>
            </a:solidFill>
            <a:ln>
              <a:noFill/>
            </a:ln>
          </p:spPr>
        </p:sp>
        <p:sp>
          <p:nvSpPr>
            <p:cNvPr id="93" name="Google Shape;93;p1"/>
            <p:cNvSpPr txBox="1"/>
            <p:nvPr/>
          </p:nvSpPr>
          <p:spPr>
            <a:xfrm>
              <a:off x="0" y="-38100"/>
              <a:ext cx="2709333" cy="439264"/>
            </a:xfrm>
            <a:prstGeom prst="rect">
              <a:avLst/>
            </a:prstGeom>
            <a:noFill/>
            <a:ln>
              <a:noFill/>
            </a:ln>
          </p:spPr>
          <p:txBody>
            <a:bodyPr anchorCtr="0" anchor="ctr" bIns="50800" lIns="50800" spcFirstLastPara="1" rIns="50800" wrap="square" tIns="50800">
              <a:noAutofit/>
            </a:bodyPr>
            <a:lstStyle/>
            <a:p>
              <a:pPr indent="0" lvl="0" marL="0" marR="0" rtl="0" algn="ctr">
                <a:lnSpc>
                  <a:spcPct val="10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94" name="Google Shape;94;p1"/>
          <p:cNvPicPr preferRelativeResize="0"/>
          <p:nvPr/>
        </p:nvPicPr>
        <p:blipFill rotWithShape="1">
          <a:blip r:embed="rId4">
            <a:alphaModFix/>
          </a:blip>
          <a:srcRect b="0" l="0" r="0" t="0"/>
          <a:stretch/>
        </p:blipFill>
        <p:spPr>
          <a:xfrm>
            <a:off x="2986884" y="717367"/>
            <a:ext cx="3090890" cy="769288"/>
          </a:xfrm>
          <a:prstGeom prst="rect">
            <a:avLst/>
          </a:prstGeom>
          <a:noFill/>
          <a:ln>
            <a:noFill/>
          </a:ln>
        </p:spPr>
      </p:pic>
      <p:sp>
        <p:nvSpPr>
          <p:cNvPr id="95" name="Google Shape;95;p1"/>
          <p:cNvSpPr txBox="1"/>
          <p:nvPr/>
        </p:nvSpPr>
        <p:spPr>
          <a:xfrm>
            <a:off x="1263650" y="2025622"/>
            <a:ext cx="629285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400" u="none" cap="none" strike="noStrike">
                <a:solidFill>
                  <a:schemeClr val="dk1"/>
                </a:solidFill>
                <a:latin typeface="Bodoni"/>
                <a:ea typeface="Bodoni"/>
                <a:cs typeface="Bodoni"/>
                <a:sym typeface="Bodoni"/>
              </a:rPr>
              <a:t>Electric Four Wheeler Design Challenge </a:t>
            </a:r>
            <a:endParaRPr/>
          </a:p>
          <a:p>
            <a:pPr indent="0" lvl="0" marL="0" marR="0" rtl="0" algn="ctr">
              <a:spcBef>
                <a:spcPts val="0"/>
              </a:spcBef>
              <a:spcAft>
                <a:spcPts val="0"/>
              </a:spcAft>
              <a:buNone/>
            </a:pPr>
            <a:r>
              <a:rPr b="1" i="0" lang="en-IN" sz="2400" u="none" cap="none" strike="noStrike">
                <a:solidFill>
                  <a:schemeClr val="dk1"/>
                </a:solidFill>
                <a:latin typeface="Bodoni"/>
                <a:ea typeface="Bodoni"/>
                <a:cs typeface="Bodoni"/>
                <a:sym typeface="Bodoni"/>
              </a:rPr>
              <a:t>(EFWDC) - 2025</a:t>
            </a:r>
            <a:endParaRPr/>
          </a:p>
        </p:txBody>
      </p:sp>
      <p:sp>
        <p:nvSpPr>
          <p:cNvPr id="96" name="Google Shape;96;p1"/>
          <p:cNvSpPr txBox="1"/>
          <p:nvPr/>
        </p:nvSpPr>
        <p:spPr>
          <a:xfrm>
            <a:off x="1455546" y="3134493"/>
            <a:ext cx="61536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IN" sz="1800" u="none" cap="none" strike="noStrike">
                <a:solidFill>
                  <a:schemeClr val="dk1"/>
                </a:solidFill>
                <a:latin typeface="Book Antiqua"/>
                <a:ea typeface="Book Antiqua"/>
                <a:cs typeface="Book Antiqua"/>
                <a:sym typeface="Book Antiqua"/>
              </a:rPr>
              <a:t>REPORT</a:t>
            </a:r>
            <a:endParaRPr b="0" i="0" sz="1800" u="none" cap="none" strike="noStrike">
              <a:solidFill>
                <a:schemeClr val="dk1"/>
              </a:solidFill>
              <a:latin typeface="Book Antiqua"/>
              <a:ea typeface="Book Antiqua"/>
              <a:cs typeface="Book Antiqua"/>
              <a:sym typeface="Book Antiqua"/>
            </a:endParaRPr>
          </a:p>
        </p:txBody>
      </p:sp>
      <p:graphicFrame>
        <p:nvGraphicFramePr>
          <p:cNvPr id="97" name="Google Shape;97;p1"/>
          <p:cNvGraphicFramePr/>
          <p:nvPr/>
        </p:nvGraphicFramePr>
        <p:xfrm>
          <a:off x="1901449" y="4869436"/>
          <a:ext cx="3000000" cy="3000000"/>
        </p:xfrm>
        <a:graphic>
          <a:graphicData uri="http://schemas.openxmlformats.org/drawingml/2006/table">
            <a:tbl>
              <a:tblPr>
                <a:noFill/>
                <a:tableStyleId>{B1A411FB-B787-4B0C-873D-8BDE20D64C28}</a:tableStyleId>
              </a:tblPr>
              <a:tblGrid>
                <a:gridCol w="1579725"/>
                <a:gridCol w="228600"/>
                <a:gridCol w="3581400"/>
              </a:tblGrid>
              <a:tr h="510825">
                <a:tc>
                  <a:txBody>
                    <a:bodyPr/>
                    <a:lstStyle/>
                    <a:p>
                      <a:pPr indent="0" lvl="0" marL="0" marR="0" rtl="0" algn="l">
                        <a:spcBef>
                          <a:spcPts val="0"/>
                        </a:spcBef>
                        <a:spcAft>
                          <a:spcPts val="0"/>
                        </a:spcAft>
                        <a:buNone/>
                      </a:pPr>
                      <a:r>
                        <a:rPr lang="en-IN" sz="1800" u="none" cap="none" strike="noStrike"/>
                        <a:t>Team Name</a:t>
                      </a:r>
                      <a:endParaRPr/>
                    </a:p>
                  </a:txBody>
                  <a:tcPr marT="45725" marB="45725" marR="91450" marL="91450"/>
                </a:tc>
                <a:tc>
                  <a:txBody>
                    <a:bodyPr/>
                    <a:lstStyle/>
                    <a:p>
                      <a:pPr indent="0" lvl="0" marL="0" marR="0" rtl="0" algn="l">
                        <a:spcBef>
                          <a:spcPts val="0"/>
                        </a:spcBef>
                        <a:spcAft>
                          <a:spcPts val="0"/>
                        </a:spcAft>
                        <a:buNone/>
                      </a:pPr>
                      <a:r>
                        <a:rPr b="1" lang="en-IN" sz="2800"/>
                        <a:t>:</a:t>
                      </a:r>
                      <a:endParaRPr/>
                    </a:p>
                  </a:txBody>
                  <a:tcPr marT="45725" marB="45725" marR="91450" marL="91450"/>
                </a:tc>
                <a:tc>
                  <a:txBody>
                    <a:bodyPr/>
                    <a:lstStyle/>
                    <a:p>
                      <a:pPr indent="0" lvl="0" marL="0" marR="0" rtl="0" algn="l">
                        <a:spcBef>
                          <a:spcPts val="0"/>
                        </a:spcBef>
                        <a:spcAft>
                          <a:spcPts val="0"/>
                        </a:spcAft>
                        <a:buNone/>
                      </a:pPr>
                      <a:r>
                        <a:rPr lang="en-IN" sz="1800"/>
                        <a:t>DENJI </a:t>
                      </a:r>
                      <a:r>
                        <a:rPr lang="en-IN" sz="1800"/>
                        <a:t>SQUAD</a:t>
                      </a:r>
                      <a:endParaRPr/>
                    </a:p>
                  </a:txBody>
                  <a:tcPr marT="45725" marB="45725" marR="91450" marL="91450"/>
                </a:tc>
              </a:tr>
              <a:tr h="510825">
                <a:tc>
                  <a:txBody>
                    <a:bodyPr/>
                    <a:lstStyle/>
                    <a:p>
                      <a:pPr indent="0" lvl="0" marL="0" marR="0" rtl="0" algn="l">
                        <a:spcBef>
                          <a:spcPts val="0"/>
                        </a:spcBef>
                        <a:spcAft>
                          <a:spcPts val="0"/>
                        </a:spcAft>
                        <a:buNone/>
                      </a:pPr>
                      <a:r>
                        <a:rPr lang="en-IN" sz="1800"/>
                        <a:t>Team ID</a:t>
                      </a:r>
                      <a:endParaRPr/>
                    </a:p>
                  </a:txBody>
                  <a:tcPr marT="45725" marB="45725" marR="91450" marL="91450"/>
                </a:tc>
                <a:tc>
                  <a:txBody>
                    <a:bodyPr/>
                    <a:lstStyle/>
                    <a:p>
                      <a:pPr indent="0" lvl="0" marL="0" marR="0" rtl="0" algn="l">
                        <a:spcBef>
                          <a:spcPts val="0"/>
                        </a:spcBef>
                        <a:spcAft>
                          <a:spcPts val="0"/>
                        </a:spcAft>
                        <a:buNone/>
                      </a:pPr>
                      <a:r>
                        <a:rPr b="1" lang="en-IN" sz="2800"/>
                        <a:t>:</a:t>
                      </a:r>
                      <a:endParaRPr/>
                    </a:p>
                  </a:txBody>
                  <a:tcPr marT="45725" marB="45725" marR="91450" marL="91450"/>
                </a:tc>
                <a:tc>
                  <a:txBody>
                    <a:bodyPr/>
                    <a:lstStyle/>
                    <a:p>
                      <a:pPr indent="0" lvl="0" marL="0" marR="0" rtl="0" algn="l">
                        <a:spcBef>
                          <a:spcPts val="0"/>
                        </a:spcBef>
                        <a:spcAft>
                          <a:spcPts val="0"/>
                        </a:spcAft>
                        <a:buNone/>
                      </a:pPr>
                      <a:r>
                        <a:rPr lang="en-IN" sz="1800"/>
                        <a:t>EFWDC2025001</a:t>
                      </a:r>
                      <a:endParaRPr/>
                    </a:p>
                  </a:txBody>
                  <a:tcPr marT="45725" marB="45725" marR="91450" marL="91450"/>
                </a:tc>
              </a:tr>
              <a:tr h="510825">
                <a:tc>
                  <a:txBody>
                    <a:bodyPr/>
                    <a:lstStyle/>
                    <a:p>
                      <a:pPr indent="0" lvl="0" marL="0" marR="0" rtl="0" algn="l">
                        <a:spcBef>
                          <a:spcPts val="0"/>
                        </a:spcBef>
                        <a:spcAft>
                          <a:spcPts val="0"/>
                        </a:spcAft>
                        <a:buNone/>
                      </a:pPr>
                      <a:r>
                        <a:rPr lang="en-IN" sz="1800"/>
                        <a:t>Institute Name</a:t>
                      </a:r>
                      <a:endParaRPr/>
                    </a:p>
                  </a:txBody>
                  <a:tcPr marT="45725" marB="45725" marR="91450" marL="91450"/>
                </a:tc>
                <a:tc>
                  <a:txBody>
                    <a:bodyPr/>
                    <a:lstStyle/>
                    <a:p>
                      <a:pPr indent="0" lvl="0" marL="0" marR="0" rtl="0" algn="l">
                        <a:spcBef>
                          <a:spcPts val="0"/>
                        </a:spcBef>
                        <a:spcAft>
                          <a:spcPts val="0"/>
                        </a:spcAft>
                        <a:buNone/>
                      </a:pPr>
                      <a:r>
                        <a:rPr b="1" lang="en-IN" sz="2800"/>
                        <a:t>:</a:t>
                      </a:r>
                      <a:endParaRPr/>
                    </a:p>
                  </a:txBody>
                  <a:tcPr marT="45725" marB="45725" marR="91450" marL="91450"/>
                </a:tc>
                <a:tc>
                  <a:txBody>
                    <a:bodyPr/>
                    <a:lstStyle/>
                    <a:p>
                      <a:pPr indent="0" lvl="0" marL="0" marR="0" rtl="0" algn="l">
                        <a:spcBef>
                          <a:spcPts val="0"/>
                        </a:spcBef>
                        <a:spcAft>
                          <a:spcPts val="0"/>
                        </a:spcAft>
                        <a:buNone/>
                      </a:pPr>
                      <a:r>
                        <a:rPr lang="en-IN" sz="1800"/>
                        <a:t>Knowledge Institute Of Technology,</a:t>
                      </a:r>
                      <a:endParaRPr/>
                    </a:p>
                    <a:p>
                      <a:pPr indent="0" lvl="0" marL="0" marR="0" rtl="0" algn="l">
                        <a:spcBef>
                          <a:spcPts val="0"/>
                        </a:spcBef>
                        <a:spcAft>
                          <a:spcPts val="0"/>
                        </a:spcAft>
                        <a:buNone/>
                      </a:pPr>
                      <a:r>
                        <a:rPr lang="en-IN" sz="1800"/>
                        <a:t>Salem, Tamil Nadu, 637504.</a:t>
                      </a:r>
                      <a:endParaRPr/>
                    </a:p>
                  </a:txBody>
                  <a:tcPr marT="45725" marB="45725" marR="91450" marL="91450"/>
                </a:tc>
              </a:tr>
              <a:tr h="510825">
                <a:tc>
                  <a:txBody>
                    <a:bodyPr/>
                    <a:lstStyle/>
                    <a:p>
                      <a:pPr indent="0" lvl="0" marL="0" marR="0" rtl="0" algn="l">
                        <a:spcBef>
                          <a:spcPts val="0"/>
                        </a:spcBef>
                        <a:spcAft>
                          <a:spcPts val="0"/>
                        </a:spcAft>
                        <a:buNone/>
                      </a:pPr>
                      <a:r>
                        <a:rPr lang="en-IN" sz="1800"/>
                        <a:t>Team Captain</a:t>
                      </a:r>
                      <a:endParaRPr/>
                    </a:p>
                  </a:txBody>
                  <a:tcPr marT="45725" marB="45725" marR="91450" marL="91450"/>
                </a:tc>
                <a:tc>
                  <a:txBody>
                    <a:bodyPr/>
                    <a:lstStyle/>
                    <a:p>
                      <a:pPr indent="0" lvl="0" marL="0" marR="0" rtl="0" algn="l">
                        <a:spcBef>
                          <a:spcPts val="0"/>
                        </a:spcBef>
                        <a:spcAft>
                          <a:spcPts val="0"/>
                        </a:spcAft>
                        <a:buNone/>
                      </a:pPr>
                      <a:r>
                        <a:rPr b="1" lang="en-IN" sz="2800"/>
                        <a:t>:</a:t>
                      </a:r>
                      <a:endParaRPr/>
                    </a:p>
                  </a:txBody>
                  <a:tcPr marT="45725" marB="45725" marR="91450" marL="91450"/>
                </a:tc>
                <a:tc>
                  <a:txBody>
                    <a:bodyPr/>
                    <a:lstStyle/>
                    <a:p>
                      <a:pPr indent="0" lvl="0" marL="0" marR="0" rtl="0" algn="l">
                        <a:spcBef>
                          <a:spcPts val="0"/>
                        </a:spcBef>
                        <a:spcAft>
                          <a:spcPts val="0"/>
                        </a:spcAft>
                        <a:buNone/>
                      </a:pPr>
                      <a:r>
                        <a:rPr lang="en-IN" sz="1800"/>
                        <a:t>PrithivRaj V,</a:t>
                      </a:r>
                      <a:endParaRPr/>
                    </a:p>
                    <a:p>
                      <a:pPr indent="0" lvl="0" marL="0" marR="0" rtl="0" algn="l">
                        <a:spcBef>
                          <a:spcPts val="0"/>
                        </a:spcBef>
                        <a:spcAft>
                          <a:spcPts val="0"/>
                        </a:spcAft>
                        <a:buNone/>
                      </a:pPr>
                      <a:r>
                        <a:rPr lang="en-IN" sz="1800"/>
                        <a:t>IV- Year -B. E. Mechanical Engg.</a:t>
                      </a:r>
                      <a:endParaRPr/>
                    </a:p>
                  </a:txBody>
                  <a:tcPr marT="45725" marB="45725" marR="91450" marL="91450"/>
                </a:tc>
              </a:tr>
              <a:tr h="510825">
                <a:tc>
                  <a:txBody>
                    <a:bodyPr/>
                    <a:lstStyle/>
                    <a:p>
                      <a:pPr indent="0" lvl="0" marL="0" marR="0" rtl="0" algn="l">
                        <a:spcBef>
                          <a:spcPts val="0"/>
                        </a:spcBef>
                        <a:spcAft>
                          <a:spcPts val="0"/>
                        </a:spcAft>
                        <a:buNone/>
                      </a:pPr>
                      <a:r>
                        <a:rPr lang="en-IN" sz="1800"/>
                        <a:t>Faculty advisor</a:t>
                      </a:r>
                      <a:endParaRPr/>
                    </a:p>
                  </a:txBody>
                  <a:tcPr marT="45725" marB="45725" marR="91450" marL="91450"/>
                </a:tc>
                <a:tc>
                  <a:txBody>
                    <a:bodyPr/>
                    <a:lstStyle/>
                    <a:p>
                      <a:pPr indent="0" lvl="0" marL="0" marR="0" rtl="0" algn="l">
                        <a:spcBef>
                          <a:spcPts val="0"/>
                        </a:spcBef>
                        <a:spcAft>
                          <a:spcPts val="0"/>
                        </a:spcAft>
                        <a:buNone/>
                      </a:pPr>
                      <a:r>
                        <a:rPr b="1" lang="en-IN" sz="2800"/>
                        <a:t>:</a:t>
                      </a:r>
                      <a:endParaRPr/>
                    </a:p>
                  </a:txBody>
                  <a:tcPr marT="45725" marB="45725" marR="91450" marL="91450"/>
                </a:tc>
                <a:tc>
                  <a:txBody>
                    <a:bodyPr/>
                    <a:lstStyle/>
                    <a:p>
                      <a:pPr indent="0" lvl="0" marL="0" marR="0" rtl="0" algn="l">
                        <a:spcBef>
                          <a:spcPts val="0"/>
                        </a:spcBef>
                        <a:spcAft>
                          <a:spcPts val="0"/>
                        </a:spcAft>
                        <a:buNone/>
                      </a:pPr>
                      <a:r>
                        <a:rPr lang="en-IN" sz="1800"/>
                        <a:t>Dr. K Visagavel</a:t>
                      </a:r>
                      <a:endParaRPr sz="1800"/>
                    </a:p>
                    <a:p>
                      <a:pPr indent="0" lvl="0" marL="0" marR="0" rtl="0" algn="l">
                        <a:spcBef>
                          <a:spcPts val="0"/>
                        </a:spcBef>
                        <a:spcAft>
                          <a:spcPts val="0"/>
                        </a:spcAft>
                        <a:buNone/>
                      </a:pPr>
                      <a:r>
                        <a:rPr lang="en-IN" sz="1800"/>
                        <a:t>Principal.</a:t>
                      </a:r>
                      <a:endParaRPr/>
                    </a:p>
                  </a:txBody>
                  <a:tcPr marT="45725" marB="45725" marR="91450" marL="91450"/>
                </a:tc>
              </a:tr>
            </a:tbl>
          </a:graphicData>
        </a:graphic>
      </p:graphicFrame>
      <p:pic>
        <p:nvPicPr>
          <p:cNvPr id="98" name="Google Shape;98;p1"/>
          <p:cNvPicPr preferRelativeResize="0"/>
          <p:nvPr/>
        </p:nvPicPr>
        <p:blipFill rotWithShape="1">
          <a:blip r:embed="rId5">
            <a:alphaModFix/>
          </a:blip>
          <a:srcRect b="0" l="0" r="0" t="0"/>
          <a:stretch/>
        </p:blipFill>
        <p:spPr>
          <a:xfrm>
            <a:off x="6121815" y="3219516"/>
            <a:ext cx="1169352" cy="1169352"/>
          </a:xfrm>
          <a:prstGeom prst="rect">
            <a:avLst/>
          </a:prstGeom>
          <a:noFill/>
          <a:ln>
            <a:noFill/>
          </a:ln>
        </p:spPr>
      </p:pic>
      <p:pic>
        <p:nvPicPr>
          <p:cNvPr id="99" name="Google Shape;99;p1"/>
          <p:cNvPicPr preferRelativeResize="0"/>
          <p:nvPr/>
        </p:nvPicPr>
        <p:blipFill rotWithShape="1">
          <a:blip r:embed="rId6">
            <a:alphaModFix/>
          </a:blip>
          <a:srcRect b="0" l="0" r="0" t="0"/>
          <a:stretch/>
        </p:blipFill>
        <p:spPr>
          <a:xfrm>
            <a:off x="1399435" y="3273599"/>
            <a:ext cx="1449534" cy="1061185"/>
          </a:xfrm>
          <a:prstGeom prst="rect">
            <a:avLst/>
          </a:prstGeom>
          <a:noFill/>
          <a:ln>
            <a:noFill/>
          </a:ln>
        </p:spPr>
      </p:pic>
      <p:sp>
        <p:nvSpPr>
          <p:cNvPr id="100" name="Google Shape;100;p1"/>
          <p:cNvSpPr txBox="1"/>
          <p:nvPr/>
        </p:nvSpPr>
        <p:spPr>
          <a:xfrm>
            <a:off x="1399423" y="9669942"/>
            <a:ext cx="55164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3200" u="none" cap="none" strike="noStrike">
                <a:solidFill>
                  <a:srgbClr val="B6DDE7"/>
                </a:solidFill>
                <a:latin typeface="Architects Daughter"/>
                <a:ea typeface="Architects Daughter"/>
                <a:cs typeface="Architects Daughter"/>
                <a:sym typeface="Architects Daughter"/>
              </a:rPr>
              <a:t>Clean Power, powerfully Future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7d3340413c_0_0"/>
          <p:cNvSpPr/>
          <p:nvPr/>
        </p:nvSpPr>
        <p:spPr>
          <a:xfrm>
            <a:off x="273050" y="24131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6" name="Google Shape;106;g37d3340413c_0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07" name="Google Shape;107;g37d3340413c_0_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08" name="Google Shape;108;g37d3340413c_0_0"/>
          <p:cNvSpPr txBox="1"/>
          <p:nvPr/>
        </p:nvSpPr>
        <p:spPr>
          <a:xfrm>
            <a:off x="2411450" y="1378725"/>
            <a:ext cx="27336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u="sng">
                <a:solidFill>
                  <a:schemeClr val="dk1"/>
                </a:solidFill>
                <a:latin typeface="Times New Roman"/>
                <a:ea typeface="Times New Roman"/>
                <a:cs typeface="Times New Roman"/>
                <a:sym typeface="Times New Roman"/>
              </a:rPr>
              <a:t>Table of Contents</a:t>
            </a:r>
            <a:endParaRPr sz="2800" u="sng">
              <a:solidFill>
                <a:schemeClr val="dk1"/>
              </a:solidFill>
              <a:latin typeface="Times New Roman"/>
              <a:ea typeface="Times New Roman"/>
              <a:cs typeface="Times New Roman"/>
              <a:sym typeface="Times New Roman"/>
            </a:endParaRPr>
          </a:p>
        </p:txBody>
      </p:sp>
      <p:graphicFrame>
        <p:nvGraphicFramePr>
          <p:cNvPr id="109" name="Google Shape;109;g37d3340413c_0_0"/>
          <p:cNvGraphicFramePr/>
          <p:nvPr/>
        </p:nvGraphicFramePr>
        <p:xfrm>
          <a:off x="792163" y="2211575"/>
          <a:ext cx="3000000" cy="3000000"/>
        </p:xfrm>
        <a:graphic>
          <a:graphicData uri="http://schemas.openxmlformats.org/drawingml/2006/table">
            <a:tbl>
              <a:tblPr>
                <a:noFill/>
                <a:tableStyleId>{B1A411FB-B787-4B0C-873D-8BDE20D64C28}</a:tableStyleId>
              </a:tblPr>
              <a:tblGrid>
                <a:gridCol w="1640100"/>
                <a:gridCol w="2638450"/>
                <a:gridCol w="1693600"/>
              </a:tblGrid>
              <a:tr h="405050">
                <a:tc>
                  <a:txBody>
                    <a:bodyPr/>
                    <a:lstStyle/>
                    <a:p>
                      <a:pPr indent="0" lvl="0" marL="0" rtl="0" algn="ctr">
                        <a:lnSpc>
                          <a:spcPct val="115000"/>
                        </a:lnSpc>
                        <a:spcBef>
                          <a:spcPts val="1200"/>
                        </a:spcBef>
                        <a:spcAft>
                          <a:spcPts val="0"/>
                        </a:spcAft>
                        <a:buNone/>
                      </a:pPr>
                      <a:r>
                        <a:rPr b="1" lang="en-IN">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IN">
                          <a:latin typeface="Times New Roman"/>
                          <a:ea typeface="Times New Roman"/>
                          <a:cs typeface="Times New Roman"/>
                          <a:sym typeface="Times New Roman"/>
                        </a:rPr>
                        <a:t>Description</a:t>
                      </a:r>
                      <a:endParaRPr b="1">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IN">
                          <a:latin typeface="Times New Roman"/>
                          <a:ea typeface="Times New Roman"/>
                          <a:cs typeface="Times New Roman"/>
                          <a:sym typeface="Times New Roman"/>
                        </a:rPr>
                        <a:t>Page.no</a:t>
                      </a:r>
                      <a:endParaRPr b="1">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50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Introduction &amp; Project Overview</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4</a:t>
                      </a: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2</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Problem Statement &amp; Objectives</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6</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3</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Design Concept &amp; Vehicle Class</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8</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4</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Chassis Design &amp; Material Selection</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11</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50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5</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Suspension System</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14</a:t>
                      </a: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6</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Steering System (Rack &amp; Pinion) Design &amp; Parameters</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17</a:t>
                      </a: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50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7</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Braking System</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20</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50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8</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Powertrain &amp; Drivetrain Layout</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23</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9</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Battery Pack &amp; Energy Storage System</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26</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7d3340413c_0_40"/>
          <p:cNvSpPr/>
          <p:nvPr/>
        </p:nvSpPr>
        <p:spPr>
          <a:xfrm>
            <a:off x="273050" y="24131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5" name="Google Shape;115;g37d3340413c_0_4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16" name="Google Shape;116;g37d3340413c_0_4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17" name="Google Shape;117;g37d3340413c_0_40"/>
          <p:cNvSpPr txBox="1"/>
          <p:nvPr/>
        </p:nvSpPr>
        <p:spPr>
          <a:xfrm>
            <a:off x="2411450" y="1378725"/>
            <a:ext cx="27336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u="sng">
                <a:solidFill>
                  <a:schemeClr val="dk1"/>
                </a:solidFill>
                <a:latin typeface="Times New Roman"/>
                <a:ea typeface="Times New Roman"/>
                <a:cs typeface="Times New Roman"/>
                <a:sym typeface="Times New Roman"/>
              </a:rPr>
              <a:t>Table of Contents</a:t>
            </a:r>
            <a:endParaRPr sz="2800" u="sng">
              <a:solidFill>
                <a:schemeClr val="dk1"/>
              </a:solidFill>
              <a:latin typeface="Times New Roman"/>
              <a:ea typeface="Times New Roman"/>
              <a:cs typeface="Times New Roman"/>
              <a:sym typeface="Times New Roman"/>
            </a:endParaRPr>
          </a:p>
        </p:txBody>
      </p:sp>
      <p:graphicFrame>
        <p:nvGraphicFramePr>
          <p:cNvPr id="118" name="Google Shape;118;g37d3340413c_0_40"/>
          <p:cNvGraphicFramePr/>
          <p:nvPr/>
        </p:nvGraphicFramePr>
        <p:xfrm>
          <a:off x="792163" y="2211575"/>
          <a:ext cx="3000000" cy="3000000"/>
        </p:xfrm>
        <a:graphic>
          <a:graphicData uri="http://schemas.openxmlformats.org/drawingml/2006/table">
            <a:tbl>
              <a:tblPr>
                <a:noFill/>
                <a:tableStyleId>{B1A411FB-B787-4B0C-873D-8BDE20D64C28}</a:tableStyleId>
              </a:tblPr>
              <a:tblGrid>
                <a:gridCol w="1640100"/>
                <a:gridCol w="2638450"/>
                <a:gridCol w="1693600"/>
              </a:tblGrid>
              <a:tr h="405050">
                <a:tc>
                  <a:txBody>
                    <a:bodyPr/>
                    <a:lstStyle/>
                    <a:p>
                      <a:pPr indent="0" lvl="0" marL="0" rtl="0" algn="ctr">
                        <a:lnSpc>
                          <a:spcPct val="115000"/>
                        </a:lnSpc>
                        <a:spcBef>
                          <a:spcPts val="1200"/>
                        </a:spcBef>
                        <a:spcAft>
                          <a:spcPts val="0"/>
                        </a:spcAft>
                        <a:buNone/>
                      </a:pPr>
                      <a:r>
                        <a:rPr b="1" lang="en-IN">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IN">
                          <a:latin typeface="Times New Roman"/>
                          <a:ea typeface="Times New Roman"/>
                          <a:cs typeface="Times New Roman"/>
                          <a:sym typeface="Times New Roman"/>
                        </a:rPr>
                        <a:t>Description</a:t>
                      </a:r>
                      <a:endParaRPr b="1">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IN">
                          <a:latin typeface="Times New Roman"/>
                          <a:ea typeface="Times New Roman"/>
                          <a:cs typeface="Times New Roman"/>
                          <a:sym typeface="Times New Roman"/>
                        </a:rPr>
                        <a:t>Page.no</a:t>
                      </a:r>
                      <a:endParaRPr b="1">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10</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Motor Selection &amp; Performance Calculations</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32</a:t>
                      </a:r>
                      <a:r>
                        <a:rPr lang="en-IN">
                          <a:latin typeface="Times New Roman"/>
                          <a:ea typeface="Times New Roman"/>
                          <a:cs typeface="Times New Roman"/>
                          <a:sym typeface="Times New Roman"/>
                        </a:rPr>
                        <a:t> </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11</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Electrical &amp; Electronic Systems (BMS, Wiring, Controls)</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37</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12</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Safety Features &amp; Standards Compliance</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39</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50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13</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Cost Analysis &amp; Material Procurement</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41</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771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14</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Manufacturing Process &amp; Assembly Plan</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43</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5050">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15</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Testing, Validation &amp; Future Scope</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lang="en-IN">
                          <a:latin typeface="Times New Roman"/>
                          <a:ea typeface="Times New Roman"/>
                          <a:cs typeface="Times New Roman"/>
                          <a:sym typeface="Times New Roman"/>
                        </a:rPr>
                        <a:t> 45</a:t>
                      </a:r>
                      <a:endParaRPr>
                        <a:latin typeface="Times New Roman"/>
                        <a:ea typeface="Times New Roman"/>
                        <a:cs typeface="Times New Roman"/>
                        <a:sym typeface="Times New Roman"/>
                      </a:endParaRPr>
                    </a:p>
                  </a:txBody>
                  <a:tcPr marT="91425" marB="91425" marR="68575" marL="685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 name="Shape 122"/>
        <p:cNvGrpSpPr/>
        <p:nvPr/>
      </p:nvGrpSpPr>
      <p:grpSpPr>
        <a:xfrm>
          <a:off x="0" y="0"/>
          <a:ext cx="0" cy="0"/>
          <a:chOff x="0" y="0"/>
          <a:chExt cx="0" cy="0"/>
        </a:xfrm>
      </p:grpSpPr>
      <p:sp>
        <p:nvSpPr>
          <p:cNvPr id="123" name="Google Shape;123;p3"/>
          <p:cNvSpPr/>
          <p:nvPr/>
        </p:nvSpPr>
        <p:spPr>
          <a:xfrm>
            <a:off x="241300" y="24131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4" name="Google Shape;124;p3"/>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25" name="Google Shape;125;p3"/>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26" name="Google Shape;126;p3"/>
          <p:cNvSpPr txBox="1"/>
          <p:nvPr/>
        </p:nvSpPr>
        <p:spPr>
          <a:xfrm>
            <a:off x="593935" y="1028700"/>
            <a:ext cx="6305100" cy="8701800"/>
          </a:xfrm>
          <a:prstGeom prst="rect">
            <a:avLst/>
          </a:prstGeom>
          <a:noFill/>
          <a:ln>
            <a:noFill/>
          </a:ln>
        </p:spPr>
        <p:txBody>
          <a:bodyPr anchorCtr="0" anchor="t" bIns="45700" lIns="91425" spcFirstLastPara="1" rIns="91425" wrap="square" tIns="45700">
            <a:spAutoFit/>
          </a:bodyPr>
          <a:lstStyle/>
          <a:p>
            <a:pPr indent="0" lvl="0" marL="0" marR="0" rtl="0" algn="just">
              <a:spcBef>
                <a:spcPts val="1000"/>
              </a:spcBef>
              <a:spcAft>
                <a:spcPts val="0"/>
              </a:spcAft>
              <a:buNone/>
            </a:pPr>
            <a:r>
              <a:rPr b="1" lang="en-IN" sz="1800">
                <a:solidFill>
                  <a:schemeClr val="dk1"/>
                </a:solidFill>
                <a:latin typeface="Times New Roman"/>
                <a:ea typeface="Times New Roman"/>
                <a:cs typeface="Times New Roman"/>
                <a:sym typeface="Times New Roman"/>
              </a:rPr>
              <a:t>Chapter 1 – Introduction &amp; Project Overview</a:t>
            </a:r>
            <a:endParaRPr b="1" sz="18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1.1 Introduction</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lang="en-IN">
                <a:solidFill>
                  <a:schemeClr val="dk1"/>
                </a:solidFill>
                <a:latin typeface="Times New Roman"/>
                <a:ea typeface="Times New Roman"/>
                <a:cs typeface="Times New Roman"/>
                <a:sym typeface="Times New Roman"/>
              </a:rPr>
              <a:t>The global push toward sustainability and environmental preservation is reshaping the future of transportation. Traditional internal combustion engine (ICE) vehicles significantly contribute to air pollution, global warming, and the depletion of fossil fuels. In response, electric vehicles (EVs) have gained considerable attention as a cleaner alternative, offering the potential to reduce emissions and dependency on fossil fuels.</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However, the current market for electric four-wheelers is dominated by high-cost models, complex powertrain systems, and bulky designs that are often impractical for short-distance, urban, or campus use. These factors create barriers to widespread adoption, particularly in developing regions where affordability and simplicity are critical.</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This project addresses these challenges by focusing on the design and development of a lightweight, affordable, and efficient Electric Four-Wheeler (EFW) specifically engineered for short-distance commuting in low-speed environments such as university campuses, industrial zones, and urban neighborhoods.</a:t>
            </a:r>
            <a:endParaRPr>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1.2 Project Objectives</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a:solidFill>
                  <a:schemeClr val="dk1"/>
                </a:solidFill>
                <a:latin typeface="Times New Roman"/>
                <a:ea typeface="Times New Roman"/>
                <a:cs typeface="Times New Roman"/>
                <a:sym typeface="Times New Roman"/>
              </a:rPr>
              <a:t>The core objectives of the project are as follows:</a:t>
            </a:r>
            <a:endParaRPr b="1">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Sustainable Mobility: </a:t>
            </a:r>
            <a:r>
              <a:rPr lang="en-IN">
                <a:solidFill>
                  <a:schemeClr val="dk1"/>
                </a:solidFill>
                <a:latin typeface="Times New Roman"/>
                <a:ea typeface="Times New Roman"/>
                <a:cs typeface="Times New Roman"/>
                <a:sym typeface="Times New Roman"/>
              </a:rPr>
              <a:t>Design an eco-friendly electric vehicle that eliminates tailpipe emissions and reduces the environmental footprint of daily commuting.</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Cost-Effective Design: </a:t>
            </a:r>
            <a:r>
              <a:rPr lang="en-IN">
                <a:solidFill>
                  <a:schemeClr val="dk1"/>
                </a:solidFill>
                <a:latin typeface="Times New Roman"/>
                <a:ea typeface="Times New Roman"/>
                <a:cs typeface="Times New Roman"/>
                <a:sym typeface="Times New Roman"/>
              </a:rPr>
              <a:t>Utilize cost-efficient materials, a simple mechanical structure, and modular systems to keep manufacturing and maintenance affordable without compromising performance or safety.</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Energy Efficiency: </a:t>
            </a:r>
            <a:r>
              <a:rPr lang="en-IN">
                <a:solidFill>
                  <a:schemeClr val="dk1"/>
                </a:solidFill>
                <a:latin typeface="Times New Roman"/>
                <a:ea typeface="Times New Roman"/>
                <a:cs typeface="Times New Roman"/>
                <a:sym typeface="Times New Roman"/>
              </a:rPr>
              <a:t>Focus on maximizing battery range and regenerative braking, while optimizing motor and controller efficiency to enable extended operation on a single charge.</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Safety and Ergonomics: </a:t>
            </a:r>
            <a:r>
              <a:rPr lang="en-IN">
                <a:solidFill>
                  <a:schemeClr val="dk1"/>
                </a:solidFill>
                <a:latin typeface="Times New Roman"/>
                <a:ea typeface="Times New Roman"/>
                <a:cs typeface="Times New Roman"/>
                <a:sym typeface="Times New Roman"/>
              </a:rPr>
              <a:t>Ensure the vehicle design incorporates essential safety features and ergonomic principles to provide a comfortable and safe user experience.</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Simple Drive System: </a:t>
            </a:r>
            <a:r>
              <a:rPr lang="en-IN">
                <a:solidFill>
                  <a:schemeClr val="dk1"/>
                </a:solidFill>
                <a:latin typeface="Times New Roman"/>
                <a:ea typeface="Times New Roman"/>
                <a:cs typeface="Times New Roman"/>
                <a:sym typeface="Times New Roman"/>
              </a:rPr>
              <a:t>Implement a dual hub motor direct drive system that avoids complex transmission setups, enhancing reliability, reducing weight, and simplifying assembly and maintenance.</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Prototype Feasibility: </a:t>
            </a:r>
            <a:r>
              <a:rPr lang="en-IN">
                <a:solidFill>
                  <a:schemeClr val="dk1"/>
                </a:solidFill>
                <a:latin typeface="Times New Roman"/>
                <a:ea typeface="Times New Roman"/>
                <a:cs typeface="Times New Roman"/>
                <a:sym typeface="Times New Roman"/>
              </a:rPr>
              <a:t>Deliver a prototype supported by comprehensive CAD modeling, Finite Element Analysis (FEA) for structural validation, and a detailed Bill of Materials (E-BOM).</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0" name="Shape 130"/>
        <p:cNvGrpSpPr/>
        <p:nvPr/>
      </p:nvGrpSpPr>
      <p:grpSpPr>
        <a:xfrm>
          <a:off x="0" y="0"/>
          <a:ext cx="0" cy="0"/>
          <a:chOff x="0" y="0"/>
          <a:chExt cx="0" cy="0"/>
        </a:xfrm>
      </p:grpSpPr>
      <p:sp>
        <p:nvSpPr>
          <p:cNvPr id="131" name="Google Shape;131;g380e1ea200b_0_1"/>
          <p:cNvSpPr/>
          <p:nvPr/>
        </p:nvSpPr>
        <p:spPr>
          <a:xfrm>
            <a:off x="241300" y="24131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2" name="Google Shape;132;g380e1ea200b_0_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33" name="Google Shape;133;g380e1ea200b_0_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34" name="Google Shape;134;g380e1ea200b_0_1"/>
          <p:cNvSpPr txBox="1"/>
          <p:nvPr/>
        </p:nvSpPr>
        <p:spPr>
          <a:xfrm>
            <a:off x="593935" y="1028700"/>
            <a:ext cx="6305100" cy="8152800"/>
          </a:xfrm>
          <a:prstGeom prst="rect">
            <a:avLst/>
          </a:prstGeom>
          <a:noFill/>
          <a:ln>
            <a:noFill/>
          </a:ln>
        </p:spPr>
        <p:txBody>
          <a:bodyPr anchorCtr="0" anchor="t" bIns="45700" lIns="91425" spcFirstLastPara="1" rIns="91425" wrap="square" tIns="45700">
            <a:spAutoFit/>
          </a:bodyPr>
          <a:lstStyle/>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1.3 Simple Drive System</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lang="en-IN">
                <a:solidFill>
                  <a:schemeClr val="dk1"/>
                </a:solidFill>
                <a:latin typeface="Times New Roman"/>
                <a:ea typeface="Times New Roman"/>
                <a:cs typeface="Times New Roman"/>
                <a:sym typeface="Times New Roman"/>
              </a:rPr>
              <a:t>The drive system is intentionally designed for simplicity and efficiency. Instead of using complex transmission or differential systems, this project employs dual 2 kW BLDC hub motors directly mounted onto the rear wheels.</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IN">
                <a:solidFill>
                  <a:schemeClr val="dk1"/>
                </a:solidFill>
                <a:latin typeface="Times New Roman"/>
                <a:ea typeface="Times New Roman"/>
                <a:cs typeface="Times New Roman"/>
                <a:sym typeface="Times New Roman"/>
              </a:rPr>
              <a:t>Advantages of the Simple Drive System:</a:t>
            </a:r>
            <a:endParaRPr b="1">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Direct Drive: </a:t>
            </a:r>
            <a:r>
              <a:rPr lang="en-IN">
                <a:solidFill>
                  <a:schemeClr val="dk1"/>
                </a:solidFill>
                <a:latin typeface="Times New Roman"/>
                <a:ea typeface="Times New Roman"/>
                <a:cs typeface="Times New Roman"/>
                <a:sym typeface="Times New Roman"/>
              </a:rPr>
              <a:t>Reduces mechanical complexity, minimizes energy losses, and lowers maintenance needs.</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Reliability: </a:t>
            </a:r>
            <a:r>
              <a:rPr lang="en-IN">
                <a:solidFill>
                  <a:schemeClr val="dk1"/>
                </a:solidFill>
                <a:latin typeface="Times New Roman"/>
                <a:ea typeface="Times New Roman"/>
                <a:cs typeface="Times New Roman"/>
                <a:sym typeface="Times New Roman"/>
              </a:rPr>
              <a:t>Fewer moving parts reduce the chance of mechanical failure.</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Cost-Effectiveness: </a:t>
            </a:r>
            <a:r>
              <a:rPr lang="en-IN">
                <a:solidFill>
                  <a:schemeClr val="dk1"/>
                </a:solidFill>
                <a:latin typeface="Times New Roman"/>
                <a:ea typeface="Times New Roman"/>
                <a:cs typeface="Times New Roman"/>
                <a:sym typeface="Times New Roman"/>
              </a:rPr>
              <a:t>Eliminates expensive components like differential mechanism &amp; belt or chains drive.</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Compact Layout: </a:t>
            </a:r>
            <a:r>
              <a:rPr lang="en-IN">
                <a:solidFill>
                  <a:schemeClr val="dk1"/>
                </a:solidFill>
                <a:latin typeface="Times New Roman"/>
                <a:ea typeface="Times New Roman"/>
                <a:cs typeface="Times New Roman"/>
                <a:sym typeface="Times New Roman"/>
              </a:rPr>
              <a:t>Frees up space within the chassis </a:t>
            </a:r>
            <a:r>
              <a:rPr lang="en-IN">
                <a:solidFill>
                  <a:schemeClr val="dk1"/>
                </a:solidFill>
                <a:highlight>
                  <a:srgbClr val="FFFFFF"/>
                </a:highlight>
                <a:latin typeface="Times New Roman"/>
                <a:ea typeface="Times New Roman"/>
                <a:cs typeface="Times New Roman"/>
                <a:sym typeface="Times New Roman"/>
              </a:rPr>
              <a:t>for batteries and passengers,</a:t>
            </a:r>
            <a:r>
              <a:rPr lang="en-IN">
                <a:solidFill>
                  <a:schemeClr val="dk1"/>
                </a:solidFill>
                <a:latin typeface="Times New Roman"/>
                <a:ea typeface="Times New Roman"/>
                <a:cs typeface="Times New Roman"/>
                <a:sym typeface="Times New Roman"/>
              </a:rPr>
              <a:t> contributing to a lower center of gravity and improved stability.</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Regenerative Braking Support: </a:t>
            </a:r>
            <a:r>
              <a:rPr lang="en-IN">
                <a:solidFill>
                  <a:schemeClr val="dk1"/>
                </a:solidFill>
                <a:latin typeface="Times New Roman"/>
                <a:ea typeface="Times New Roman"/>
                <a:cs typeface="Times New Roman"/>
                <a:sym typeface="Times New Roman"/>
              </a:rPr>
              <a:t>Both motors support regenerative braking, improving overall energy efficiency by recovering energy during deceleration.</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IN">
                <a:solidFill>
                  <a:schemeClr val="dk1"/>
                </a:solidFill>
                <a:latin typeface="Times New Roman"/>
                <a:ea typeface="Times New Roman"/>
                <a:cs typeface="Times New Roman"/>
                <a:sym typeface="Times New Roman"/>
              </a:rPr>
              <a:t>This simple yet effective approach enables reliable operation at low speeds (maximum 35 km/h) with a range suitable for urban commuting (~50 km per charge).</a:t>
            </a:r>
            <a:endParaRPr b="1">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1.4 About the Team</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lang="en-IN">
                <a:solidFill>
                  <a:schemeClr val="dk1"/>
                </a:solidFill>
                <a:latin typeface="Times New Roman"/>
                <a:ea typeface="Times New Roman"/>
                <a:cs typeface="Times New Roman"/>
                <a:sym typeface="Times New Roman"/>
              </a:rPr>
              <a:t>The project is developed by a group of engineering students with expertise in mechanical design, electrical systems, and embedded controls. Each member contributed in specialized areas such as chassis design, suspension development, powertrain engineering, and cost estimation.</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Collaboration was central to the project’s success, combining theoretical knowledge and hands-on practice into a well-integrated, practical solution.</a:t>
            </a:r>
            <a:endParaRPr>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1.5 Conclusion</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lang="en-IN">
                <a:solidFill>
                  <a:schemeClr val="dk1"/>
                </a:solidFill>
                <a:latin typeface="Times New Roman"/>
                <a:ea typeface="Times New Roman"/>
                <a:cs typeface="Times New Roman"/>
                <a:sym typeface="Times New Roman"/>
              </a:rPr>
              <a:t>This chapter introduced the core purpose of the project: to design an affordable and efficient electric four-wheeler focused on urban and campus mobility.</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By adopting a simple dual hub motor drive system and carefully integrating energy storage, structural, and ergonomic components, the project addresses critical challenges in EV adoption, such as high cost and maintenance complexity.</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Subsequent chapters will elaborate on detailed engineering design, material selection, system integration, and validation.</a:t>
            </a:r>
            <a:endParaRPr>
              <a:solidFill>
                <a:schemeClr val="dk1"/>
              </a:solidFill>
              <a:latin typeface="Times New Roman"/>
              <a:ea typeface="Times New Roman"/>
              <a:cs typeface="Times New Roman"/>
              <a:sym typeface="Times New Roman"/>
            </a:endParaRPr>
          </a:p>
          <a:p>
            <a:pPr indent="0" lvl="0" marL="457200" marR="0" rtl="0" algn="just">
              <a:spcBef>
                <a:spcPts val="0"/>
              </a:spcBef>
              <a:spcAft>
                <a:spcPts val="0"/>
              </a:spcAft>
              <a:buNone/>
            </a:pPr>
            <a:r>
              <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8" name="Shape 138"/>
        <p:cNvGrpSpPr/>
        <p:nvPr/>
      </p:nvGrpSpPr>
      <p:grpSpPr>
        <a:xfrm>
          <a:off x="0" y="0"/>
          <a:ext cx="0" cy="0"/>
          <a:chOff x="0" y="0"/>
          <a:chExt cx="0" cy="0"/>
        </a:xfrm>
      </p:grpSpPr>
      <p:sp>
        <p:nvSpPr>
          <p:cNvPr id="139" name="Google Shape;139;g380e1ea200b_0_24"/>
          <p:cNvSpPr/>
          <p:nvPr/>
        </p:nvSpPr>
        <p:spPr>
          <a:xfrm>
            <a:off x="241300" y="24131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0" name="Google Shape;140;g380e1ea200b_0_24"/>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41" name="Google Shape;141;g380e1ea200b_0_24"/>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42" name="Google Shape;142;g380e1ea200b_0_24"/>
          <p:cNvSpPr txBox="1"/>
          <p:nvPr/>
        </p:nvSpPr>
        <p:spPr>
          <a:xfrm>
            <a:off x="593935" y="1028700"/>
            <a:ext cx="6305100" cy="9173700"/>
          </a:xfrm>
          <a:prstGeom prst="rect">
            <a:avLst/>
          </a:prstGeom>
          <a:noFill/>
          <a:ln>
            <a:noFill/>
          </a:ln>
        </p:spPr>
        <p:txBody>
          <a:bodyPr anchorCtr="0" anchor="t" bIns="45700" lIns="91425" spcFirstLastPara="1" rIns="91425" wrap="square" tIns="45700">
            <a:spAutoFit/>
          </a:bodyPr>
          <a:lstStyle/>
          <a:p>
            <a:pPr indent="0" lvl="0" marL="0" marR="0" rtl="0" algn="just">
              <a:spcBef>
                <a:spcPts val="1000"/>
              </a:spcBef>
              <a:spcAft>
                <a:spcPts val="0"/>
              </a:spcAft>
              <a:buNone/>
            </a:pPr>
            <a:r>
              <a:rPr b="1" lang="en-IN" sz="1800">
                <a:solidFill>
                  <a:schemeClr val="dk1"/>
                </a:solidFill>
                <a:latin typeface="Times New Roman"/>
                <a:ea typeface="Times New Roman"/>
                <a:cs typeface="Times New Roman"/>
                <a:sym typeface="Times New Roman"/>
              </a:rPr>
              <a:t>Chapter 2 – Problem Statement &amp; Objectives</a:t>
            </a:r>
            <a:endParaRPr b="1" sz="18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2.1 Problem Statement</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lang="en-IN">
                <a:solidFill>
                  <a:schemeClr val="dk1"/>
                </a:solidFill>
                <a:latin typeface="Times New Roman"/>
                <a:ea typeface="Times New Roman"/>
                <a:cs typeface="Times New Roman"/>
                <a:sym typeface="Times New Roman"/>
              </a:rPr>
              <a:t>The transportation sector is one of the largest contributors to environmental pollution, primarily due to fossil fuel-powered vehicles. Although electric vehicles (EVs) are emerging as a sustainable alternative, most available models target long-distance travel, making them expensive and complex for everyday short trips or campus mobility.</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Many existing electric four-wheelers are heavy, expensive, and poorly optimized for urban environments where space, affordability, and ease of use are critical.</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IN">
                <a:solidFill>
                  <a:schemeClr val="dk1"/>
                </a:solidFill>
                <a:latin typeface="Times New Roman"/>
                <a:ea typeface="Times New Roman"/>
                <a:cs typeface="Times New Roman"/>
                <a:sym typeface="Times New Roman"/>
              </a:rPr>
              <a:t>Key challenges in the current electric vehicle market include:</a:t>
            </a:r>
            <a:endParaRPr b="1">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High production cost due to expensive battery systems and motors.</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Bulky designs unsuitable for narrow roads or campus environments.</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Lack of focus on rider ergonomics and practical usability.</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Limited efficiency in powertrain and energy management, reducing vehicle range.</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Poor manufacturability at a small scale, making them inaccessible for small manufacturers.</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a:solidFill>
                  <a:schemeClr val="dk1"/>
                </a:solidFill>
                <a:latin typeface="Times New Roman"/>
                <a:ea typeface="Times New Roman"/>
                <a:cs typeface="Times New Roman"/>
                <a:sym typeface="Times New Roman"/>
              </a:rPr>
              <a:t>The design challenge, therefore, is to develop an affordable, lightweight, and energy-efficient electric four-wheeler focused on short-distance commuting. The vehicle must meet safety standards, perform reliably, and be easy to manufacture and maintain, without relying on costly or complex components.</a:t>
            </a:r>
            <a:endParaRPr>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sz="1600">
                <a:solidFill>
                  <a:schemeClr val="dk1"/>
                </a:solidFill>
                <a:latin typeface="Times New Roman"/>
                <a:ea typeface="Times New Roman"/>
                <a:cs typeface="Times New Roman"/>
                <a:sym typeface="Times New Roman"/>
              </a:rPr>
              <a:t>2.2 Project Objectives</a:t>
            </a:r>
            <a:endParaRPr b="1"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None/>
            </a:pPr>
            <a:r>
              <a:rPr b="1" lang="en-IN">
                <a:solidFill>
                  <a:schemeClr val="dk1"/>
                </a:solidFill>
                <a:latin typeface="Times New Roman"/>
                <a:ea typeface="Times New Roman"/>
                <a:cs typeface="Times New Roman"/>
                <a:sym typeface="Times New Roman"/>
              </a:rPr>
              <a:t>The core objective of this project is to design and prototype an efficient electric four-wheeler targeted at urban, indoor and campus mobility. To address the identified problem, the project aims to achieve the following specific objectives:</a:t>
            </a:r>
            <a:endParaRPr b="1">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0"/>
              </a:spcAft>
              <a:buNone/>
            </a:pPr>
            <a:r>
              <a:rPr b="1" lang="en-IN">
                <a:solidFill>
                  <a:schemeClr val="dk1"/>
                </a:solidFill>
                <a:latin typeface="Times New Roman"/>
                <a:ea typeface="Times New Roman"/>
                <a:cs typeface="Times New Roman"/>
                <a:sym typeface="Times New Roman"/>
              </a:rPr>
              <a:t>1. Design Optimization for Cost and Efficiency</a:t>
            </a:r>
            <a:endParaRPr b="1">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Developed a compact vehicle structure using lightweight yet strong materials.</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Optimized the layout of major components (battery pack, motors, chassis) to maximize energy efficiency and space utilization.</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Selected dual BLDC hub motors to balance power output and efficiency.</a:t>
            </a:r>
            <a:endParaRPr>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0"/>
              </a:spcAft>
              <a:buNone/>
            </a:pPr>
            <a:r>
              <a:rPr b="1" lang="en-IN">
                <a:solidFill>
                  <a:schemeClr val="dk1"/>
                </a:solidFill>
                <a:latin typeface="Times New Roman"/>
                <a:ea typeface="Times New Roman"/>
                <a:cs typeface="Times New Roman"/>
                <a:sym typeface="Times New Roman"/>
              </a:rPr>
              <a:t>2. Structural Integrity and Safety</a:t>
            </a:r>
            <a:endParaRPr b="1">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Perform CAE-based structural simulations to validate chassis strength, suspension performance, and critical load-bearing regions</a:t>
            </a:r>
            <a:r>
              <a:rPr lang="en-IN" sz="1100">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Design braking, steering, and suspension systems to meet safety and</a:t>
            </a:r>
            <a:r>
              <a:rPr b="1" lang="en-IN">
                <a:solidFill>
                  <a:schemeClr val="dk1"/>
                </a:solidFill>
                <a:latin typeface="Times New Roman"/>
                <a:ea typeface="Times New Roman"/>
                <a:cs typeface="Times New Roman"/>
                <a:sym typeface="Times New Roman"/>
              </a:rPr>
              <a:t> </a:t>
            </a:r>
            <a:r>
              <a:rPr lang="en-IN">
                <a:solidFill>
                  <a:schemeClr val="dk1"/>
                </a:solidFill>
                <a:latin typeface="Times New Roman"/>
                <a:ea typeface="Times New Roman"/>
                <a:cs typeface="Times New Roman"/>
                <a:sym typeface="Times New Roman"/>
              </a:rPr>
              <a:t>regulatory requirements.</a:t>
            </a:r>
            <a:endParaRPr sz="1700">
              <a:solidFill>
                <a:schemeClr val="dk1"/>
              </a:solidFill>
              <a:latin typeface="Times New Roman"/>
              <a:ea typeface="Times New Roman"/>
              <a:cs typeface="Times New Roman"/>
              <a:sym typeface="Times New Roman"/>
            </a:endParaRPr>
          </a:p>
          <a:p>
            <a:pPr indent="-317500" lvl="0" marL="457200" marR="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Incorporate ergonomic seating and safe vehicle geometry to enhance driver comfort and operational safety.</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6" name="Shape 146"/>
        <p:cNvGrpSpPr/>
        <p:nvPr/>
      </p:nvGrpSpPr>
      <p:grpSpPr>
        <a:xfrm>
          <a:off x="0" y="0"/>
          <a:ext cx="0" cy="0"/>
          <a:chOff x="0" y="0"/>
          <a:chExt cx="0" cy="0"/>
        </a:xfrm>
      </p:grpSpPr>
      <p:sp>
        <p:nvSpPr>
          <p:cNvPr id="147" name="Google Shape;147;g380e1ea200b_0_34"/>
          <p:cNvSpPr/>
          <p:nvPr/>
        </p:nvSpPr>
        <p:spPr>
          <a:xfrm>
            <a:off x="241300" y="24131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8" name="Google Shape;148;g380e1ea200b_0_34"/>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49" name="Google Shape;149;g380e1ea200b_0_34"/>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50" name="Google Shape;150;g380e1ea200b_0_34"/>
          <p:cNvSpPr txBox="1"/>
          <p:nvPr/>
        </p:nvSpPr>
        <p:spPr>
          <a:xfrm>
            <a:off x="593925" y="1028700"/>
            <a:ext cx="6305100" cy="8727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1000"/>
              </a:spcBef>
              <a:spcAft>
                <a:spcPts val="0"/>
              </a:spcAft>
              <a:buNone/>
            </a:pPr>
            <a:r>
              <a:rPr b="1" lang="en-IN">
                <a:solidFill>
                  <a:schemeClr val="dk1"/>
                </a:solidFill>
                <a:latin typeface="Times New Roman"/>
                <a:ea typeface="Times New Roman"/>
                <a:cs typeface="Times New Roman"/>
                <a:sym typeface="Times New Roman"/>
              </a:rPr>
              <a:t>3. Energy Management and Performance</a:t>
            </a:r>
            <a:endParaRPr b="1">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Design a modular 48V 50Ah lithium-ion battery system with an integrated Battery Management System (BMS) for reliable charging/discharging cycles.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Simulate and analyze powertrain performance under varied operating</a:t>
            </a:r>
            <a:r>
              <a:rPr b="1" lang="en-IN">
                <a:solidFill>
                  <a:schemeClr val="dk1"/>
                </a:solidFill>
                <a:latin typeface="Times New Roman"/>
                <a:ea typeface="Times New Roman"/>
                <a:cs typeface="Times New Roman"/>
                <a:sym typeface="Times New Roman"/>
              </a:rPr>
              <a:t> </a:t>
            </a:r>
            <a:r>
              <a:rPr lang="en-IN">
                <a:solidFill>
                  <a:schemeClr val="dk1"/>
                </a:solidFill>
                <a:latin typeface="Times New Roman"/>
                <a:ea typeface="Times New Roman"/>
                <a:cs typeface="Times New Roman"/>
                <a:sym typeface="Times New Roman"/>
              </a:rPr>
              <a:t>conditions (flat terrain, inclined terrain, dynamic loads).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Ensured adequate torque, acceleration, and range to meet urban mobility requirements.</a:t>
            </a:r>
            <a:endParaRPr sz="17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4. Manufacturability and Scalability</a:t>
            </a:r>
            <a:endParaRPr b="1">
              <a:solidFill>
                <a:schemeClr val="dk1"/>
              </a:solidFill>
              <a:latin typeface="Times New Roman"/>
              <a:ea typeface="Times New Roman"/>
              <a:cs typeface="Times New Roman"/>
              <a:sym typeface="Times New Roman"/>
            </a:endParaRPr>
          </a:p>
          <a:p>
            <a:pPr indent="-317500" lvl="0" marL="457200" marR="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Adopted cost-effective and repeatable manufacturing processes such as welding, machining, and modular assembly.</a:t>
            </a:r>
            <a:endParaRPr sz="1700">
              <a:solidFill>
                <a:schemeClr val="dk1"/>
              </a:solidFill>
              <a:latin typeface="Times New Roman"/>
              <a:ea typeface="Times New Roman"/>
              <a:cs typeface="Times New Roman"/>
              <a:sym typeface="Times New Roman"/>
            </a:endParaRPr>
          </a:p>
          <a:p>
            <a:pPr indent="-317500" lvl="0" marL="457200" marR="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Select materials that are readily available and cost-effective.</a:t>
            </a:r>
            <a:endParaRPr>
              <a:solidFill>
                <a:schemeClr val="dk1"/>
              </a:solidFill>
              <a:latin typeface="Times New Roman"/>
              <a:ea typeface="Times New Roman"/>
              <a:cs typeface="Times New Roman"/>
              <a:sym typeface="Times New Roman"/>
            </a:endParaRPr>
          </a:p>
          <a:p>
            <a:pPr indent="-317500" lvl="0" marL="457200" marR="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Structured the design for scalability, enabling potential for small-batch or commercial production.</a:t>
            </a:r>
            <a:endParaRPr sz="17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5. Environmental Sustainability</a:t>
            </a:r>
            <a:endParaRPr b="1">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Reduced energy losses through an optimized drivetrain design and lightweight structure.</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Incorporated eco-friendly materials for selected non-critical components.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Engineered the system for low maintenance and extended lifecycle performance.</a:t>
            </a:r>
            <a:endParaRPr sz="17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6. Documentation and Feasibility</a:t>
            </a:r>
            <a:endParaRPr b="1">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Developed detailed CAD layouts and integration</a:t>
            </a:r>
            <a:r>
              <a:rPr b="1" lang="en-IN">
                <a:solidFill>
                  <a:schemeClr val="dk1"/>
                </a:solidFill>
                <a:latin typeface="Times New Roman"/>
                <a:ea typeface="Times New Roman"/>
                <a:cs typeface="Times New Roman"/>
                <a:sym typeface="Times New Roman"/>
              </a:rPr>
              <a:t> </a:t>
            </a:r>
            <a:r>
              <a:rPr lang="en-IN">
                <a:solidFill>
                  <a:schemeClr val="dk1"/>
                </a:solidFill>
                <a:latin typeface="Times New Roman"/>
                <a:ea typeface="Times New Roman"/>
                <a:cs typeface="Times New Roman"/>
                <a:sym typeface="Times New Roman"/>
              </a:rPr>
              <a:t>schematics for all subsystems.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Performed FEA stress and fatigue analysis to validate structural robustness.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Generated a structured Bill of Materials (BOM) and conducted cost estimation to assess prototype feasibility.</a:t>
            </a:r>
            <a:endParaRPr>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Font typeface="Arial"/>
              <a:buNone/>
            </a:pPr>
            <a:r>
              <a:rPr b="1" lang="en-IN" sz="1500">
                <a:solidFill>
                  <a:schemeClr val="dk1"/>
                </a:solidFill>
                <a:latin typeface="Times New Roman"/>
                <a:ea typeface="Times New Roman"/>
                <a:cs typeface="Times New Roman"/>
                <a:sym typeface="Times New Roman"/>
              </a:rPr>
              <a:t>2.3 Outcomes</a:t>
            </a:r>
            <a:br>
              <a:rPr b="1" lang="en-IN">
                <a:solidFill>
                  <a:schemeClr val="dk1"/>
                </a:solidFill>
                <a:latin typeface="Times New Roman"/>
                <a:ea typeface="Times New Roman"/>
                <a:cs typeface="Times New Roman"/>
                <a:sym typeface="Times New Roman"/>
              </a:rPr>
            </a:br>
            <a:endParaRPr b="1">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The project successfully delivered a well-engineered electric four-wheeler prototype with the following outcomes:</a:t>
            </a:r>
            <a:endParaRPr b="1">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Achieved safe and efficient operation for short-distance commuting applications.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Integrated and validated dual 2 kW BLDC hub motors for optimized powertrain performance.</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Utilized affordable, lightweight, and sustainable materials with cost-effective manufacturing processes.</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Established a scalable design framework suitable for small-scale production and future commercialization.</a:t>
            </a:r>
            <a:endParaRPr>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4"/>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56" name="Google Shape;156;p4"/>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57" name="Google Shape;157;p4"/>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58" name="Google Shape;158;p4"/>
          <p:cNvSpPr txBox="1"/>
          <p:nvPr/>
        </p:nvSpPr>
        <p:spPr>
          <a:xfrm>
            <a:off x="593925" y="1028700"/>
            <a:ext cx="6256800" cy="88773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b="1" lang="en-IN" sz="1800">
                <a:solidFill>
                  <a:schemeClr val="dk1"/>
                </a:solidFill>
                <a:latin typeface="Times New Roman"/>
                <a:ea typeface="Times New Roman"/>
                <a:cs typeface="Times New Roman"/>
                <a:sym typeface="Times New Roman"/>
              </a:rPr>
              <a:t>Chapter 3 – Design Concept &amp; Vehicle Class</a:t>
            </a:r>
            <a:br>
              <a:rPr b="1" lang="en-IN" sz="1600">
                <a:solidFill>
                  <a:schemeClr val="dk1"/>
                </a:solidFill>
                <a:latin typeface="Times New Roman"/>
                <a:ea typeface="Times New Roman"/>
                <a:cs typeface="Times New Roman"/>
                <a:sym typeface="Times New Roman"/>
              </a:rPr>
            </a:br>
            <a:endParaRPr b="1"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IN" sz="1600">
                <a:solidFill>
                  <a:schemeClr val="dk1"/>
                </a:solidFill>
                <a:latin typeface="Times New Roman"/>
                <a:ea typeface="Times New Roman"/>
                <a:cs typeface="Times New Roman"/>
                <a:sym typeface="Times New Roman"/>
              </a:rPr>
              <a:t>3.1 Design Concept Overview</a:t>
            </a:r>
            <a:endParaRPr b="1" sz="16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The electric four-wheeler design focuses on creating an affordable, lightweight, and efficient vehicle suited for short-distance commuting and campus mobility. The concept emphasizes simplicity, sustainability, and practical usability while addressing the limitations of conventional electric vehicle designs such as high cost, bulkiness, and complex maintenance.</a:t>
            </a:r>
            <a:endParaRPr>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 The vehicle is engineered with modularity in mind, allowing easy assembly, maintenance, and future scalability toward small-scale production or commercialization.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3.2 Key Design Features</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400"/>
              </a:spcBef>
              <a:spcAft>
                <a:spcPts val="0"/>
              </a:spcAft>
              <a:buNone/>
            </a:pPr>
            <a:r>
              <a:rPr b="1" lang="en-IN">
                <a:solidFill>
                  <a:schemeClr val="dk1"/>
                </a:solidFill>
                <a:latin typeface="Times New Roman"/>
                <a:ea typeface="Times New Roman"/>
                <a:cs typeface="Times New Roman"/>
                <a:sym typeface="Times New Roman"/>
              </a:rPr>
              <a:t>3.2.1 Compact Dimensions</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4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Length:</a:t>
            </a:r>
            <a:r>
              <a:rPr lang="en-IN">
                <a:solidFill>
                  <a:schemeClr val="dk1"/>
                </a:solidFill>
                <a:latin typeface="Times New Roman"/>
                <a:ea typeface="Times New Roman"/>
                <a:cs typeface="Times New Roman"/>
                <a:sym typeface="Times New Roman"/>
              </a:rPr>
              <a:t> ~2500 mm</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Width:</a:t>
            </a:r>
            <a:r>
              <a:rPr lang="en-IN">
                <a:solidFill>
                  <a:schemeClr val="dk1"/>
                </a:solidFill>
                <a:latin typeface="Times New Roman"/>
                <a:ea typeface="Times New Roman"/>
                <a:cs typeface="Times New Roman"/>
                <a:sym typeface="Times New Roman"/>
              </a:rPr>
              <a:t> ~1300 mm</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Height:</a:t>
            </a:r>
            <a:r>
              <a:rPr lang="en-IN">
                <a:solidFill>
                  <a:schemeClr val="dk1"/>
                </a:solidFill>
                <a:latin typeface="Times New Roman"/>
                <a:ea typeface="Times New Roman"/>
                <a:cs typeface="Times New Roman"/>
                <a:sym typeface="Times New Roman"/>
              </a:rPr>
              <a:t> ~1000 mm</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IN">
                <a:solidFill>
                  <a:schemeClr val="dk1"/>
                </a:solidFill>
                <a:latin typeface="Times New Roman"/>
                <a:ea typeface="Times New Roman"/>
                <a:cs typeface="Times New Roman"/>
                <a:sym typeface="Times New Roman"/>
              </a:rPr>
              <a:t>These compact dimensions allow maneuverability in </a:t>
            </a:r>
            <a:r>
              <a:rPr b="1" lang="en-IN">
                <a:solidFill>
                  <a:schemeClr val="dk1"/>
                </a:solidFill>
                <a:latin typeface="Times New Roman"/>
                <a:ea typeface="Times New Roman"/>
                <a:cs typeface="Times New Roman"/>
                <a:sym typeface="Times New Roman"/>
              </a:rPr>
              <a:t>narrow lanes, institutional campuses, and congested urban spaces</a:t>
            </a:r>
            <a:r>
              <a:rPr lang="en-IN">
                <a:solidFill>
                  <a:schemeClr val="dk1"/>
                </a:solidFill>
                <a:latin typeface="Times New Roman"/>
                <a:ea typeface="Times New Roman"/>
                <a:cs typeface="Times New Roman"/>
                <a:sym typeface="Times New Roman"/>
              </a:rPr>
              <a:t>. The footprint is optimized to provide sufficient occupant space while minimizing curb-to-curb turning radius and aerodynamic drag.</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3.2.2 Seating Capacity</a:t>
            </a:r>
            <a:br>
              <a:rPr b="1" lang="en-IN">
                <a:solidFill>
                  <a:schemeClr val="dk1"/>
                </a:solidFill>
                <a:latin typeface="Times New Roman"/>
                <a:ea typeface="Times New Roman"/>
                <a:cs typeface="Times New Roman"/>
                <a:sym typeface="Times New Roman"/>
              </a:rPr>
            </a:br>
            <a:r>
              <a:rPr b="1" lang="en-IN">
                <a:solidFill>
                  <a:schemeClr val="dk1"/>
                </a:solidFill>
                <a:latin typeface="Times New Roman"/>
                <a:ea typeface="Times New Roman"/>
                <a:cs typeface="Times New Roman"/>
                <a:sym typeface="Times New Roman"/>
              </a:rPr>
              <a:t>	Configuration:</a:t>
            </a:r>
            <a:r>
              <a:rPr lang="en-IN">
                <a:solidFill>
                  <a:schemeClr val="dk1"/>
                </a:solidFill>
                <a:latin typeface="Times New Roman"/>
                <a:ea typeface="Times New Roman"/>
                <a:cs typeface="Times New Roman"/>
                <a:sym typeface="Times New Roman"/>
              </a:rPr>
              <a:t> Two occupants (driver + passenger).</a:t>
            </a:r>
            <a:br>
              <a:rPr lang="en-IN">
                <a:solidFill>
                  <a:schemeClr val="dk1"/>
                </a:solidFill>
                <a:latin typeface="Times New Roman"/>
                <a:ea typeface="Times New Roman"/>
                <a:cs typeface="Times New Roman"/>
                <a:sym typeface="Times New Roman"/>
              </a:rPr>
            </a:br>
            <a:r>
              <a:rPr lang="en-IN">
                <a:solidFill>
                  <a:schemeClr val="dk1"/>
                </a:solidFill>
                <a:latin typeface="Times New Roman"/>
                <a:ea typeface="Times New Roman"/>
                <a:cs typeface="Times New Roman"/>
                <a:sym typeface="Times New Roman"/>
              </a:rPr>
              <a:t>   	</a:t>
            </a:r>
            <a:r>
              <a:rPr b="1" lang="en-IN">
                <a:solidFill>
                  <a:schemeClr val="dk1"/>
                </a:solidFill>
                <a:latin typeface="Times New Roman"/>
                <a:ea typeface="Times New Roman"/>
                <a:cs typeface="Times New Roman"/>
                <a:sym typeface="Times New Roman"/>
              </a:rPr>
              <a:t>Layout:</a:t>
            </a:r>
            <a:r>
              <a:rPr lang="en-IN">
                <a:solidFill>
                  <a:schemeClr val="dk1"/>
                </a:solidFill>
                <a:latin typeface="Times New Roman"/>
                <a:ea typeface="Times New Roman"/>
                <a:cs typeface="Times New Roman"/>
                <a:sym typeface="Times New Roman"/>
              </a:rPr>
              <a:t> Ergonomically optimized seating with adequate </a:t>
            </a:r>
            <a:r>
              <a:rPr b="1" lang="en-IN">
                <a:solidFill>
                  <a:schemeClr val="dk1"/>
                </a:solidFill>
                <a:latin typeface="Times New Roman"/>
                <a:ea typeface="Times New Roman"/>
                <a:cs typeface="Times New Roman"/>
                <a:sym typeface="Times New Roman"/>
              </a:rPr>
              <a:t>hip point (H-point) clearance</a:t>
            </a:r>
            <a:r>
              <a:rPr lang="en-IN">
                <a:solidFill>
                  <a:schemeClr val="dk1"/>
                </a:solidFill>
                <a:latin typeface="Times New Roman"/>
                <a:ea typeface="Times New Roman"/>
                <a:cs typeface="Times New Roman"/>
                <a:sym typeface="Times New Roman"/>
              </a:rPr>
              <a:t> and </a:t>
            </a:r>
            <a:r>
              <a:rPr b="1" lang="en-IN">
                <a:solidFill>
                  <a:schemeClr val="dk1"/>
                </a:solidFill>
                <a:latin typeface="Times New Roman"/>
                <a:ea typeface="Times New Roman"/>
                <a:cs typeface="Times New Roman"/>
                <a:sym typeface="Times New Roman"/>
              </a:rPr>
              <a:t>legroom</a:t>
            </a:r>
            <a:r>
              <a:rPr lang="en-IN">
                <a:solidFill>
                  <a:schemeClr val="dk1"/>
                </a:solidFill>
                <a:latin typeface="Times New Roman"/>
                <a:ea typeface="Times New Roman"/>
                <a:cs typeface="Times New Roman"/>
                <a:sym typeface="Times New Roman"/>
              </a:rPr>
              <a:t> for short-duration commutes.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3.2.3 Powertrain Layout</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4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Propulsion:</a:t>
            </a:r>
            <a:r>
              <a:rPr lang="en-IN">
                <a:solidFill>
                  <a:schemeClr val="dk1"/>
                </a:solidFill>
                <a:latin typeface="Times New Roman"/>
                <a:ea typeface="Times New Roman"/>
                <a:cs typeface="Times New Roman"/>
                <a:sym typeface="Times New Roman"/>
              </a:rPr>
              <a:t> Dual </a:t>
            </a:r>
            <a:r>
              <a:rPr b="1" lang="en-IN">
                <a:solidFill>
                  <a:schemeClr val="dk1"/>
                </a:solidFill>
                <a:latin typeface="Times New Roman"/>
                <a:ea typeface="Times New Roman"/>
                <a:cs typeface="Times New Roman"/>
                <a:sym typeface="Times New Roman"/>
              </a:rPr>
              <a:t>2 kW Brushless DC (BLDC) hub motors</a:t>
            </a:r>
            <a:r>
              <a:rPr lang="en-IN">
                <a:solidFill>
                  <a:schemeClr val="dk1"/>
                </a:solidFill>
                <a:latin typeface="Times New Roman"/>
                <a:ea typeface="Times New Roman"/>
                <a:cs typeface="Times New Roman"/>
                <a:sym typeface="Times New Roman"/>
              </a:rPr>
              <a:t> mounted on the rear wheels.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Advantages:</a:t>
            </a:r>
            <a:endParaRPr b="1">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Elimination of mechanical transmission → reduced drivetrain complexity and parasitic losses.</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Independent wheel torque delivery → improved traction and hill-start capability.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Performance Envelope:</a:t>
            </a:r>
            <a:r>
              <a:rPr lang="en-IN">
                <a:solidFill>
                  <a:schemeClr val="dk1"/>
                </a:solidFill>
                <a:latin typeface="Times New Roman"/>
                <a:ea typeface="Times New Roman"/>
                <a:cs typeface="Times New Roman"/>
                <a:sym typeface="Times New Roman"/>
              </a:rPr>
              <a:t> Peak torque adequate for </a:t>
            </a:r>
            <a:r>
              <a:rPr b="1" lang="en-IN">
                <a:solidFill>
                  <a:schemeClr val="dk1"/>
                </a:solidFill>
                <a:latin typeface="Times New Roman"/>
                <a:ea typeface="Times New Roman"/>
                <a:cs typeface="Times New Roman"/>
                <a:sym typeface="Times New Roman"/>
              </a:rPr>
              <a:t>urban gradients (~7–10%)</a:t>
            </a:r>
            <a:r>
              <a:rPr lang="en-IN">
                <a:solidFill>
                  <a:schemeClr val="dk1"/>
                </a:solidFill>
                <a:latin typeface="Times New Roman"/>
                <a:ea typeface="Times New Roman"/>
                <a:cs typeface="Times New Roman"/>
                <a:sym typeface="Times New Roman"/>
              </a:rPr>
              <a:t> and low-speed acceleration.</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4" name="Google Shape;164;p5"/>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65" name="Google Shape;165;p5"/>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66" name="Google Shape;166;p5"/>
          <p:cNvSpPr txBox="1"/>
          <p:nvPr/>
        </p:nvSpPr>
        <p:spPr>
          <a:xfrm>
            <a:off x="593925" y="1028700"/>
            <a:ext cx="6256800" cy="9066000"/>
          </a:xfrm>
          <a:prstGeom prst="rect">
            <a:avLst/>
          </a:prstGeom>
          <a:noFill/>
          <a:ln>
            <a:noFill/>
          </a:ln>
        </p:spPr>
        <p:txBody>
          <a:bodyPr anchorCtr="0" anchor="t" bIns="45700" lIns="91425" spcFirstLastPara="1" rIns="91425" wrap="square" tIns="45700">
            <a:spAutoFit/>
          </a:bodyPr>
          <a:lstStyle/>
          <a:p>
            <a:pPr indent="0" lvl="0" marL="0" rtl="0" algn="just">
              <a:lnSpc>
                <a:spcPct val="100000"/>
              </a:lnSpc>
              <a:spcBef>
                <a:spcPts val="0"/>
              </a:spcBef>
              <a:spcAft>
                <a:spcPts val="0"/>
              </a:spcAft>
              <a:buNone/>
            </a:pPr>
            <a:r>
              <a:rPr b="1" lang="en-IN" sz="1600">
                <a:solidFill>
                  <a:schemeClr val="dk1"/>
                </a:solidFill>
                <a:latin typeface="Times New Roman"/>
                <a:ea typeface="Times New Roman"/>
                <a:cs typeface="Times New Roman"/>
                <a:sym typeface="Times New Roman"/>
              </a:rPr>
              <a:t>  </a:t>
            </a:r>
            <a:r>
              <a:rPr b="1" lang="en-IN">
                <a:solidFill>
                  <a:schemeClr val="dk1"/>
                </a:solidFill>
                <a:latin typeface="Times New Roman"/>
                <a:ea typeface="Times New Roman"/>
                <a:cs typeface="Times New Roman"/>
                <a:sym typeface="Times New Roman"/>
              </a:rPr>
              <a:t>3.2.4 Energy Storage</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Battery Chemistry:</a:t>
            </a:r>
            <a:r>
              <a:rPr lang="en-IN">
                <a:solidFill>
                  <a:schemeClr val="dk1"/>
                </a:solidFill>
                <a:latin typeface="Times New Roman"/>
                <a:ea typeface="Times New Roman"/>
                <a:cs typeface="Times New Roman"/>
                <a:sym typeface="Times New Roman"/>
              </a:rPr>
              <a:t> Lithium Nickel Manganese Cobalt (NMC).</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Specification:</a:t>
            </a:r>
            <a:r>
              <a:rPr lang="en-IN">
                <a:solidFill>
                  <a:schemeClr val="dk1"/>
                </a:solidFill>
                <a:latin typeface="Times New Roman"/>
                <a:ea typeface="Times New Roman"/>
                <a:cs typeface="Times New Roman"/>
                <a:sym typeface="Times New Roman"/>
              </a:rPr>
              <a:t> 48 V, 60 Ah (2.88 kWh nominal capacity).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Placement:</a:t>
            </a:r>
            <a:r>
              <a:rPr lang="en-IN">
                <a:solidFill>
                  <a:schemeClr val="dk1"/>
                </a:solidFill>
                <a:latin typeface="Times New Roman"/>
                <a:ea typeface="Times New Roman"/>
                <a:cs typeface="Times New Roman"/>
                <a:sym typeface="Times New Roman"/>
              </a:rPr>
              <a:t> Under-seat mounting ensures:</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Lower </a:t>
            </a:r>
            <a:r>
              <a:rPr b="1" lang="en-IN">
                <a:solidFill>
                  <a:schemeClr val="dk1"/>
                </a:solidFill>
                <a:latin typeface="Times New Roman"/>
                <a:ea typeface="Times New Roman"/>
                <a:cs typeface="Times New Roman"/>
                <a:sym typeface="Times New Roman"/>
              </a:rPr>
              <a:t>Center of Gravity (CoG)</a:t>
            </a:r>
            <a:r>
              <a:rPr lang="en-IN">
                <a:solidFill>
                  <a:schemeClr val="dk1"/>
                </a:solidFill>
                <a:latin typeface="Times New Roman"/>
                <a:ea typeface="Times New Roman"/>
                <a:cs typeface="Times New Roman"/>
                <a:sym typeface="Times New Roman"/>
              </a:rPr>
              <a:t> → enhanced lateral stability.</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Balanced weight distribution between front and rear axles.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Thermal Consideration:</a:t>
            </a:r>
            <a:r>
              <a:rPr lang="en-IN">
                <a:solidFill>
                  <a:schemeClr val="dk1"/>
                </a:solidFill>
                <a:latin typeface="Times New Roman"/>
                <a:ea typeface="Times New Roman"/>
                <a:cs typeface="Times New Roman"/>
                <a:sym typeface="Times New Roman"/>
              </a:rPr>
              <a:t> Adequate passive cooling with provision for active cooling in extended usage scenarios.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3.2.5 Suspension System</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4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Front:</a:t>
            </a:r>
            <a:r>
              <a:rPr lang="en-IN">
                <a:solidFill>
                  <a:schemeClr val="dk1"/>
                </a:solidFill>
                <a:latin typeface="Times New Roman"/>
                <a:ea typeface="Times New Roman"/>
                <a:cs typeface="Times New Roman"/>
                <a:sym typeface="Times New Roman"/>
              </a:rPr>
              <a:t> Leaf spring suspension → cost-efficient, durable, and capable of handling </a:t>
            </a:r>
            <a:r>
              <a:rPr b="1" lang="en-IN">
                <a:solidFill>
                  <a:schemeClr val="dk1"/>
                </a:solidFill>
                <a:latin typeface="Times New Roman"/>
                <a:ea typeface="Times New Roman"/>
                <a:cs typeface="Times New Roman"/>
                <a:sym typeface="Times New Roman"/>
              </a:rPr>
              <a:t>axle loads in the range of 150–200 kg</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Rear:</a:t>
            </a:r>
            <a:r>
              <a:rPr lang="en-IN">
                <a:solidFill>
                  <a:schemeClr val="dk1"/>
                </a:solidFill>
                <a:latin typeface="Times New Roman"/>
                <a:ea typeface="Times New Roman"/>
                <a:cs typeface="Times New Roman"/>
                <a:sym typeface="Times New Roman"/>
              </a:rPr>
              <a:t> Trailing arm with a </a:t>
            </a:r>
            <a:r>
              <a:rPr b="1" lang="en-IN">
                <a:solidFill>
                  <a:schemeClr val="dk1"/>
                </a:solidFill>
                <a:latin typeface="Times New Roman"/>
                <a:ea typeface="Times New Roman"/>
                <a:cs typeface="Times New Roman"/>
                <a:sym typeface="Times New Roman"/>
              </a:rPr>
              <a:t>monoshock absorber</a:t>
            </a:r>
            <a:r>
              <a:rPr lang="en-IN">
                <a:solidFill>
                  <a:schemeClr val="dk1"/>
                </a:solidFill>
                <a:latin typeface="Times New Roman"/>
                <a:ea typeface="Times New Roman"/>
                <a:cs typeface="Times New Roman"/>
                <a:sym typeface="Times New Roman"/>
              </a:rPr>
              <a:t> → tuned for damping ratio to balance ride comfort and stability at speeds ≤ 35 km/h.</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3.2.6 Steering and Braking</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4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Steering:</a:t>
            </a:r>
            <a:r>
              <a:rPr lang="en-IN">
                <a:solidFill>
                  <a:schemeClr val="dk1"/>
                </a:solidFill>
                <a:latin typeface="Times New Roman"/>
                <a:ea typeface="Times New Roman"/>
                <a:cs typeface="Times New Roman"/>
                <a:sym typeface="Times New Roman"/>
              </a:rPr>
              <a:t> Rack and Pinion → precise steering response with minimal backlash, suitable for short-wheelbase vehicles.</a:t>
            </a:r>
            <a:br>
              <a:rPr lang="en-IN">
                <a:solidFill>
                  <a:schemeClr val="dk1"/>
                </a:solidFill>
                <a:latin typeface="Times New Roman"/>
                <a:ea typeface="Times New Roman"/>
                <a:cs typeface="Times New Roman"/>
                <a:sym typeface="Times New Roman"/>
              </a:rPr>
            </a:br>
            <a:r>
              <a:rPr b="1" lang="en-IN">
                <a:solidFill>
                  <a:schemeClr val="dk1"/>
                </a:solidFill>
                <a:latin typeface="Times New Roman"/>
                <a:ea typeface="Times New Roman"/>
                <a:cs typeface="Times New Roman"/>
                <a:sym typeface="Times New Roman"/>
              </a:rPr>
              <a:t>Braking System:</a:t>
            </a:r>
            <a:endParaRPr b="1">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Hydraulic disc brakes on both axles.</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Integrated </a:t>
            </a:r>
            <a:r>
              <a:rPr b="1" lang="en-IN">
                <a:solidFill>
                  <a:schemeClr val="dk1"/>
                </a:solidFill>
                <a:latin typeface="Times New Roman"/>
                <a:ea typeface="Times New Roman"/>
                <a:cs typeface="Times New Roman"/>
                <a:sym typeface="Times New Roman"/>
              </a:rPr>
              <a:t>regenerative braking</a:t>
            </a:r>
            <a:r>
              <a:rPr lang="en-IN">
                <a:solidFill>
                  <a:schemeClr val="dk1"/>
                </a:solidFill>
                <a:latin typeface="Times New Roman"/>
                <a:ea typeface="Times New Roman"/>
                <a:cs typeface="Times New Roman"/>
                <a:sym typeface="Times New Roman"/>
              </a:rPr>
              <a:t> → energy recovery during deceleration, enhancing overall system efficiency by ~5–8%.</a:t>
            </a:r>
            <a:endParaRPr>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None/>
            </a:pPr>
            <a:r>
              <a:rPr b="1" lang="en-IN" sz="1600">
                <a:solidFill>
                  <a:schemeClr val="dk1"/>
                </a:solidFill>
                <a:latin typeface="Times New Roman"/>
                <a:ea typeface="Times New Roman"/>
                <a:cs typeface="Times New Roman"/>
                <a:sym typeface="Times New Roman"/>
              </a:rPr>
              <a:t>3.3 Vehicle Class</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lang="en-IN">
                <a:solidFill>
                  <a:schemeClr val="dk1"/>
                </a:solidFill>
                <a:latin typeface="Times New Roman"/>
                <a:ea typeface="Times New Roman"/>
                <a:cs typeface="Times New Roman"/>
                <a:sym typeface="Times New Roman"/>
              </a:rPr>
              <a:t>The proposed design is classified as a </a:t>
            </a:r>
            <a:r>
              <a:rPr b="1" lang="en-IN">
                <a:solidFill>
                  <a:schemeClr val="dk1"/>
                </a:solidFill>
                <a:latin typeface="Times New Roman"/>
                <a:ea typeface="Times New Roman"/>
                <a:cs typeface="Times New Roman"/>
                <a:sym typeface="Times New Roman"/>
              </a:rPr>
              <a:t>Low-Speed Electric Vehicle (LSEV)</a:t>
            </a:r>
            <a:r>
              <a:rPr lang="en-IN">
                <a:solidFill>
                  <a:schemeClr val="dk1"/>
                </a:solidFill>
                <a:latin typeface="Times New Roman"/>
                <a:ea typeface="Times New Roman"/>
                <a:cs typeface="Times New Roman"/>
                <a:sym typeface="Times New Roman"/>
              </a:rPr>
              <a:t>, optimized for controlled environments such as campuses, industrial sites, and gated urban zones.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a:solidFill>
                  <a:schemeClr val="dk1"/>
                </a:solidFill>
                <a:latin typeface="Times New Roman"/>
                <a:ea typeface="Times New Roman"/>
                <a:cs typeface="Times New Roman"/>
                <a:sym typeface="Times New Roman"/>
              </a:rPr>
              <a:t>Characteristics:</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Top Speed:</a:t>
            </a:r>
            <a:r>
              <a:rPr lang="en-IN">
                <a:solidFill>
                  <a:schemeClr val="dk1"/>
                </a:solidFill>
                <a:latin typeface="Times New Roman"/>
                <a:ea typeface="Times New Roman"/>
                <a:cs typeface="Times New Roman"/>
                <a:sym typeface="Times New Roman"/>
              </a:rPr>
              <a:t> ~35 km/h (speed limiter integrated for safety and regulatory compliance).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Range:</a:t>
            </a:r>
            <a:r>
              <a:rPr lang="en-IN">
                <a:solidFill>
                  <a:schemeClr val="dk1"/>
                </a:solidFill>
                <a:latin typeface="Times New Roman"/>
                <a:ea typeface="Times New Roman"/>
                <a:cs typeface="Times New Roman"/>
                <a:sym typeface="Times New Roman"/>
              </a:rPr>
              <a:t> ~50 km per charge under moderate duty cycle.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Weight:</a:t>
            </a:r>
            <a:r>
              <a:rPr lang="en-IN">
                <a:solidFill>
                  <a:schemeClr val="dk1"/>
                </a:solidFill>
                <a:latin typeface="Times New Roman"/>
                <a:ea typeface="Times New Roman"/>
                <a:cs typeface="Times New Roman"/>
                <a:sym typeface="Times New Roman"/>
              </a:rPr>
              <a:t> Lightweight construction for </a:t>
            </a:r>
            <a:r>
              <a:rPr b="1" lang="en-IN">
                <a:solidFill>
                  <a:schemeClr val="dk1"/>
                </a:solidFill>
                <a:latin typeface="Times New Roman"/>
                <a:ea typeface="Times New Roman"/>
                <a:cs typeface="Times New Roman"/>
                <a:sym typeface="Times New Roman"/>
              </a:rPr>
              <a:t>energy economy &lt; 70 Wh/km</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Operational Envelope:</a:t>
            </a:r>
            <a:r>
              <a:rPr lang="en-IN">
                <a:solidFill>
                  <a:schemeClr val="dk1"/>
                </a:solidFill>
                <a:latin typeface="Times New Roman"/>
                <a:ea typeface="Times New Roman"/>
                <a:cs typeface="Times New Roman"/>
                <a:sym typeface="Times New Roman"/>
              </a:rPr>
              <a:t> Short commutes with frequent stop-and-go operation.</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Rationale for LSEV Classification:</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Market Demand:</a:t>
            </a:r>
            <a:r>
              <a:rPr lang="en-IN">
                <a:solidFill>
                  <a:schemeClr val="dk1"/>
                </a:solidFill>
                <a:latin typeface="Times New Roman"/>
                <a:ea typeface="Times New Roman"/>
                <a:cs typeface="Times New Roman"/>
                <a:sym typeface="Times New Roman"/>
              </a:rPr>
              <a:t> Affordable, eco-friendly mobility for short distances.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Regulatory Benefits:</a:t>
            </a:r>
            <a:r>
              <a:rPr lang="en-IN">
                <a:solidFill>
                  <a:schemeClr val="dk1"/>
                </a:solidFill>
                <a:latin typeface="Times New Roman"/>
                <a:ea typeface="Times New Roman"/>
                <a:cs typeface="Times New Roman"/>
                <a:sym typeface="Times New Roman"/>
              </a:rPr>
              <a:t> Operates under </a:t>
            </a:r>
            <a:r>
              <a:rPr b="1" lang="en-IN">
                <a:solidFill>
                  <a:schemeClr val="dk1"/>
                </a:solidFill>
                <a:latin typeface="Times New Roman"/>
                <a:ea typeface="Times New Roman"/>
                <a:cs typeface="Times New Roman"/>
                <a:sym typeface="Times New Roman"/>
              </a:rPr>
              <a:t>relaxed licensing and safety standards</a:t>
            </a:r>
            <a:r>
              <a:rPr lang="en-IN">
                <a:solidFill>
                  <a:schemeClr val="dk1"/>
                </a:solidFill>
                <a:latin typeface="Times New Roman"/>
                <a:ea typeface="Times New Roman"/>
                <a:cs typeface="Times New Roman"/>
                <a:sym typeface="Times New Roman"/>
              </a:rPr>
              <a:t> compared to high-speed EVs.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Application Fit:</a:t>
            </a:r>
            <a:r>
              <a:rPr lang="en-IN">
                <a:solidFill>
                  <a:schemeClr val="dk1"/>
                </a:solidFill>
                <a:latin typeface="Times New Roman"/>
                <a:ea typeface="Times New Roman"/>
                <a:cs typeface="Times New Roman"/>
                <a:sym typeface="Times New Roman"/>
              </a:rPr>
              <a:t> Ideal for </a:t>
            </a:r>
            <a:r>
              <a:rPr b="1" lang="en-IN">
                <a:solidFill>
                  <a:schemeClr val="dk1"/>
                </a:solidFill>
                <a:latin typeface="Times New Roman"/>
                <a:ea typeface="Times New Roman"/>
                <a:cs typeface="Times New Roman"/>
                <a:sym typeface="Times New Roman"/>
              </a:rPr>
              <a:t>last-mile connectivity, institutional fleets, and controlled urban corridors</a:t>
            </a:r>
            <a:r>
              <a:rPr lang="en-IN">
                <a:solidFill>
                  <a:schemeClr val="dk1"/>
                </a:solidFill>
                <a:latin typeface="Times New Roman"/>
                <a:ea typeface="Times New Roman"/>
                <a:cs typeface="Times New Roman"/>
                <a:sym typeface="Times New Roman"/>
              </a:rPr>
              <a:t>.</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6"/>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2" name="Google Shape;172;p6"/>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73" name="Google Shape;173;p6"/>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74" name="Google Shape;174;p6"/>
          <p:cNvSpPr txBox="1"/>
          <p:nvPr/>
        </p:nvSpPr>
        <p:spPr>
          <a:xfrm>
            <a:off x="593925" y="1028700"/>
            <a:ext cx="6256800" cy="7526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N" sz="1600">
                <a:solidFill>
                  <a:schemeClr val="dk1"/>
                </a:solidFill>
                <a:latin typeface="Times New Roman"/>
                <a:ea typeface="Times New Roman"/>
                <a:cs typeface="Times New Roman"/>
                <a:sym typeface="Times New Roman"/>
              </a:rPr>
              <a:t>3.4 Ergonomics and Usability</a:t>
            </a:r>
            <a:br>
              <a:rPr b="1" lang="en-IN" sz="1600">
                <a:solidFill>
                  <a:schemeClr val="dk1"/>
                </a:solidFill>
                <a:latin typeface="Times New Roman"/>
                <a:ea typeface="Times New Roman"/>
                <a:cs typeface="Times New Roman"/>
                <a:sym typeface="Times New Roman"/>
              </a:rPr>
            </a:br>
            <a:r>
              <a:rPr lang="en-IN">
                <a:solidFill>
                  <a:schemeClr val="dk1"/>
                </a:solidFill>
                <a:latin typeface="Times New Roman"/>
                <a:ea typeface="Times New Roman"/>
                <a:cs typeface="Times New Roman"/>
                <a:sym typeface="Times New Roman"/>
              </a:rPr>
              <a:t>The vehicle incorporates human-factor engineering principles to maximize comfort, safety, and ease of operation.</a:t>
            </a:r>
            <a:endParaRPr>
              <a:solidFill>
                <a:schemeClr val="dk1"/>
              </a:solidFill>
              <a:latin typeface="Times New Roman"/>
              <a:ea typeface="Times New Roman"/>
              <a:cs typeface="Times New Roman"/>
              <a:sym typeface="Times New Roman"/>
            </a:endParaRPr>
          </a:p>
          <a:p>
            <a:pPr indent="-304800" lvl="0" marL="457200" rtl="0" algn="l">
              <a:spcBef>
                <a:spcPts val="1000"/>
              </a:spcBef>
              <a:spcAft>
                <a:spcPts val="0"/>
              </a:spcAft>
              <a:buClr>
                <a:schemeClr val="dk1"/>
              </a:buClr>
              <a:buSzPts val="1200"/>
              <a:buChar char="●"/>
            </a:pPr>
            <a:r>
              <a:rPr b="1" lang="en-IN">
                <a:solidFill>
                  <a:schemeClr val="dk1"/>
                </a:solidFill>
                <a:latin typeface="Times New Roman"/>
                <a:ea typeface="Times New Roman"/>
                <a:cs typeface="Times New Roman"/>
                <a:sym typeface="Times New Roman"/>
              </a:rPr>
              <a:t>Adjustable Driver Seat: </a:t>
            </a:r>
            <a:r>
              <a:rPr lang="en-IN">
                <a:solidFill>
                  <a:schemeClr val="dk1"/>
                </a:solidFill>
                <a:latin typeface="Times New Roman"/>
                <a:ea typeface="Times New Roman"/>
                <a:cs typeface="Times New Roman"/>
                <a:sym typeface="Times New Roman"/>
              </a:rPr>
              <a:t>Accommodates diverse anthropometric profiles (5th percentile female to 95th percentile male).</a:t>
            </a:r>
            <a:endParaRPr b="1">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b="1" lang="en-IN">
                <a:solidFill>
                  <a:schemeClr val="dk1"/>
                </a:solidFill>
                <a:latin typeface="Times New Roman"/>
                <a:ea typeface="Times New Roman"/>
                <a:cs typeface="Times New Roman"/>
                <a:sym typeface="Times New Roman"/>
              </a:rPr>
              <a:t>Dashboard Interface:</a:t>
            </a:r>
            <a:r>
              <a:rPr lang="en-IN">
                <a:solidFill>
                  <a:schemeClr val="dk1"/>
                </a:solidFill>
                <a:latin typeface="Times New Roman"/>
                <a:ea typeface="Times New Roman"/>
                <a:cs typeface="Times New Roman"/>
                <a:sym typeface="Times New Roman"/>
              </a:rPr>
              <a:t> Digital cluster displaying speed, SoC (State of Charge), error codes, and driving mode selection.</a:t>
            </a:r>
            <a:endParaRPr b="1">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b="1" lang="en-IN">
                <a:solidFill>
                  <a:schemeClr val="dk1"/>
                </a:solidFill>
                <a:latin typeface="Times New Roman"/>
                <a:ea typeface="Times New Roman"/>
                <a:cs typeface="Times New Roman"/>
                <a:sym typeface="Times New Roman"/>
              </a:rPr>
              <a:t>Ingress/Egress:</a:t>
            </a:r>
            <a:r>
              <a:rPr lang="en-IN">
                <a:solidFill>
                  <a:schemeClr val="dk1"/>
                </a:solidFill>
                <a:latin typeface="Times New Roman"/>
                <a:ea typeface="Times New Roman"/>
                <a:cs typeface="Times New Roman"/>
                <a:sym typeface="Times New Roman"/>
              </a:rPr>
              <a:t> Optimized step-over height (&lt;400 mm) and wide door opening angle (&gt;60°).</a:t>
            </a:r>
            <a:endParaRPr>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b="1" lang="en-IN">
                <a:solidFill>
                  <a:schemeClr val="dk1"/>
                </a:solidFill>
                <a:latin typeface="Times New Roman"/>
                <a:ea typeface="Times New Roman"/>
                <a:cs typeface="Times New Roman"/>
                <a:sym typeface="Times New Roman"/>
              </a:rPr>
              <a:t>Drive Modes</a:t>
            </a:r>
            <a:r>
              <a:rPr lang="en-IN">
                <a:solidFill>
                  <a:schemeClr val="dk1"/>
                </a:solidFill>
                <a:latin typeface="Times New Roman"/>
                <a:ea typeface="Times New Roman"/>
                <a:cs typeface="Times New Roman"/>
                <a:sym typeface="Times New Roman"/>
              </a:rPr>
              <a:t>: Three selectable modes (Eco / Normal / Power) → tailored torque-speed mapping for efficiency vs. performance.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IN" sz="1600">
                <a:solidFill>
                  <a:schemeClr val="dk1"/>
                </a:solidFill>
                <a:latin typeface="Times New Roman"/>
                <a:ea typeface="Times New Roman"/>
                <a:cs typeface="Times New Roman"/>
                <a:sym typeface="Times New Roman"/>
              </a:rPr>
              <a:t>3.5 System Integration Philosophy</a:t>
            </a:r>
            <a:endParaRPr b="1" sz="1600">
              <a:solidFill>
                <a:schemeClr val="dk1"/>
              </a:solidFill>
              <a:latin typeface="Times New Roman"/>
              <a:ea typeface="Times New Roman"/>
              <a:cs typeface="Times New Roman"/>
              <a:sym typeface="Times New Roman"/>
            </a:endParaRPr>
          </a:p>
          <a:p>
            <a:pPr indent="0" lvl="0" marL="0" rtl="0" algn="l">
              <a:spcBef>
                <a:spcPts val="1000"/>
              </a:spcBef>
              <a:spcAft>
                <a:spcPts val="0"/>
              </a:spcAft>
              <a:buNone/>
            </a:pPr>
            <a:r>
              <a:rPr b="1" lang="en-IN">
                <a:solidFill>
                  <a:schemeClr val="dk1"/>
                </a:solidFill>
                <a:latin typeface="Times New Roman"/>
                <a:ea typeface="Times New Roman"/>
                <a:cs typeface="Times New Roman"/>
                <a:sym typeface="Times New Roman"/>
              </a:rPr>
              <a:t>The integration approach ensures reliability, maintainability, and modularity:</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Weight Distribution: </a:t>
            </a:r>
            <a:r>
              <a:rPr lang="en-IN">
                <a:solidFill>
                  <a:schemeClr val="dk1"/>
                </a:solidFill>
                <a:latin typeface="Times New Roman"/>
                <a:ea typeface="Times New Roman"/>
                <a:cs typeface="Times New Roman"/>
                <a:sym typeface="Times New Roman"/>
              </a:rPr>
              <a:t>Balanced fore-aft load improves vehicle handling and minimizes rollover risk.</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Control System: </a:t>
            </a:r>
            <a:r>
              <a:rPr lang="en-IN">
                <a:solidFill>
                  <a:schemeClr val="dk1"/>
                </a:solidFill>
                <a:latin typeface="Times New Roman"/>
                <a:ea typeface="Times New Roman"/>
                <a:cs typeface="Times New Roman"/>
                <a:sym typeface="Times New Roman"/>
              </a:rPr>
              <a:t>Centralized ECU/dashboard console managing motor controllers, BMS, and auxiliary systems.</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Serviceability: </a:t>
            </a:r>
            <a:r>
              <a:rPr lang="en-IN">
                <a:solidFill>
                  <a:schemeClr val="dk1"/>
                </a:solidFill>
                <a:latin typeface="Times New Roman"/>
                <a:ea typeface="Times New Roman"/>
                <a:cs typeface="Times New Roman"/>
                <a:sym typeface="Times New Roman"/>
              </a:rPr>
              <a:t>Modular sub-systems (battery pack, motor, controller) designed for quick-swap maintenance without structural modification.</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Wiring Harness: </a:t>
            </a:r>
            <a:r>
              <a:rPr lang="en-IN">
                <a:solidFill>
                  <a:schemeClr val="dk1"/>
                </a:solidFill>
                <a:latin typeface="Times New Roman"/>
                <a:ea typeface="Times New Roman"/>
                <a:cs typeface="Times New Roman"/>
                <a:sym typeface="Times New Roman"/>
              </a:rPr>
              <a:t>Centralized routing to minimize EMI (Electromagnetic Interference) and ensure fault isolation.</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IN" sz="1600">
                <a:solidFill>
                  <a:schemeClr val="dk1"/>
                </a:solidFill>
                <a:latin typeface="Times New Roman"/>
                <a:ea typeface="Times New Roman"/>
                <a:cs typeface="Times New Roman"/>
                <a:sym typeface="Times New Roman"/>
              </a:rPr>
              <a:t>3.6 Conclusion</a:t>
            </a:r>
            <a:endParaRPr b="1" sz="1600">
              <a:solidFill>
                <a:schemeClr val="dk1"/>
              </a:solidFill>
              <a:latin typeface="Times New Roman"/>
              <a:ea typeface="Times New Roman"/>
              <a:cs typeface="Times New Roman"/>
              <a:sym typeface="Times New Roman"/>
            </a:endParaRPr>
          </a:p>
          <a:p>
            <a:pPr indent="0" lvl="0" marL="0" rtl="0" algn="l">
              <a:spcBef>
                <a:spcPts val="1000"/>
              </a:spcBef>
              <a:spcAft>
                <a:spcPts val="0"/>
              </a:spcAft>
              <a:buNone/>
            </a:pPr>
            <a:r>
              <a:rPr lang="en-IN">
                <a:solidFill>
                  <a:schemeClr val="dk1"/>
                </a:solidFill>
                <a:latin typeface="Times New Roman"/>
                <a:ea typeface="Times New Roman"/>
                <a:cs typeface="Times New Roman"/>
                <a:sym typeface="Times New Roman"/>
              </a:rPr>
              <a:t>The design concept establishes a technically viable, cost-effective, and scalable solution for urban and campus mobility. By optimizing powertrain efficiency, structural layout, and human-centric design, the vehicle bridges the gap between commercial EV platforms and low-cost localized transport solutions in emerging markets.This chapter provides the technical foundation upon which detailed engineering analysis (structural design, powertrain performance, energy management, and cost estimation) will be developed in subsequent chapters.</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817a84c226_0_0"/>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0" name="Google Shape;180;g3817a84c226_0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81" name="Google Shape;181;g3817a84c226_0_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82" name="Google Shape;182;g3817a84c226_0_0"/>
          <p:cNvSpPr txBox="1"/>
          <p:nvPr/>
        </p:nvSpPr>
        <p:spPr>
          <a:xfrm>
            <a:off x="593925" y="1028700"/>
            <a:ext cx="6256800" cy="86607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None/>
            </a:pPr>
            <a:r>
              <a:rPr b="1" lang="en-IN" sz="1800">
                <a:solidFill>
                  <a:schemeClr val="dk1"/>
                </a:solidFill>
                <a:latin typeface="Times New Roman"/>
                <a:ea typeface="Times New Roman"/>
                <a:cs typeface="Times New Roman"/>
                <a:sym typeface="Times New Roman"/>
              </a:rPr>
              <a:t>Chapter 4 – Chassis Design &amp; Material Selection</a:t>
            </a:r>
            <a:endParaRPr sz="16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4.1 Chassis Design Objectives</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chassis serves as the </a:t>
            </a:r>
            <a:r>
              <a:rPr b="1" lang="en-IN">
                <a:solidFill>
                  <a:schemeClr val="dk1"/>
                </a:solidFill>
                <a:latin typeface="Times New Roman"/>
                <a:ea typeface="Times New Roman"/>
                <a:cs typeface="Times New Roman"/>
                <a:sym typeface="Times New Roman"/>
              </a:rPr>
              <a:t>primary structural framework</a:t>
            </a:r>
            <a:r>
              <a:rPr lang="en-IN">
                <a:solidFill>
                  <a:schemeClr val="dk1"/>
                </a:solidFill>
                <a:latin typeface="Times New Roman"/>
                <a:ea typeface="Times New Roman"/>
                <a:cs typeface="Times New Roman"/>
                <a:sym typeface="Times New Roman"/>
              </a:rPr>
              <a:t> of the electric four-wheeler, designed to:</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Support static and dynamic loads (occupants, battery pack, motors, suspension, and steering).</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Provide adequate </a:t>
            </a:r>
            <a:r>
              <a:rPr b="1" lang="en-IN">
                <a:solidFill>
                  <a:schemeClr val="dk1"/>
                </a:solidFill>
                <a:latin typeface="Times New Roman"/>
                <a:ea typeface="Times New Roman"/>
                <a:cs typeface="Times New Roman"/>
                <a:sym typeface="Times New Roman"/>
              </a:rPr>
              <a:t>torsional and bending rigidity</a:t>
            </a:r>
            <a:r>
              <a:rPr lang="en-IN">
                <a:solidFill>
                  <a:schemeClr val="dk1"/>
                </a:solidFill>
                <a:latin typeface="Times New Roman"/>
                <a:ea typeface="Times New Roman"/>
                <a:cs typeface="Times New Roman"/>
                <a:sym typeface="Times New Roman"/>
              </a:rPr>
              <a:t> for safe handling at speeds up to 35 km/h.</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Ensure ease of manufacturability, assembly, and maintenance.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Maintain lightweight construction while meeting </a:t>
            </a:r>
            <a:r>
              <a:rPr b="1" lang="en-IN">
                <a:solidFill>
                  <a:schemeClr val="dk1"/>
                </a:solidFill>
                <a:latin typeface="Times New Roman"/>
                <a:ea typeface="Times New Roman"/>
                <a:cs typeface="Times New Roman"/>
                <a:sym typeface="Times New Roman"/>
              </a:rPr>
              <a:t>strength and safety requirements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sz="1600">
                <a:solidFill>
                  <a:schemeClr val="dk1"/>
                </a:solidFill>
                <a:latin typeface="Times New Roman"/>
                <a:ea typeface="Times New Roman"/>
                <a:cs typeface="Times New Roman"/>
                <a:sym typeface="Times New Roman"/>
              </a:rPr>
              <a:t>4.2 Chassis Configuration</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a:solidFill>
                  <a:schemeClr val="dk1"/>
                </a:solidFill>
                <a:latin typeface="Times New Roman"/>
                <a:ea typeface="Times New Roman"/>
                <a:cs typeface="Times New Roman"/>
                <a:sym typeface="Times New Roman"/>
              </a:rPr>
              <a:t> 1.</a:t>
            </a:r>
            <a:r>
              <a:rPr b="1" lang="en-IN">
                <a:solidFill>
                  <a:schemeClr val="dk1"/>
                </a:solidFill>
                <a:latin typeface="Times New Roman"/>
                <a:ea typeface="Times New Roman"/>
                <a:cs typeface="Times New Roman"/>
                <a:sym typeface="Times New Roman"/>
              </a:rPr>
              <a:t>Frame Type</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Ladder-type chassis constructed using </a:t>
            </a:r>
            <a:r>
              <a:rPr b="1" lang="en-IN">
                <a:solidFill>
                  <a:schemeClr val="dk1"/>
                </a:solidFill>
                <a:latin typeface="Times New Roman"/>
                <a:ea typeface="Times New Roman"/>
                <a:cs typeface="Times New Roman"/>
                <a:sym typeface="Times New Roman"/>
              </a:rPr>
              <a:t>rectangular steel tubing</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Provides a straightforward and cost-effective solution for lightweight EV applications.</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 </a:t>
            </a:r>
            <a:r>
              <a:rPr b="1" lang="en-IN">
                <a:solidFill>
                  <a:schemeClr val="dk1"/>
                </a:solidFill>
                <a:latin typeface="Times New Roman"/>
                <a:ea typeface="Times New Roman"/>
                <a:cs typeface="Times New Roman"/>
                <a:sym typeface="Times New Roman"/>
              </a:rPr>
              <a:t>2</a:t>
            </a:r>
            <a:r>
              <a:rPr b="1" lang="en-IN">
                <a:solidFill>
                  <a:schemeClr val="dk1"/>
                </a:solidFill>
                <a:latin typeface="Times New Roman"/>
                <a:ea typeface="Times New Roman"/>
                <a:cs typeface="Times New Roman"/>
                <a:sym typeface="Times New Roman"/>
              </a:rPr>
              <a:t>.</a:t>
            </a:r>
            <a:r>
              <a:rPr b="1" lang="en-IN">
                <a:solidFill>
                  <a:schemeClr val="dk1"/>
                </a:solidFill>
                <a:latin typeface="Times New Roman"/>
                <a:ea typeface="Times New Roman"/>
                <a:cs typeface="Times New Roman"/>
                <a:sym typeface="Times New Roman"/>
              </a:rPr>
              <a:t>Load Distribution</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Cross-members</a:t>
            </a:r>
            <a:r>
              <a:rPr lang="en-IN">
                <a:solidFill>
                  <a:schemeClr val="dk1"/>
                </a:solidFill>
                <a:latin typeface="Times New Roman"/>
                <a:ea typeface="Times New Roman"/>
                <a:cs typeface="Times New Roman"/>
                <a:sym typeface="Times New Roman"/>
              </a:rPr>
              <a:t> integrated into the frame enhance structural rigidity.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Effectively distribute static and dynamic loads across the chassis to reduce localized stress concentrations.</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 3.Geometric Advantage</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Rectangular tubing offers </a:t>
            </a:r>
            <a:r>
              <a:rPr b="1" lang="en-IN">
                <a:solidFill>
                  <a:schemeClr val="dk1"/>
                </a:solidFill>
                <a:latin typeface="Times New Roman"/>
                <a:ea typeface="Times New Roman"/>
                <a:cs typeface="Times New Roman"/>
                <a:sym typeface="Times New Roman"/>
              </a:rPr>
              <a:t>higher moment of inertia</a:t>
            </a:r>
            <a:r>
              <a:rPr lang="en-IN">
                <a:solidFill>
                  <a:schemeClr val="dk1"/>
                </a:solidFill>
                <a:latin typeface="Times New Roman"/>
                <a:ea typeface="Times New Roman"/>
                <a:cs typeface="Times New Roman"/>
                <a:sym typeface="Times New Roman"/>
              </a:rPr>
              <a:t> than circular or square sections of equal weight.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This improves resistance to </a:t>
            </a:r>
            <a:r>
              <a:rPr b="1" lang="en-IN">
                <a:solidFill>
                  <a:schemeClr val="dk1"/>
                </a:solidFill>
                <a:latin typeface="Times New Roman"/>
                <a:ea typeface="Times New Roman"/>
                <a:cs typeface="Times New Roman"/>
                <a:sym typeface="Times New Roman"/>
              </a:rPr>
              <a:t>bending and torsional stresses</a:t>
            </a:r>
            <a:r>
              <a:rPr lang="en-IN">
                <a:solidFill>
                  <a:schemeClr val="dk1"/>
                </a:solidFill>
                <a:latin typeface="Times New Roman"/>
                <a:ea typeface="Times New Roman"/>
                <a:cs typeface="Times New Roman"/>
                <a:sym typeface="Times New Roman"/>
              </a:rPr>
              <a:t>, ensuring structural stability under varying loads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improved torsional rigidity ensures consistent alignment of suspension and drivetrain components, leading to better handling and durability..</a:t>
            </a:r>
            <a:endParaRPr sz="1100">
              <a:solidFill>
                <a:schemeClr val="dk1"/>
              </a:solidFill>
            </a:endParaRPr>
          </a:p>
          <a:p>
            <a:pPr indent="0" lvl="0" marL="0" rtl="0" algn="l">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4.Suitability</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ladder-frame configuration is </a:t>
            </a:r>
            <a:r>
              <a:rPr b="1" lang="en-IN">
                <a:solidFill>
                  <a:schemeClr val="dk1"/>
                </a:solidFill>
                <a:latin typeface="Times New Roman"/>
                <a:ea typeface="Times New Roman"/>
                <a:cs typeface="Times New Roman"/>
                <a:sym typeface="Times New Roman"/>
              </a:rPr>
              <a:t>economical, easy to fabricate, and repair-friendly</a:t>
            </a:r>
            <a:r>
              <a:rPr lang="en-IN">
                <a:solidFill>
                  <a:schemeClr val="dk1"/>
                </a:solidFill>
                <a:latin typeface="Times New Roman"/>
                <a:ea typeface="Times New Roman"/>
                <a:cs typeface="Times New Roman"/>
                <a:sym typeface="Times New Roman"/>
              </a:rPr>
              <a:t>, making it ideal for prototypes and small-scale EV production.</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It offers sufficient strength for </a:t>
            </a:r>
            <a:r>
              <a:rPr b="1" lang="en-IN">
                <a:solidFill>
                  <a:schemeClr val="dk1"/>
                </a:solidFill>
                <a:latin typeface="Times New Roman"/>
                <a:ea typeface="Times New Roman"/>
                <a:cs typeface="Times New Roman"/>
                <a:sym typeface="Times New Roman"/>
              </a:rPr>
              <a:t>low-speed, lightweight EVs</a:t>
            </a:r>
            <a:r>
              <a:rPr lang="en-IN">
                <a:solidFill>
                  <a:schemeClr val="dk1"/>
                </a:solidFill>
                <a:latin typeface="Times New Roman"/>
                <a:ea typeface="Times New Roman"/>
                <a:cs typeface="Times New Roman"/>
                <a:sym typeface="Times New Roman"/>
              </a:rPr>
              <a:t> where practicality and robustness are prioritized over high-performance dynamics.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design aligns with the project’s goal of </a:t>
            </a:r>
            <a:r>
              <a:rPr b="1" lang="en-IN">
                <a:solidFill>
                  <a:schemeClr val="dk1"/>
                </a:solidFill>
                <a:latin typeface="Times New Roman"/>
                <a:ea typeface="Times New Roman"/>
                <a:cs typeface="Times New Roman"/>
                <a:sym typeface="Times New Roman"/>
              </a:rPr>
              <a:t>simplicity, affordability, and ease of maintenance</a:t>
            </a:r>
            <a:r>
              <a:rPr lang="en-IN">
                <a:solidFill>
                  <a:schemeClr val="dk1"/>
                </a:solidFill>
                <a:latin typeface="Times New Roman"/>
                <a:ea typeface="Times New Roman"/>
                <a:cs typeface="Times New Roman"/>
                <a:sym typeface="Times New Roman"/>
              </a:rPr>
              <a:t>, without compromising on structural safety.</a:t>
            </a:r>
            <a:endParaRPr b="1">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817a84c226_0_11"/>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8" name="Google Shape;188;g3817a84c226_0_1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89" name="Google Shape;189;g3817a84c226_0_1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190" name="Google Shape;190;g3817a84c226_0_11"/>
          <p:cNvSpPr txBox="1"/>
          <p:nvPr/>
        </p:nvSpPr>
        <p:spPr>
          <a:xfrm>
            <a:off x="593925" y="1028700"/>
            <a:ext cx="6256800" cy="30681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800"/>
              </a:spcBef>
              <a:spcAft>
                <a:spcPts val="0"/>
              </a:spcAft>
              <a:buNone/>
            </a:pPr>
            <a:r>
              <a:rPr b="1" lang="en-IN" sz="1600">
                <a:solidFill>
                  <a:schemeClr val="dk1"/>
                </a:solidFill>
                <a:latin typeface="Times New Roman"/>
                <a:ea typeface="Times New Roman"/>
                <a:cs typeface="Times New Roman"/>
                <a:sym typeface="Times New Roman"/>
              </a:rPr>
              <a:t>4.3 Material Selection</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highlight>
                  <a:srgbClr val="FFFFFF"/>
                </a:highlight>
                <a:latin typeface="Times New Roman"/>
                <a:ea typeface="Times New Roman"/>
                <a:cs typeface="Times New Roman"/>
                <a:sym typeface="Times New Roman"/>
              </a:rPr>
              <a:t>Candidate Materials Considered</a:t>
            </a:r>
            <a:endParaRPr b="1">
              <a:solidFill>
                <a:schemeClr val="dk1"/>
              </a:solidFill>
              <a:highlight>
                <a:srgbClr val="FFFFFF"/>
              </a:highlight>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Mild Steel (ERW):</a:t>
            </a:r>
            <a:r>
              <a:rPr lang="en-IN">
                <a:solidFill>
                  <a:schemeClr val="dk1"/>
                </a:solidFill>
                <a:latin typeface="Times New Roman"/>
                <a:ea typeface="Times New Roman"/>
                <a:cs typeface="Times New Roman"/>
                <a:sym typeface="Times New Roman"/>
              </a:rPr>
              <a:t> Strong, cost-effective, easily weldable, widely available.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Aluminum Alloy (6061-T6):</a:t>
            </a:r>
            <a:r>
              <a:rPr lang="en-IN">
                <a:solidFill>
                  <a:schemeClr val="dk1"/>
                </a:solidFill>
                <a:latin typeface="Times New Roman"/>
                <a:ea typeface="Times New Roman"/>
                <a:cs typeface="Times New Roman"/>
                <a:sym typeface="Times New Roman"/>
              </a:rPr>
              <a:t> Lightweight and corrosion-resistant, but more expensive and requires advanced welding processes.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Chromoly Steel (AISI 4130):</a:t>
            </a:r>
            <a:r>
              <a:rPr lang="en-IN">
                <a:solidFill>
                  <a:schemeClr val="dk1"/>
                </a:solidFill>
                <a:latin typeface="Times New Roman"/>
                <a:ea typeface="Times New Roman"/>
                <a:cs typeface="Times New Roman"/>
                <a:sym typeface="Times New Roman"/>
              </a:rPr>
              <a:t> High strength-to-weight ratio, but costly and less accessible for fabrication in small-scale projects.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Final Selection</a:t>
            </a:r>
            <a:endParaRPr b="1">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1200"/>
              </a:spcAft>
              <a:buNone/>
            </a:pPr>
            <a:r>
              <a:rPr lang="en-IN">
                <a:solidFill>
                  <a:schemeClr val="dk1"/>
                </a:solidFill>
                <a:latin typeface="Times New Roman"/>
                <a:ea typeface="Times New Roman"/>
                <a:cs typeface="Times New Roman"/>
                <a:sym typeface="Times New Roman"/>
              </a:rPr>
              <a:t>Mild Steel ERW rectangular tubing (60 × 40 × 3.2 mm) was chosen due to its balance of strength, durability, affordability, and weldability. The selected section offers adequate stiffness to handle expected operational loads while remaining economical.</a:t>
            </a:r>
            <a:endParaRPr b="1" sz="1600">
              <a:solidFill>
                <a:schemeClr val="dk1"/>
              </a:solidFill>
              <a:latin typeface="Times New Roman"/>
              <a:ea typeface="Times New Roman"/>
              <a:cs typeface="Times New Roman"/>
              <a:sym typeface="Times New Roman"/>
            </a:endParaRPr>
          </a:p>
        </p:txBody>
      </p:sp>
      <p:graphicFrame>
        <p:nvGraphicFramePr>
          <p:cNvPr id="191" name="Google Shape;191;g3817a84c226_0_11"/>
          <p:cNvGraphicFramePr/>
          <p:nvPr/>
        </p:nvGraphicFramePr>
        <p:xfrm>
          <a:off x="593913" y="4096800"/>
          <a:ext cx="3000000" cy="3000000"/>
        </p:xfrm>
        <a:graphic>
          <a:graphicData uri="http://schemas.openxmlformats.org/drawingml/2006/table">
            <a:tbl>
              <a:tblPr>
                <a:noFill/>
                <a:tableStyleId>{B1A411FB-B787-4B0C-873D-8BDE20D64C28}</a:tableStyleId>
              </a:tblPr>
              <a:tblGrid>
                <a:gridCol w="1082075"/>
                <a:gridCol w="837200"/>
                <a:gridCol w="964275"/>
                <a:gridCol w="1015800"/>
                <a:gridCol w="804400"/>
                <a:gridCol w="1448975"/>
              </a:tblGrid>
              <a:tr h="85135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Material</a:t>
                      </a:r>
                      <a:endParaRPr b="1">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Density (g/cm³)</a:t>
                      </a:r>
                      <a:endParaRPr b="1">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Yield Strength (MPa)</a:t>
                      </a:r>
                      <a:endParaRPr b="1">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Weldability</a:t>
                      </a:r>
                      <a:endParaRPr b="1">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Cost (₹/kg)</a:t>
                      </a:r>
                      <a:endParaRPr b="1">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Remarks</a:t>
                      </a:r>
                      <a:endParaRPr b="1">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80525">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Mild Steel (ERW)</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7.85</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250–350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Excellent</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45–55</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Selected</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80525">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Aluminum 6061-T6</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2.70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240–310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Moderate</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250–300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Lightweight but costly</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80525">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Chromoly AISI 4130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7.85</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460–560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Good</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200–250</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strength but not cost-effective</a:t>
                      </a:r>
                      <a:endParaRPr>
                        <a:latin typeface="Times New Roman"/>
                        <a:ea typeface="Times New Roman"/>
                        <a:cs typeface="Times New Roman"/>
                        <a:sym typeface="Times New Roman"/>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92" name="Google Shape;192;g3817a84c226_0_11"/>
          <p:cNvSpPr txBox="1"/>
          <p:nvPr/>
        </p:nvSpPr>
        <p:spPr>
          <a:xfrm>
            <a:off x="594050" y="7134675"/>
            <a:ext cx="6404400" cy="28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8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4.4 Structural Analysis Considerations</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chassis is subjected to both static and dynamic loads. These include:</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1.Static Load</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The chassis must support the self-weight of the frame, battery pack, motor, transmission system, and two occupants.</a:t>
            </a:r>
            <a:endParaRPr>
              <a:solidFill>
                <a:schemeClr val="dk1"/>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Load is distributed across the frame, with maximum stress concentrations at joints and mounting point</a:t>
            </a:r>
            <a:r>
              <a:rPr lang="en-IN">
                <a:solidFill>
                  <a:schemeClr val="dk1"/>
                </a:solidFill>
                <a:latin typeface="Times New Roman"/>
                <a:ea typeface="Times New Roman"/>
                <a:cs typeface="Times New Roman"/>
                <a:sym typeface="Times New Roman"/>
              </a:rPr>
              <a:t>s.</a:t>
            </a:r>
            <a:endParaRPr>
              <a:solidFill>
                <a:schemeClr val="dk1"/>
              </a:solidFill>
            </a:endParaRPr>
          </a:p>
          <a:p>
            <a:pPr indent="0" lvl="0" marL="0" rtl="0" algn="l">
              <a:spcBef>
                <a:spcPts val="0"/>
              </a:spcBef>
              <a:spcAft>
                <a:spcPts val="0"/>
              </a:spcAft>
              <a:buNone/>
            </a:pPr>
            <a:r>
              <a:rPr b="1" lang="en-IN">
                <a:solidFill>
                  <a:schemeClr val="dk1"/>
                </a:solidFill>
                <a:latin typeface="Times New Roman"/>
                <a:ea typeface="Times New Roman"/>
                <a:cs typeface="Times New Roman"/>
                <a:sym typeface="Times New Roman"/>
              </a:rPr>
              <a:t>2.Dynamic Load</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During real-world operation, braking, cornering, and uneven terrain introduce additional stresses.These forces are estimated to be 2–2.5 times the static load, which the design must safely withstand</a:t>
            </a:r>
            <a:r>
              <a:rPr lang="en-IN">
                <a:solidFill>
                  <a:schemeClr val="dk1"/>
                </a:solidFill>
              </a:rPr>
              <a:t>.</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8" name="Google Shape;198;p7"/>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199" name="Google Shape;199;p7"/>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00" name="Google Shape;200;p7"/>
          <p:cNvSpPr txBox="1"/>
          <p:nvPr/>
        </p:nvSpPr>
        <p:spPr>
          <a:xfrm>
            <a:off x="593925" y="1028700"/>
            <a:ext cx="6256800" cy="94110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None/>
            </a:pPr>
            <a:r>
              <a:rPr b="1" lang="en-IN">
                <a:solidFill>
                  <a:schemeClr val="dk1"/>
                </a:solidFill>
                <a:latin typeface="Times New Roman"/>
                <a:ea typeface="Times New Roman"/>
                <a:cs typeface="Times New Roman"/>
                <a:sym typeface="Times New Roman"/>
              </a:rPr>
              <a:t>3.Safety Factor</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 design safety factor of 2.0 is applied to account for variations in material properties, welding imperfections, and unpredictable loading conditions.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This ensures the chassis remains structurally reliable under both expected and unforeseen stresses.</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a:solidFill>
                  <a:schemeClr val="dk1"/>
                </a:solidFill>
                <a:latin typeface="Times New Roman"/>
                <a:ea typeface="Times New Roman"/>
                <a:cs typeface="Times New Roman"/>
                <a:sym typeface="Times New Roman"/>
              </a:rPr>
              <a:t>4.Rigidity &amp; Torsional Stiffness</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Cross-bracing and proper load path design enhance torsional rigidity.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Minimizing frame twist during cornering improves handling stability and reduces stress on suspension and drivetrain components.</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4.5 Manufacturing and Assembly</a:t>
            </a:r>
            <a:endParaRPr b="1"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br>
              <a:rPr lang="en-IN" sz="1100">
                <a:solidFill>
                  <a:schemeClr val="dk1"/>
                </a:solidFill>
              </a:rPr>
            </a:br>
            <a:r>
              <a:rPr b="1" lang="en-IN" sz="1600">
                <a:solidFill>
                  <a:schemeClr val="dk1"/>
                </a:solidFill>
                <a:latin typeface="Times New Roman"/>
                <a:ea typeface="Times New Roman"/>
                <a:cs typeface="Times New Roman"/>
                <a:sym typeface="Times New Roman"/>
              </a:rPr>
              <a:t>4.6 Conclusion</a:t>
            </a:r>
            <a:endParaRPr b="1"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IN" sz="1600">
                <a:solidFill>
                  <a:schemeClr val="dk1"/>
                </a:solidFill>
                <a:latin typeface="Times New Roman"/>
                <a:ea typeface="Times New Roman"/>
                <a:cs typeface="Times New Roman"/>
                <a:sym typeface="Times New Roman"/>
              </a:rPr>
              <a:t>The chassis design successfully meets the functional and structural goals of the electric four-wheeler. The ladder-type frame, built using rectangular steel tubing (IS 4923), provides an optimal balance between strength, rigidity, and manufacturability. The integration of cross-members enhances load distribution and minimizes stress concentration, ensuring durability under static and dynamic conditions.</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IN" sz="1600">
                <a:solidFill>
                  <a:schemeClr val="dk1"/>
                </a:solidFill>
                <a:latin typeface="Times New Roman"/>
                <a:ea typeface="Times New Roman"/>
                <a:cs typeface="Times New Roman"/>
                <a:sym typeface="Times New Roman"/>
              </a:rPr>
              <a:t>By prioritizing lightweight construction, ease of fabrication, and cost efficiency, the design aligns with the project’s sustainable and practical approach. The chosen configuration not only supports efficient component placement—battery, suspension, and drivetrain—but also simplifies future maintenance and scaling for small-scale EV production.</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600">
              <a:solidFill>
                <a:schemeClr val="dk1"/>
              </a:solidFill>
              <a:latin typeface="Times New Roman"/>
              <a:ea typeface="Times New Roman"/>
              <a:cs typeface="Times New Roman"/>
              <a:sym typeface="Times New Roman"/>
            </a:endParaRPr>
          </a:p>
        </p:txBody>
      </p:sp>
      <p:pic>
        <p:nvPicPr>
          <p:cNvPr id="201" name="Google Shape;201;p7"/>
          <p:cNvPicPr preferRelativeResize="0"/>
          <p:nvPr/>
        </p:nvPicPr>
        <p:blipFill>
          <a:blip r:embed="rId4">
            <a:alphaModFix/>
          </a:blip>
          <a:stretch>
            <a:fillRect/>
          </a:stretch>
        </p:blipFill>
        <p:spPr>
          <a:xfrm>
            <a:off x="786048" y="3635425"/>
            <a:ext cx="1215900" cy="2702000"/>
          </a:xfrm>
          <a:prstGeom prst="rect">
            <a:avLst/>
          </a:prstGeom>
          <a:solidFill>
            <a:schemeClr val="lt1"/>
          </a:solidFill>
          <a:ln cap="flat" cmpd="sng" w="25400">
            <a:solidFill>
              <a:schemeClr val="dk1"/>
            </a:solidFill>
            <a:prstDash val="solid"/>
            <a:round/>
            <a:headEnd len="sm" w="sm" type="none"/>
            <a:tailEnd len="sm" w="sm" type="none"/>
          </a:ln>
        </p:spPr>
      </p:pic>
      <p:pic>
        <p:nvPicPr>
          <p:cNvPr id="202" name="Google Shape;202;p7"/>
          <p:cNvPicPr preferRelativeResize="0"/>
          <p:nvPr/>
        </p:nvPicPr>
        <p:blipFill rotWithShape="1">
          <a:blip r:embed="rId5">
            <a:alphaModFix/>
          </a:blip>
          <a:srcRect b="0" l="9538" r="10710" t="0"/>
          <a:stretch/>
        </p:blipFill>
        <p:spPr>
          <a:xfrm>
            <a:off x="2083825" y="3635425"/>
            <a:ext cx="2616024" cy="1467925"/>
          </a:xfrm>
          <a:prstGeom prst="rect">
            <a:avLst/>
          </a:prstGeom>
          <a:solidFill>
            <a:schemeClr val="lt1"/>
          </a:solidFill>
          <a:ln cap="flat" cmpd="sng" w="25400">
            <a:solidFill>
              <a:schemeClr val="dk1"/>
            </a:solidFill>
            <a:prstDash val="solid"/>
            <a:round/>
            <a:headEnd len="sm" w="sm" type="none"/>
            <a:tailEnd len="sm" w="sm" type="none"/>
          </a:ln>
        </p:spPr>
      </p:pic>
      <p:pic>
        <p:nvPicPr>
          <p:cNvPr id="203" name="Google Shape;203;p7"/>
          <p:cNvPicPr preferRelativeResize="0"/>
          <p:nvPr/>
        </p:nvPicPr>
        <p:blipFill>
          <a:blip r:embed="rId6">
            <a:alphaModFix/>
          </a:blip>
          <a:stretch>
            <a:fillRect/>
          </a:stretch>
        </p:blipFill>
        <p:spPr>
          <a:xfrm>
            <a:off x="4863625" y="3635425"/>
            <a:ext cx="1665175" cy="2960301"/>
          </a:xfrm>
          <a:prstGeom prst="rect">
            <a:avLst/>
          </a:prstGeom>
          <a:solidFill>
            <a:schemeClr val="lt1"/>
          </a:solidFill>
          <a:ln cap="flat" cmpd="sng" w="25400">
            <a:solidFill>
              <a:schemeClr val="dk1"/>
            </a:solidFill>
            <a:prstDash val="solid"/>
            <a:round/>
            <a:headEnd len="sm" w="sm" type="none"/>
            <a:tailEnd len="sm" w="sm" type="none"/>
          </a:ln>
        </p:spPr>
      </p:pic>
      <p:pic>
        <p:nvPicPr>
          <p:cNvPr id="204" name="Google Shape;204;p7"/>
          <p:cNvPicPr preferRelativeResize="0"/>
          <p:nvPr/>
        </p:nvPicPr>
        <p:blipFill rotWithShape="1">
          <a:blip r:embed="rId7">
            <a:alphaModFix/>
          </a:blip>
          <a:srcRect b="51088" l="0" r="0" t="17363"/>
          <a:stretch/>
        </p:blipFill>
        <p:spPr>
          <a:xfrm>
            <a:off x="2192312" y="5250250"/>
            <a:ext cx="2399051" cy="1345475"/>
          </a:xfrm>
          <a:prstGeom prst="rect">
            <a:avLst/>
          </a:prstGeom>
          <a:solidFill>
            <a:schemeClr val="lt1"/>
          </a:solidFill>
          <a:ln cap="flat" cmpd="sng" w="25400">
            <a:solidFill>
              <a:schemeClr val="dk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818763dad8_0_0"/>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10" name="Google Shape;210;g3818763dad8_0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11" name="Google Shape;211;g3818763dad8_0_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12" name="Google Shape;212;g3818763dad8_0_0"/>
          <p:cNvSpPr txBox="1"/>
          <p:nvPr/>
        </p:nvSpPr>
        <p:spPr>
          <a:xfrm>
            <a:off x="593925" y="1028700"/>
            <a:ext cx="6256800" cy="93483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2400"/>
              </a:spcBef>
              <a:spcAft>
                <a:spcPts val="0"/>
              </a:spcAft>
              <a:buClr>
                <a:schemeClr val="dk1"/>
              </a:buClr>
              <a:buSzPts val="1100"/>
              <a:buFont typeface="Arial"/>
              <a:buNone/>
            </a:pPr>
            <a:r>
              <a:rPr b="1" lang="en-IN" sz="2300">
                <a:solidFill>
                  <a:schemeClr val="dk1"/>
                </a:solidFill>
                <a:latin typeface="Times New Roman"/>
                <a:ea typeface="Times New Roman"/>
                <a:cs typeface="Times New Roman"/>
                <a:sym typeface="Times New Roman"/>
              </a:rPr>
              <a:t>Chapter 5 – Suspension System</a:t>
            </a:r>
            <a:endParaRPr b="1" sz="23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5.1 Overview</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suspension system is one of the most critical subsystems in an electric four-wheeler, directly influencing </a:t>
            </a:r>
            <a:r>
              <a:rPr b="1" lang="en-IN">
                <a:solidFill>
                  <a:schemeClr val="dk1"/>
                </a:solidFill>
                <a:latin typeface="Times New Roman"/>
                <a:ea typeface="Times New Roman"/>
                <a:cs typeface="Times New Roman"/>
                <a:sym typeface="Times New Roman"/>
              </a:rPr>
              <a:t>ride comfort, handling stability, and structural durability</a:t>
            </a:r>
            <a:r>
              <a:rPr lang="en-IN">
                <a:solidFill>
                  <a:schemeClr val="dk1"/>
                </a:solidFill>
                <a:latin typeface="Times New Roman"/>
                <a:ea typeface="Times New Roman"/>
                <a:cs typeface="Times New Roman"/>
                <a:sym typeface="Times New Roman"/>
              </a:rPr>
              <a:t>. It isolates the chassis and occupants from road irregularities while ensuring continuous contact between the tires and the road surface.</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For this vehicle, a </a:t>
            </a:r>
            <a:r>
              <a:rPr b="1" lang="en-IN">
                <a:solidFill>
                  <a:schemeClr val="dk1"/>
                </a:solidFill>
                <a:latin typeface="Times New Roman"/>
                <a:ea typeface="Times New Roman"/>
                <a:cs typeface="Times New Roman"/>
                <a:sym typeface="Times New Roman"/>
              </a:rPr>
              <a:t>hybrid suspension approach</a:t>
            </a:r>
            <a:r>
              <a:rPr lang="en-IN">
                <a:solidFill>
                  <a:schemeClr val="dk1"/>
                </a:solidFill>
                <a:latin typeface="Times New Roman"/>
                <a:ea typeface="Times New Roman"/>
                <a:cs typeface="Times New Roman"/>
                <a:sym typeface="Times New Roman"/>
              </a:rPr>
              <a:t> has been adopted:</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Front Suspension:</a:t>
            </a:r>
            <a:r>
              <a:rPr lang="en-IN">
                <a:solidFill>
                  <a:schemeClr val="dk1"/>
                </a:solidFill>
                <a:latin typeface="Times New Roman"/>
                <a:ea typeface="Times New Roman"/>
                <a:cs typeface="Times New Roman"/>
                <a:sym typeface="Times New Roman"/>
              </a:rPr>
              <a:t> Semi-elliptical multi-leaf spring system – chosen for its </a:t>
            </a:r>
            <a:r>
              <a:rPr b="1" lang="en-IN">
                <a:solidFill>
                  <a:schemeClr val="dk1"/>
                </a:solidFill>
                <a:latin typeface="Times New Roman"/>
                <a:ea typeface="Times New Roman"/>
                <a:cs typeface="Times New Roman"/>
                <a:sym typeface="Times New Roman"/>
              </a:rPr>
              <a:t>robustness, load-carrying capability, and durability</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Rear Suspension:</a:t>
            </a:r>
            <a:r>
              <a:rPr lang="en-IN">
                <a:solidFill>
                  <a:schemeClr val="dk1"/>
                </a:solidFill>
                <a:latin typeface="Times New Roman"/>
                <a:ea typeface="Times New Roman"/>
                <a:cs typeface="Times New Roman"/>
                <a:sym typeface="Times New Roman"/>
              </a:rPr>
              <a:t> Monoshock coil-over suspension – selected to provide </a:t>
            </a:r>
            <a:r>
              <a:rPr b="1" lang="en-IN">
                <a:solidFill>
                  <a:schemeClr val="dk1"/>
                </a:solidFill>
                <a:latin typeface="Times New Roman"/>
                <a:ea typeface="Times New Roman"/>
                <a:cs typeface="Times New Roman"/>
                <a:sym typeface="Times New Roman"/>
              </a:rPr>
              <a:t>superior ride comfort, compactness, and effective damping</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This configuration achieves a balance between </a:t>
            </a:r>
            <a:r>
              <a:rPr b="1" lang="en-IN">
                <a:solidFill>
                  <a:schemeClr val="dk1"/>
                </a:solidFill>
                <a:latin typeface="Times New Roman"/>
                <a:ea typeface="Times New Roman"/>
                <a:cs typeface="Times New Roman"/>
                <a:sym typeface="Times New Roman"/>
              </a:rPr>
              <a:t>strength at the front</a:t>
            </a:r>
            <a:r>
              <a:rPr lang="en-IN">
                <a:solidFill>
                  <a:schemeClr val="dk1"/>
                </a:solidFill>
                <a:latin typeface="Times New Roman"/>
                <a:ea typeface="Times New Roman"/>
                <a:cs typeface="Times New Roman"/>
                <a:sym typeface="Times New Roman"/>
              </a:rPr>
              <a:t> (where major loads such as steering and braking forces act) and </a:t>
            </a:r>
            <a:r>
              <a:rPr b="1" lang="en-IN">
                <a:solidFill>
                  <a:schemeClr val="dk1"/>
                </a:solidFill>
                <a:latin typeface="Times New Roman"/>
                <a:ea typeface="Times New Roman"/>
                <a:cs typeface="Times New Roman"/>
                <a:sym typeface="Times New Roman"/>
              </a:rPr>
              <a:t>comfort at the rear</a:t>
            </a:r>
            <a:r>
              <a:rPr lang="en-IN">
                <a:solidFill>
                  <a:schemeClr val="dk1"/>
                </a:solidFill>
                <a:latin typeface="Times New Roman"/>
                <a:ea typeface="Times New Roman"/>
                <a:cs typeface="Times New Roman"/>
                <a:sym typeface="Times New Roman"/>
              </a:rPr>
              <a:t> (where passenger comfort is prioritized).</a:t>
            </a:r>
            <a:endParaRPr>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b="1" lang="en-IN" sz="1700">
                <a:solidFill>
                  <a:schemeClr val="dk1"/>
                </a:solidFill>
                <a:latin typeface="Times New Roman"/>
                <a:ea typeface="Times New Roman"/>
                <a:cs typeface="Times New Roman"/>
                <a:sym typeface="Times New Roman"/>
              </a:rPr>
              <a:t>5.2 Front Suspension – Leaf Spring System</a:t>
            </a:r>
            <a:endParaRPr b="1" sz="17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Type:</a:t>
            </a:r>
            <a:r>
              <a:rPr lang="en-IN">
                <a:solidFill>
                  <a:schemeClr val="dk1"/>
                </a:solidFill>
                <a:latin typeface="Times New Roman"/>
                <a:ea typeface="Times New Roman"/>
                <a:cs typeface="Times New Roman"/>
                <a:sym typeface="Times New Roman"/>
              </a:rPr>
              <a:t> Semi-elliptical multi-leaf spring</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Primary Role:</a:t>
            </a:r>
            <a:r>
              <a:rPr lang="en-IN">
                <a:solidFill>
                  <a:schemeClr val="dk1"/>
                </a:solidFill>
                <a:latin typeface="Times New Roman"/>
                <a:ea typeface="Times New Roman"/>
                <a:cs typeface="Times New Roman"/>
                <a:sym typeface="Times New Roman"/>
              </a:rPr>
              <a:t> To sustain </a:t>
            </a:r>
            <a:r>
              <a:rPr b="1" lang="en-IN">
                <a:solidFill>
                  <a:schemeClr val="dk1"/>
                </a:solidFill>
                <a:latin typeface="Times New Roman"/>
                <a:ea typeface="Times New Roman"/>
                <a:cs typeface="Times New Roman"/>
                <a:sym typeface="Times New Roman"/>
              </a:rPr>
              <a:t>static and dynamic loads at the front axle</a:t>
            </a:r>
            <a:r>
              <a:rPr lang="en-IN">
                <a:solidFill>
                  <a:schemeClr val="dk1"/>
                </a:solidFill>
                <a:latin typeface="Times New Roman"/>
                <a:ea typeface="Times New Roman"/>
                <a:cs typeface="Times New Roman"/>
                <a:sym typeface="Times New Roman"/>
              </a:rPr>
              <a:t> while ensuring stability during steering and braking.</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Key Technical Features</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Robust Load Support:</a:t>
            </a:r>
            <a:r>
              <a:rPr lang="en-IN">
                <a:solidFill>
                  <a:schemeClr val="dk1"/>
                </a:solidFill>
                <a:latin typeface="Times New Roman"/>
                <a:ea typeface="Times New Roman"/>
                <a:cs typeface="Times New Roman"/>
                <a:sym typeface="Times New Roman"/>
              </a:rPr>
              <a:t> The multiple steel leaves work together to distribute stresses and carry higher loads effectively.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Damping by Friction:</a:t>
            </a:r>
            <a:r>
              <a:rPr lang="en-IN">
                <a:solidFill>
                  <a:schemeClr val="dk1"/>
                </a:solidFill>
                <a:latin typeface="Times New Roman"/>
                <a:ea typeface="Times New Roman"/>
                <a:cs typeface="Times New Roman"/>
                <a:sym typeface="Times New Roman"/>
              </a:rPr>
              <a:t> Inter-leaf friction provides an inherent damping effect, reducing excessive oscillations.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Simple &amp; Proven Design:</a:t>
            </a:r>
            <a:r>
              <a:rPr lang="en-IN">
                <a:solidFill>
                  <a:schemeClr val="dk1"/>
                </a:solidFill>
                <a:latin typeface="Times New Roman"/>
                <a:ea typeface="Times New Roman"/>
                <a:cs typeface="Times New Roman"/>
                <a:sym typeface="Times New Roman"/>
              </a:rPr>
              <a:t> Widely used in light commercial vehicles, ensuring reliability under varying road conditions.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Components</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Leaf Spring Pack:</a:t>
            </a:r>
            <a:r>
              <a:rPr lang="en-IN">
                <a:solidFill>
                  <a:schemeClr val="dk1"/>
                </a:solidFill>
                <a:latin typeface="Times New Roman"/>
                <a:ea typeface="Times New Roman"/>
                <a:cs typeface="Times New Roman"/>
                <a:sym typeface="Times New Roman"/>
              </a:rPr>
              <a:t> A stack of graduated steel leaves forming the semi-elliptical profile.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Eye Bolts &amp; Shackles:</a:t>
            </a:r>
            <a:r>
              <a:rPr lang="en-IN">
                <a:solidFill>
                  <a:schemeClr val="dk1"/>
                </a:solidFill>
                <a:latin typeface="Times New Roman"/>
                <a:ea typeface="Times New Roman"/>
                <a:cs typeface="Times New Roman"/>
                <a:sym typeface="Times New Roman"/>
              </a:rPr>
              <a:t> Allow flexibility and controlled elongation of the spring during deflection.</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Brackets &amp; Clamps:</a:t>
            </a:r>
            <a:r>
              <a:rPr lang="en-IN">
                <a:solidFill>
                  <a:schemeClr val="dk1"/>
                </a:solidFill>
                <a:latin typeface="Times New Roman"/>
                <a:ea typeface="Times New Roman"/>
                <a:cs typeface="Times New Roman"/>
                <a:sym typeface="Times New Roman"/>
              </a:rPr>
              <a:t> Secure the leaf pack to the axle and chassis.</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818763dad8_0_19"/>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18" name="Google Shape;218;g3818763dad8_0_19"/>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19" name="Google Shape;219;g3818763dad8_0_19"/>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20" name="Google Shape;220;g3818763dad8_0_19"/>
          <p:cNvSpPr txBox="1"/>
          <p:nvPr/>
        </p:nvSpPr>
        <p:spPr>
          <a:xfrm>
            <a:off x="593925" y="1028700"/>
            <a:ext cx="6256800" cy="88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Advantages </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High load-bearing capacity, making it ideal for </a:t>
            </a:r>
            <a:r>
              <a:rPr b="1" lang="en-IN">
                <a:solidFill>
                  <a:schemeClr val="dk1"/>
                </a:solidFill>
                <a:latin typeface="Times New Roman"/>
                <a:ea typeface="Times New Roman"/>
                <a:cs typeface="Times New Roman"/>
                <a:sym typeface="Times New Roman"/>
              </a:rPr>
              <a:t>front-end weight distribution</a:t>
            </a:r>
            <a:r>
              <a:rPr lang="en-IN">
                <a:solidFill>
                  <a:schemeClr val="dk1"/>
                </a:solidFill>
                <a:latin typeface="Times New Roman"/>
                <a:ea typeface="Times New Roman"/>
                <a:cs typeface="Times New Roman"/>
                <a:sym typeface="Times New Roman"/>
              </a:rPr>
              <a:t> (motor + steering system).</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Minimal maintenance and high durability</a:t>
            </a:r>
            <a:r>
              <a:rPr lang="en-IN">
                <a:solidFill>
                  <a:schemeClr val="dk1"/>
                </a:solidFill>
                <a:latin typeface="Times New Roman"/>
                <a:ea typeface="Times New Roman"/>
                <a:cs typeface="Times New Roman"/>
                <a:sym typeface="Times New Roman"/>
              </a:rPr>
              <a:t>, suitable for an entry-level electric vehicle.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Effective performance on </a:t>
            </a:r>
            <a:r>
              <a:rPr b="1" lang="en-IN">
                <a:solidFill>
                  <a:schemeClr val="dk1"/>
                </a:solidFill>
                <a:latin typeface="Times New Roman"/>
                <a:ea typeface="Times New Roman"/>
                <a:cs typeface="Times New Roman"/>
                <a:sym typeface="Times New Roman"/>
              </a:rPr>
              <a:t>uneven and semi-urban roads</a:t>
            </a:r>
            <a:r>
              <a:rPr lang="en-IN">
                <a:solidFill>
                  <a:schemeClr val="dk1"/>
                </a:solidFill>
                <a:latin typeface="Times New Roman"/>
                <a:ea typeface="Times New Roman"/>
                <a:cs typeface="Times New Roman"/>
                <a:sym typeface="Times New Roman"/>
              </a:rPr>
              <a:t>, ensuring reliability in practical use cases.2</a:t>
            </a:r>
            <a:endParaRPr b="1" sz="23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None/>
            </a:pPr>
            <a:r>
              <a:rPr b="1" lang="en-IN" sz="1600">
                <a:solidFill>
                  <a:schemeClr val="dk1"/>
                </a:solidFill>
                <a:latin typeface="Times New Roman"/>
                <a:ea typeface="Times New Roman"/>
                <a:cs typeface="Times New Roman"/>
                <a:sym typeface="Times New Roman"/>
              </a:rPr>
              <a:t>5.3 Rear Suspension – Monoshock Coil-over Suspension</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a:solidFill>
                  <a:schemeClr val="dk1"/>
                </a:solidFill>
                <a:latin typeface="Times New Roman"/>
                <a:ea typeface="Times New Roman"/>
                <a:cs typeface="Times New Roman"/>
                <a:sym typeface="Times New Roman"/>
              </a:rPr>
              <a:t>Type:</a:t>
            </a:r>
            <a:r>
              <a:rPr lang="en-IN">
                <a:solidFill>
                  <a:schemeClr val="dk1"/>
                </a:solidFill>
                <a:latin typeface="Times New Roman"/>
                <a:ea typeface="Times New Roman"/>
                <a:cs typeface="Times New Roman"/>
                <a:sym typeface="Times New Roman"/>
              </a:rPr>
              <a:t> Single monoshock with coil spring and hydraulic damper (coil-over).</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IN">
                <a:solidFill>
                  <a:schemeClr val="dk1"/>
                </a:solidFill>
                <a:latin typeface="Times New Roman"/>
                <a:ea typeface="Times New Roman"/>
                <a:cs typeface="Times New Roman"/>
                <a:sym typeface="Times New Roman"/>
              </a:rPr>
              <a:t>Primary Role:</a:t>
            </a:r>
            <a:r>
              <a:rPr lang="en-IN">
                <a:solidFill>
                  <a:schemeClr val="dk1"/>
                </a:solidFill>
                <a:latin typeface="Times New Roman"/>
                <a:ea typeface="Times New Roman"/>
                <a:cs typeface="Times New Roman"/>
                <a:sym typeface="Times New Roman"/>
              </a:rPr>
              <a:t> To provide </a:t>
            </a:r>
            <a:r>
              <a:rPr b="1" lang="en-IN">
                <a:solidFill>
                  <a:schemeClr val="dk1"/>
                </a:solidFill>
                <a:latin typeface="Times New Roman"/>
                <a:ea typeface="Times New Roman"/>
                <a:cs typeface="Times New Roman"/>
                <a:sym typeface="Times New Roman"/>
              </a:rPr>
              <a:t>ride comfort and vibration damping</a:t>
            </a:r>
            <a:r>
              <a:rPr lang="en-IN">
                <a:solidFill>
                  <a:schemeClr val="dk1"/>
                </a:solidFill>
                <a:latin typeface="Times New Roman"/>
                <a:ea typeface="Times New Roman"/>
                <a:cs typeface="Times New Roman"/>
                <a:sym typeface="Times New Roman"/>
              </a:rPr>
              <a:t> for the rear wheels, improving overall vehicle stability and passenger comfort.</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Key Technical Features</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Central Monoshock Layout:</a:t>
            </a:r>
            <a:r>
              <a:rPr lang="en-IN">
                <a:solidFill>
                  <a:schemeClr val="dk1"/>
                </a:solidFill>
                <a:latin typeface="Times New Roman"/>
                <a:ea typeface="Times New Roman"/>
                <a:cs typeface="Times New Roman"/>
                <a:sym typeface="Times New Roman"/>
              </a:rPr>
              <a:t> Occupies less space and ensures uniform load distribution on the rear chassis.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Integrated Coil-over Unit:</a:t>
            </a:r>
            <a:r>
              <a:rPr lang="en-IN">
                <a:solidFill>
                  <a:schemeClr val="dk1"/>
                </a:solidFill>
                <a:latin typeface="Times New Roman"/>
                <a:ea typeface="Times New Roman"/>
                <a:cs typeface="Times New Roman"/>
                <a:sym typeface="Times New Roman"/>
              </a:rPr>
              <a:t> Combines stiffness (spring) and damping (shock absorber) into a single compact system.</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Adjustability:</a:t>
            </a:r>
            <a:r>
              <a:rPr lang="en-IN">
                <a:solidFill>
                  <a:schemeClr val="dk1"/>
                </a:solidFill>
                <a:latin typeface="Times New Roman"/>
                <a:ea typeface="Times New Roman"/>
                <a:cs typeface="Times New Roman"/>
                <a:sym typeface="Times New Roman"/>
              </a:rPr>
              <a:t> Preload settings allow tuning suspension stiffness depending on passenger load and road conditions.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a:solidFill>
                  <a:schemeClr val="dk1"/>
                </a:solidFill>
                <a:latin typeface="Times New Roman"/>
                <a:ea typeface="Times New Roman"/>
                <a:cs typeface="Times New Roman"/>
                <a:sym typeface="Times New Roman"/>
              </a:rPr>
              <a:t>Advantages </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Ensures </a:t>
            </a:r>
            <a:r>
              <a:rPr b="1" lang="en-IN">
                <a:solidFill>
                  <a:schemeClr val="dk1"/>
                </a:solidFill>
                <a:latin typeface="Times New Roman"/>
                <a:ea typeface="Times New Roman"/>
                <a:cs typeface="Times New Roman"/>
                <a:sym typeface="Times New Roman"/>
              </a:rPr>
              <a:t>smooth ride quality</a:t>
            </a:r>
            <a:r>
              <a:rPr lang="en-IN">
                <a:solidFill>
                  <a:schemeClr val="dk1"/>
                </a:solidFill>
                <a:latin typeface="Times New Roman"/>
                <a:ea typeface="Times New Roman"/>
                <a:cs typeface="Times New Roman"/>
                <a:sym typeface="Times New Roman"/>
              </a:rPr>
              <a:t>, critical for lightweight EVs aimed at commuting.</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Enhances </a:t>
            </a:r>
            <a:r>
              <a:rPr b="1" lang="en-IN">
                <a:solidFill>
                  <a:schemeClr val="dk1"/>
                </a:solidFill>
                <a:latin typeface="Times New Roman"/>
                <a:ea typeface="Times New Roman"/>
                <a:cs typeface="Times New Roman"/>
                <a:sym typeface="Times New Roman"/>
              </a:rPr>
              <a:t>handling and cornering stability</a:t>
            </a:r>
            <a:r>
              <a:rPr lang="en-IN">
                <a:solidFill>
                  <a:schemeClr val="dk1"/>
                </a:solidFill>
                <a:latin typeface="Times New Roman"/>
                <a:ea typeface="Times New Roman"/>
                <a:cs typeface="Times New Roman"/>
                <a:sym typeface="Times New Roman"/>
              </a:rPr>
              <a:t>, even at varying speeds.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More </a:t>
            </a:r>
            <a:r>
              <a:rPr b="1" lang="en-IN">
                <a:solidFill>
                  <a:schemeClr val="dk1"/>
                </a:solidFill>
                <a:latin typeface="Times New Roman"/>
                <a:ea typeface="Times New Roman"/>
                <a:cs typeface="Times New Roman"/>
                <a:sym typeface="Times New Roman"/>
              </a:rPr>
              <a:t>compact and lightweight</a:t>
            </a:r>
            <a:r>
              <a:rPr lang="en-IN">
                <a:solidFill>
                  <a:schemeClr val="dk1"/>
                </a:solidFill>
                <a:latin typeface="Times New Roman"/>
                <a:ea typeface="Times New Roman"/>
                <a:cs typeface="Times New Roman"/>
                <a:sym typeface="Times New Roman"/>
              </a:rPr>
              <a:t> compared to twin-shock systems, aligning with EV goals of reducing weight and increasing efficiency.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5.4 Design Considerations</a:t>
            </a:r>
            <a:endParaRPr b="1" sz="1600">
              <a:solidFill>
                <a:schemeClr val="dk1"/>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Load Capacity:</a:t>
            </a:r>
            <a:r>
              <a:rPr lang="en-IN">
                <a:solidFill>
                  <a:schemeClr val="dk1"/>
                </a:solidFill>
                <a:latin typeface="Times New Roman"/>
                <a:ea typeface="Times New Roman"/>
                <a:cs typeface="Times New Roman"/>
                <a:sym typeface="Times New Roman"/>
              </a:rPr>
              <a:t> Both suspension systems are designed to withstand the </a:t>
            </a:r>
            <a:r>
              <a:rPr b="1" lang="en-IN">
                <a:solidFill>
                  <a:schemeClr val="dk1"/>
                </a:solidFill>
                <a:latin typeface="Times New Roman"/>
                <a:ea typeface="Times New Roman"/>
                <a:cs typeface="Times New Roman"/>
                <a:sym typeface="Times New Roman"/>
              </a:rPr>
              <a:t>maximum payload</a:t>
            </a:r>
            <a:r>
              <a:rPr lang="en-IN">
                <a:solidFill>
                  <a:schemeClr val="dk1"/>
                </a:solidFill>
                <a:latin typeface="Times New Roman"/>
                <a:ea typeface="Times New Roman"/>
                <a:cs typeface="Times New Roman"/>
                <a:sym typeface="Times New Roman"/>
              </a:rPr>
              <a:t>, including driver, passenger, battery pack, and auxiliary components.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Ride Comfort:</a:t>
            </a:r>
            <a:r>
              <a:rPr lang="en-IN">
                <a:solidFill>
                  <a:schemeClr val="dk1"/>
                </a:solidFill>
                <a:latin typeface="Times New Roman"/>
                <a:ea typeface="Times New Roman"/>
                <a:cs typeface="Times New Roman"/>
                <a:sym typeface="Times New Roman"/>
              </a:rPr>
              <a:t> Spring stiffness and damping coefficients are tuned to avoid excessive vibrations while preventing bottoming out.</a:t>
            </a:r>
            <a:br>
              <a:rPr lang="en-IN">
                <a:solidFill>
                  <a:schemeClr val="dk1"/>
                </a:solidFill>
                <a:latin typeface="Times New Roman"/>
                <a:ea typeface="Times New Roman"/>
                <a:cs typeface="Times New Roman"/>
                <a:sym typeface="Times New Roman"/>
              </a:rPr>
            </a:br>
            <a:r>
              <a:rPr b="1" lang="en-IN">
                <a:solidFill>
                  <a:schemeClr val="dk1"/>
                </a:solidFill>
                <a:latin typeface="Times New Roman"/>
                <a:ea typeface="Times New Roman"/>
                <a:cs typeface="Times New Roman"/>
                <a:sym typeface="Times New Roman"/>
              </a:rPr>
              <a:t>Safety Factor:</a:t>
            </a:r>
            <a:r>
              <a:rPr lang="en-IN">
                <a:solidFill>
                  <a:schemeClr val="dk1"/>
                </a:solidFill>
                <a:latin typeface="Times New Roman"/>
                <a:ea typeface="Times New Roman"/>
                <a:cs typeface="Times New Roman"/>
                <a:sym typeface="Times New Roman"/>
              </a:rPr>
              <a:t> A factor of </a:t>
            </a:r>
            <a:r>
              <a:rPr b="1" lang="en-IN">
                <a:solidFill>
                  <a:schemeClr val="dk1"/>
                </a:solidFill>
                <a:latin typeface="Times New Roman"/>
                <a:ea typeface="Times New Roman"/>
                <a:cs typeface="Times New Roman"/>
                <a:sym typeface="Times New Roman"/>
              </a:rPr>
              <a:t>2.0</a:t>
            </a:r>
            <a:r>
              <a:rPr lang="en-IN">
                <a:solidFill>
                  <a:schemeClr val="dk1"/>
                </a:solidFill>
                <a:latin typeface="Times New Roman"/>
                <a:ea typeface="Times New Roman"/>
                <a:cs typeface="Times New Roman"/>
                <a:sym typeface="Times New Roman"/>
              </a:rPr>
              <a:t> is applied to account for unexpected load surges and dynamic conditions like braking or pothole impacts.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Durability:</a:t>
            </a:r>
            <a:r>
              <a:rPr lang="en-IN">
                <a:solidFill>
                  <a:schemeClr val="dk1"/>
                </a:solidFill>
                <a:latin typeface="Times New Roman"/>
                <a:ea typeface="Times New Roman"/>
                <a:cs typeface="Times New Roman"/>
                <a:sym typeface="Times New Roman"/>
              </a:rPr>
              <a:t> Designed for long-term fatigue life, ensuring reliable operation over repeated cycles of loading and unloading.</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818763dad8_0_29"/>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26" name="Google Shape;226;g3818763dad8_0_29"/>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27" name="Google Shape;227;g3818763dad8_0_29"/>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28" name="Google Shape;228;g3818763dad8_0_29"/>
          <p:cNvSpPr txBox="1"/>
          <p:nvPr/>
        </p:nvSpPr>
        <p:spPr>
          <a:xfrm>
            <a:off x="593925" y="1028700"/>
            <a:ext cx="6256800" cy="9577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8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5.5 Why This Suspension Configuration?</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chosen suspension setup reflects a carefully engineered </a:t>
            </a:r>
            <a:r>
              <a:rPr b="1" lang="en-IN">
                <a:solidFill>
                  <a:schemeClr val="dk1"/>
                </a:solidFill>
                <a:latin typeface="Times New Roman"/>
                <a:ea typeface="Times New Roman"/>
                <a:cs typeface="Times New Roman"/>
                <a:sym typeface="Times New Roman"/>
              </a:rPr>
              <a:t>balance between robustness, durability, and comfort</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a:t>
            </a:r>
            <a:r>
              <a:rPr b="1" lang="en-IN">
                <a:solidFill>
                  <a:schemeClr val="dk1"/>
                </a:solidFill>
                <a:latin typeface="Times New Roman"/>
                <a:ea typeface="Times New Roman"/>
                <a:cs typeface="Times New Roman"/>
                <a:sym typeface="Times New Roman"/>
              </a:rPr>
              <a:t>front leaf spring system</a:t>
            </a:r>
            <a:r>
              <a:rPr lang="en-IN">
                <a:solidFill>
                  <a:schemeClr val="dk1"/>
                </a:solidFill>
                <a:latin typeface="Times New Roman"/>
                <a:ea typeface="Times New Roman"/>
                <a:cs typeface="Times New Roman"/>
                <a:sym typeface="Times New Roman"/>
              </a:rPr>
              <a:t> ensures the chassis can </a:t>
            </a:r>
            <a:r>
              <a:rPr b="1" lang="en-IN">
                <a:solidFill>
                  <a:schemeClr val="dk1"/>
                </a:solidFill>
                <a:latin typeface="Times New Roman"/>
                <a:ea typeface="Times New Roman"/>
                <a:cs typeface="Times New Roman"/>
                <a:sym typeface="Times New Roman"/>
              </a:rPr>
              <a:t>sustain loads and stresses</a:t>
            </a:r>
            <a:r>
              <a:rPr lang="en-IN">
                <a:solidFill>
                  <a:schemeClr val="dk1"/>
                </a:solidFill>
                <a:latin typeface="Times New Roman"/>
                <a:ea typeface="Times New Roman"/>
                <a:cs typeface="Times New Roman"/>
                <a:sym typeface="Times New Roman"/>
              </a:rPr>
              <a:t> effectively, particularly under </a:t>
            </a:r>
            <a:r>
              <a:rPr b="1" lang="en-IN">
                <a:solidFill>
                  <a:schemeClr val="dk1"/>
                </a:solidFill>
                <a:latin typeface="Times New Roman"/>
                <a:ea typeface="Times New Roman"/>
                <a:cs typeface="Times New Roman"/>
                <a:sym typeface="Times New Roman"/>
              </a:rPr>
              <a:t>steering, braking, and frontal impact conditions</a:t>
            </a:r>
            <a:r>
              <a:rPr lang="en-IN">
                <a:solidFill>
                  <a:schemeClr val="dk1"/>
                </a:solidFill>
                <a:latin typeface="Times New Roman"/>
                <a:ea typeface="Times New Roman"/>
                <a:cs typeface="Times New Roman"/>
                <a:sym typeface="Times New Roman"/>
              </a:rPr>
              <a:t>. Its </a:t>
            </a:r>
            <a:r>
              <a:rPr b="1" lang="en-IN">
                <a:solidFill>
                  <a:schemeClr val="dk1"/>
                </a:solidFill>
                <a:latin typeface="Times New Roman"/>
                <a:ea typeface="Times New Roman"/>
                <a:cs typeface="Times New Roman"/>
                <a:sym typeface="Times New Roman"/>
              </a:rPr>
              <a:t>simple, rugged, and low-maintenance design</a:t>
            </a:r>
            <a:r>
              <a:rPr lang="en-IN">
                <a:solidFill>
                  <a:schemeClr val="dk1"/>
                </a:solidFill>
                <a:latin typeface="Times New Roman"/>
                <a:ea typeface="Times New Roman"/>
                <a:cs typeface="Times New Roman"/>
                <a:sym typeface="Times New Roman"/>
              </a:rPr>
              <a:t> makes it ideal for managing higher weight concentration at the front end of the vehicle.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a:t>
            </a:r>
            <a:r>
              <a:rPr b="1" lang="en-IN">
                <a:solidFill>
                  <a:schemeClr val="dk1"/>
                </a:solidFill>
                <a:latin typeface="Times New Roman"/>
                <a:ea typeface="Times New Roman"/>
                <a:cs typeface="Times New Roman"/>
                <a:sym typeface="Times New Roman"/>
              </a:rPr>
              <a:t>rear monoshock coil-over system</a:t>
            </a:r>
            <a:r>
              <a:rPr lang="en-IN">
                <a:solidFill>
                  <a:schemeClr val="dk1"/>
                </a:solidFill>
                <a:latin typeface="Times New Roman"/>
                <a:ea typeface="Times New Roman"/>
                <a:cs typeface="Times New Roman"/>
                <a:sym typeface="Times New Roman"/>
              </a:rPr>
              <a:t> provides </a:t>
            </a:r>
            <a:r>
              <a:rPr b="1" lang="en-IN">
                <a:solidFill>
                  <a:schemeClr val="dk1"/>
                </a:solidFill>
                <a:latin typeface="Times New Roman"/>
                <a:ea typeface="Times New Roman"/>
                <a:cs typeface="Times New Roman"/>
                <a:sym typeface="Times New Roman"/>
              </a:rPr>
              <a:t>ride comfort and superior damping characteristics</a:t>
            </a:r>
            <a:r>
              <a:rPr lang="en-IN">
                <a:solidFill>
                  <a:schemeClr val="dk1"/>
                </a:solidFill>
                <a:latin typeface="Times New Roman"/>
                <a:ea typeface="Times New Roman"/>
                <a:cs typeface="Times New Roman"/>
                <a:sym typeface="Times New Roman"/>
              </a:rPr>
              <a:t>, directly improving passenger comfort during urban commuting. The compact monoshock layout also contributes to </a:t>
            </a:r>
            <a:r>
              <a:rPr b="1" lang="en-IN">
                <a:solidFill>
                  <a:schemeClr val="dk1"/>
                </a:solidFill>
                <a:latin typeface="Times New Roman"/>
                <a:ea typeface="Times New Roman"/>
                <a:cs typeface="Times New Roman"/>
                <a:sym typeface="Times New Roman"/>
              </a:rPr>
              <a:t>weight reduction and space optimization</a:t>
            </a:r>
            <a:r>
              <a:rPr lang="en-IN">
                <a:solidFill>
                  <a:schemeClr val="dk1"/>
                </a:solidFill>
                <a:latin typeface="Times New Roman"/>
                <a:ea typeface="Times New Roman"/>
                <a:cs typeface="Times New Roman"/>
                <a:sym typeface="Times New Roman"/>
              </a:rPr>
              <a:t>, which are vital in lightweight electric vehicles.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Thus, this hybrid suspension arrangement delivers </a:t>
            </a:r>
            <a:r>
              <a:rPr b="1" lang="en-IN">
                <a:solidFill>
                  <a:schemeClr val="dk1"/>
                </a:solidFill>
                <a:latin typeface="Times New Roman"/>
                <a:ea typeface="Times New Roman"/>
                <a:cs typeface="Times New Roman"/>
                <a:sym typeface="Times New Roman"/>
              </a:rPr>
              <a:t>low cost, high durability, and enhanced ride quality</a:t>
            </a:r>
            <a:r>
              <a:rPr lang="en-IN">
                <a:solidFill>
                  <a:schemeClr val="dk1"/>
                </a:solidFill>
                <a:latin typeface="Times New Roman"/>
                <a:ea typeface="Times New Roman"/>
                <a:cs typeface="Times New Roman"/>
                <a:sym typeface="Times New Roman"/>
              </a:rPr>
              <a:t>, making it particularly suitable for a </a:t>
            </a:r>
            <a:r>
              <a:rPr b="1" lang="en-IN">
                <a:solidFill>
                  <a:schemeClr val="dk1"/>
                </a:solidFill>
                <a:latin typeface="Times New Roman"/>
                <a:ea typeface="Times New Roman"/>
                <a:cs typeface="Times New Roman"/>
                <a:sym typeface="Times New Roman"/>
              </a:rPr>
              <a:t>lightweight electric four-wheeler designed for short-distance, low-speed mobility in urban and campus environments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5.6 Conclusion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suspension system is not just a supporting structure but a </a:t>
            </a:r>
            <a:r>
              <a:rPr b="1" lang="en-IN">
                <a:solidFill>
                  <a:schemeClr val="dk1"/>
                </a:solidFill>
                <a:latin typeface="Times New Roman"/>
                <a:ea typeface="Times New Roman"/>
                <a:cs typeface="Times New Roman"/>
                <a:sym typeface="Times New Roman"/>
              </a:rPr>
              <a:t>performance-defining subsystem</a:t>
            </a:r>
            <a:r>
              <a:rPr lang="en-IN">
                <a:solidFill>
                  <a:schemeClr val="dk1"/>
                </a:solidFill>
                <a:latin typeface="Times New Roman"/>
                <a:ea typeface="Times New Roman"/>
                <a:cs typeface="Times New Roman"/>
                <a:sym typeface="Times New Roman"/>
              </a:rPr>
              <a:t> in an electric four-wheeler. In this design, the adoption of a </a:t>
            </a:r>
            <a:r>
              <a:rPr b="1" lang="en-IN">
                <a:solidFill>
                  <a:schemeClr val="dk1"/>
                </a:solidFill>
                <a:latin typeface="Times New Roman"/>
                <a:ea typeface="Times New Roman"/>
                <a:cs typeface="Times New Roman"/>
                <a:sym typeface="Times New Roman"/>
              </a:rPr>
              <a:t>front leaf spring suspension</a:t>
            </a:r>
            <a:r>
              <a:rPr lang="en-IN">
                <a:solidFill>
                  <a:schemeClr val="dk1"/>
                </a:solidFill>
                <a:latin typeface="Times New Roman"/>
                <a:ea typeface="Times New Roman"/>
                <a:cs typeface="Times New Roman"/>
                <a:sym typeface="Times New Roman"/>
              </a:rPr>
              <a:t> combined with a </a:t>
            </a:r>
            <a:r>
              <a:rPr b="1" lang="en-IN">
                <a:solidFill>
                  <a:schemeClr val="dk1"/>
                </a:solidFill>
                <a:latin typeface="Times New Roman"/>
                <a:ea typeface="Times New Roman"/>
                <a:cs typeface="Times New Roman"/>
                <a:sym typeface="Times New Roman"/>
              </a:rPr>
              <a:t>rear monoshock coil-over system</a:t>
            </a:r>
            <a:r>
              <a:rPr lang="en-IN">
                <a:solidFill>
                  <a:schemeClr val="dk1"/>
                </a:solidFill>
                <a:latin typeface="Times New Roman"/>
                <a:ea typeface="Times New Roman"/>
                <a:cs typeface="Times New Roman"/>
                <a:sym typeface="Times New Roman"/>
              </a:rPr>
              <a:t> strategically integrates the </a:t>
            </a:r>
            <a:r>
              <a:rPr b="1" lang="en-IN">
                <a:solidFill>
                  <a:schemeClr val="dk1"/>
                </a:solidFill>
                <a:latin typeface="Times New Roman"/>
                <a:ea typeface="Times New Roman"/>
                <a:cs typeface="Times New Roman"/>
                <a:sym typeface="Times New Roman"/>
              </a:rPr>
              <a:t>strength of conventional load-bearing designs</a:t>
            </a:r>
            <a:r>
              <a:rPr lang="en-IN">
                <a:solidFill>
                  <a:schemeClr val="dk1"/>
                </a:solidFill>
                <a:latin typeface="Times New Roman"/>
                <a:ea typeface="Times New Roman"/>
                <a:cs typeface="Times New Roman"/>
                <a:sym typeface="Times New Roman"/>
              </a:rPr>
              <a:t> with the </a:t>
            </a:r>
            <a:r>
              <a:rPr b="1" lang="en-IN">
                <a:solidFill>
                  <a:schemeClr val="dk1"/>
                </a:solidFill>
                <a:latin typeface="Times New Roman"/>
                <a:ea typeface="Times New Roman"/>
                <a:cs typeface="Times New Roman"/>
                <a:sym typeface="Times New Roman"/>
              </a:rPr>
              <a:t>comfort of modern damping technologies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a:t>
            </a:r>
            <a:r>
              <a:rPr b="1" lang="en-IN">
                <a:solidFill>
                  <a:schemeClr val="dk1"/>
                </a:solidFill>
                <a:latin typeface="Times New Roman"/>
                <a:ea typeface="Times New Roman"/>
                <a:cs typeface="Times New Roman"/>
                <a:sym typeface="Times New Roman"/>
              </a:rPr>
              <a:t>front suspension</a:t>
            </a:r>
            <a:r>
              <a:rPr lang="en-IN">
                <a:solidFill>
                  <a:schemeClr val="dk1"/>
                </a:solidFill>
                <a:latin typeface="Times New Roman"/>
                <a:ea typeface="Times New Roman"/>
                <a:cs typeface="Times New Roman"/>
                <a:sym typeface="Times New Roman"/>
              </a:rPr>
              <a:t> ensures </a:t>
            </a:r>
            <a:r>
              <a:rPr b="1" lang="en-IN">
                <a:solidFill>
                  <a:schemeClr val="dk1"/>
                </a:solidFill>
                <a:latin typeface="Times New Roman"/>
                <a:ea typeface="Times New Roman"/>
                <a:cs typeface="Times New Roman"/>
                <a:sym typeface="Times New Roman"/>
              </a:rPr>
              <a:t>structural integrity, load distribution, and stability</a:t>
            </a:r>
            <a:r>
              <a:rPr lang="en-IN">
                <a:solidFill>
                  <a:schemeClr val="dk1"/>
                </a:solidFill>
                <a:latin typeface="Times New Roman"/>
                <a:ea typeface="Times New Roman"/>
                <a:cs typeface="Times New Roman"/>
                <a:sym typeface="Times New Roman"/>
              </a:rPr>
              <a:t>, which are critical for steering and braking safety.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a:t>
            </a:r>
            <a:r>
              <a:rPr b="1" lang="en-IN">
                <a:solidFill>
                  <a:schemeClr val="dk1"/>
                </a:solidFill>
                <a:latin typeface="Times New Roman"/>
                <a:ea typeface="Times New Roman"/>
                <a:cs typeface="Times New Roman"/>
                <a:sym typeface="Times New Roman"/>
              </a:rPr>
              <a:t>rear suspension</a:t>
            </a:r>
            <a:r>
              <a:rPr lang="en-IN">
                <a:solidFill>
                  <a:schemeClr val="dk1"/>
                </a:solidFill>
                <a:latin typeface="Times New Roman"/>
                <a:ea typeface="Times New Roman"/>
                <a:cs typeface="Times New Roman"/>
                <a:sym typeface="Times New Roman"/>
              </a:rPr>
              <a:t> enhances </a:t>
            </a:r>
            <a:r>
              <a:rPr b="1" lang="en-IN">
                <a:solidFill>
                  <a:schemeClr val="dk1"/>
                </a:solidFill>
                <a:latin typeface="Times New Roman"/>
                <a:ea typeface="Times New Roman"/>
                <a:cs typeface="Times New Roman"/>
                <a:sym typeface="Times New Roman"/>
              </a:rPr>
              <a:t>ride comfort, handling stability, and vibration isolation</a:t>
            </a:r>
            <a:r>
              <a:rPr lang="en-IN">
                <a:solidFill>
                  <a:schemeClr val="dk1"/>
                </a:solidFill>
                <a:latin typeface="Times New Roman"/>
                <a:ea typeface="Times New Roman"/>
                <a:cs typeface="Times New Roman"/>
                <a:sym typeface="Times New Roman"/>
              </a:rPr>
              <a:t>, ensuring that the passenger experience is smooth and fatigue-free even on irregular surfaces.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This </a:t>
            </a:r>
            <a:r>
              <a:rPr b="1" lang="en-IN">
                <a:solidFill>
                  <a:schemeClr val="dk1"/>
                </a:solidFill>
                <a:latin typeface="Times New Roman"/>
                <a:ea typeface="Times New Roman"/>
                <a:cs typeface="Times New Roman"/>
                <a:sym typeface="Times New Roman"/>
              </a:rPr>
              <a:t>hybrid approach</a:t>
            </a:r>
            <a:r>
              <a:rPr lang="en-IN">
                <a:solidFill>
                  <a:schemeClr val="dk1"/>
                </a:solidFill>
                <a:latin typeface="Times New Roman"/>
                <a:ea typeface="Times New Roman"/>
                <a:cs typeface="Times New Roman"/>
                <a:sym typeface="Times New Roman"/>
              </a:rPr>
              <a:t> not only reduces cost and maintenance requirements but also aligns with the core design philosophy of the vehicle – </a:t>
            </a:r>
            <a:r>
              <a:rPr b="1" lang="en-IN">
                <a:solidFill>
                  <a:schemeClr val="dk1"/>
                </a:solidFill>
                <a:latin typeface="Times New Roman"/>
                <a:ea typeface="Times New Roman"/>
                <a:cs typeface="Times New Roman"/>
                <a:sym typeface="Times New Roman"/>
              </a:rPr>
              <a:t>simplicity, efficiency, and reliability for short-distance commuting applications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By combining proven mechanical robustness at the front with advanced damping at the rear, the suspension design achieves an </a:t>
            </a:r>
            <a:r>
              <a:rPr b="1" lang="en-IN">
                <a:solidFill>
                  <a:schemeClr val="dk1"/>
                </a:solidFill>
                <a:latin typeface="Times New Roman"/>
                <a:ea typeface="Times New Roman"/>
                <a:cs typeface="Times New Roman"/>
                <a:sym typeface="Times New Roman"/>
              </a:rPr>
              <a:t>optimal trade-off between performance, durability, and comfort</a:t>
            </a:r>
            <a:r>
              <a:rPr lang="en-IN">
                <a:solidFill>
                  <a:schemeClr val="dk1"/>
                </a:solidFill>
                <a:latin typeface="Times New Roman"/>
                <a:ea typeface="Times New Roman"/>
                <a:cs typeface="Times New Roman"/>
                <a:sym typeface="Times New Roman"/>
              </a:rPr>
              <a:t>. This makes the system well-suited for a </a:t>
            </a:r>
            <a:r>
              <a:rPr b="1" lang="en-IN">
                <a:solidFill>
                  <a:schemeClr val="dk1"/>
                </a:solidFill>
                <a:latin typeface="Times New Roman"/>
                <a:ea typeface="Times New Roman"/>
                <a:cs typeface="Times New Roman"/>
                <a:sym typeface="Times New Roman"/>
              </a:rPr>
              <a:t>lightweight, affordable electric mobility solution</a:t>
            </a:r>
            <a:r>
              <a:rPr lang="en-IN">
                <a:solidFill>
                  <a:schemeClr val="dk1"/>
                </a:solidFill>
                <a:latin typeface="Times New Roman"/>
                <a:ea typeface="Times New Roman"/>
                <a:cs typeface="Times New Roman"/>
                <a:sym typeface="Times New Roman"/>
              </a:rPr>
              <a:t>, reflecting both </a:t>
            </a:r>
            <a:r>
              <a:rPr b="1" lang="en-IN">
                <a:solidFill>
                  <a:schemeClr val="dk1"/>
                </a:solidFill>
                <a:latin typeface="Times New Roman"/>
                <a:ea typeface="Times New Roman"/>
                <a:cs typeface="Times New Roman"/>
                <a:sym typeface="Times New Roman"/>
              </a:rPr>
              <a:t>engineering practicality and user-centric design</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7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8cb00882a1_0_0"/>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34" name="Google Shape;234;g38cb00882a1_0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35" name="Google Shape;235;g38cb00882a1_0_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36" name="Google Shape;236;g38cb00882a1_0_0"/>
          <p:cNvSpPr txBox="1"/>
          <p:nvPr/>
        </p:nvSpPr>
        <p:spPr>
          <a:xfrm>
            <a:off x="593925" y="1028700"/>
            <a:ext cx="6256800" cy="91170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Chapter 6 – Steering System (Rack &amp; Pinion) Design &amp; Parameters</a:t>
            </a:r>
            <a:endParaRPr sz="1600">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6.1 Steering System Overview</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steering system is a critical subsystem of the electric four-wheeler, responsible for controlling the vehicle’s direction. It functions by transmitting the driver’s input torque and angle from the steering wheel to the front wheels, enabling smooth navigation under varying road conditions.</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For compact and lightweight electric vehicles, the steering must combine </a:t>
            </a:r>
            <a:r>
              <a:rPr b="1" lang="en-IN">
                <a:solidFill>
                  <a:schemeClr val="dk1"/>
                </a:solidFill>
                <a:latin typeface="Times New Roman"/>
                <a:ea typeface="Times New Roman"/>
                <a:cs typeface="Times New Roman"/>
                <a:sym typeface="Times New Roman"/>
              </a:rPr>
              <a:t>simplicity, responsiveness, and reliability</a:t>
            </a:r>
            <a:r>
              <a:rPr lang="en-IN">
                <a:solidFill>
                  <a:schemeClr val="dk1"/>
                </a:solidFill>
                <a:latin typeface="Times New Roman"/>
                <a:ea typeface="Times New Roman"/>
                <a:cs typeface="Times New Roman"/>
                <a:sym typeface="Times New Roman"/>
              </a:rPr>
              <a:t>. Instead of adopting bulkier mechanisms, a </a:t>
            </a:r>
            <a:r>
              <a:rPr b="1" lang="en-IN">
                <a:solidFill>
                  <a:schemeClr val="dk1"/>
                </a:solidFill>
                <a:latin typeface="Times New Roman"/>
                <a:ea typeface="Times New Roman"/>
                <a:cs typeface="Times New Roman"/>
                <a:sym typeface="Times New Roman"/>
              </a:rPr>
              <a:t>rack-and-pinion steering</a:t>
            </a:r>
            <a:r>
              <a:rPr lang="en-IN">
                <a:solidFill>
                  <a:schemeClr val="dk1"/>
                </a:solidFill>
                <a:latin typeface="Times New Roman"/>
                <a:ea typeface="Times New Roman"/>
                <a:cs typeface="Times New Roman"/>
                <a:sym typeface="Times New Roman"/>
              </a:rPr>
              <a:t> ensures precise movement of the wheels with minimal power loss, aligning well with the vehicle’s low-speed urban operation.</a:t>
            </a:r>
            <a:endParaRPr>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6.2 Working Principle of Rack &amp; Pinion Steering</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operation is based on the </a:t>
            </a:r>
            <a:r>
              <a:rPr b="1" lang="en-IN">
                <a:solidFill>
                  <a:schemeClr val="dk1"/>
                </a:solidFill>
                <a:latin typeface="Times New Roman"/>
                <a:ea typeface="Times New Roman"/>
                <a:cs typeface="Times New Roman"/>
                <a:sym typeface="Times New Roman"/>
              </a:rPr>
              <a:t>conversion of rotary motion into linear motion</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AutoNum type="arabicPeriod"/>
            </a:pPr>
            <a:r>
              <a:rPr lang="en-IN">
                <a:solidFill>
                  <a:schemeClr val="dk1"/>
                </a:solidFill>
                <a:latin typeface="Times New Roman"/>
                <a:ea typeface="Times New Roman"/>
                <a:cs typeface="Times New Roman"/>
                <a:sym typeface="Times New Roman"/>
              </a:rPr>
              <a:t>When the driver rotates the </a:t>
            </a:r>
            <a:r>
              <a:rPr b="1" lang="en-IN">
                <a:solidFill>
                  <a:schemeClr val="dk1"/>
                </a:solidFill>
                <a:latin typeface="Times New Roman"/>
                <a:ea typeface="Times New Roman"/>
                <a:cs typeface="Times New Roman"/>
                <a:sym typeface="Times New Roman"/>
              </a:rPr>
              <a:t>steering wheel</a:t>
            </a:r>
            <a:r>
              <a:rPr lang="en-IN">
                <a:solidFill>
                  <a:schemeClr val="dk1"/>
                </a:solidFill>
                <a:latin typeface="Times New Roman"/>
                <a:ea typeface="Times New Roman"/>
                <a:cs typeface="Times New Roman"/>
                <a:sym typeface="Times New Roman"/>
              </a:rPr>
              <a:t>, torque is transferred through the </a:t>
            </a:r>
            <a:r>
              <a:rPr b="1" lang="en-IN">
                <a:solidFill>
                  <a:schemeClr val="dk1"/>
                </a:solidFill>
                <a:latin typeface="Times New Roman"/>
                <a:ea typeface="Times New Roman"/>
                <a:cs typeface="Times New Roman"/>
                <a:sym typeface="Times New Roman"/>
              </a:rPr>
              <a:t>steering shaft</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AutoNum type="arabicPeriod"/>
            </a:pPr>
            <a:r>
              <a:rPr lang="en-IN">
                <a:solidFill>
                  <a:schemeClr val="dk1"/>
                </a:solidFill>
                <a:latin typeface="Times New Roman"/>
                <a:ea typeface="Times New Roman"/>
                <a:cs typeface="Times New Roman"/>
                <a:sym typeface="Times New Roman"/>
              </a:rPr>
              <a:t>The shaft engages the </a:t>
            </a:r>
            <a:r>
              <a:rPr b="1" lang="en-IN">
                <a:solidFill>
                  <a:schemeClr val="dk1"/>
                </a:solidFill>
                <a:latin typeface="Times New Roman"/>
                <a:ea typeface="Times New Roman"/>
                <a:cs typeface="Times New Roman"/>
                <a:sym typeface="Times New Roman"/>
              </a:rPr>
              <a:t>pinion gear</a:t>
            </a:r>
            <a:r>
              <a:rPr lang="en-IN">
                <a:solidFill>
                  <a:schemeClr val="dk1"/>
                </a:solidFill>
                <a:latin typeface="Times New Roman"/>
                <a:ea typeface="Times New Roman"/>
                <a:cs typeface="Times New Roman"/>
                <a:sym typeface="Times New Roman"/>
              </a:rPr>
              <a:t>, which is meshed with the </a:t>
            </a:r>
            <a:r>
              <a:rPr b="1" lang="en-IN">
                <a:solidFill>
                  <a:schemeClr val="dk1"/>
                </a:solidFill>
                <a:latin typeface="Times New Roman"/>
                <a:ea typeface="Times New Roman"/>
                <a:cs typeface="Times New Roman"/>
                <a:sym typeface="Times New Roman"/>
              </a:rPr>
              <a:t>rack</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AutoNum type="arabicPeriod"/>
            </a:pPr>
            <a:r>
              <a:rPr lang="en-IN">
                <a:solidFill>
                  <a:schemeClr val="dk1"/>
                </a:solidFill>
                <a:latin typeface="Times New Roman"/>
                <a:ea typeface="Times New Roman"/>
                <a:cs typeface="Times New Roman"/>
                <a:sym typeface="Times New Roman"/>
              </a:rPr>
              <a:t>As the pinion rotates, the rack slides laterally inside its housing.</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AutoNum type="arabicPeriod"/>
            </a:pPr>
            <a:r>
              <a:rPr lang="en-IN">
                <a:solidFill>
                  <a:schemeClr val="dk1"/>
                </a:solidFill>
                <a:latin typeface="Times New Roman"/>
                <a:ea typeface="Times New Roman"/>
                <a:cs typeface="Times New Roman"/>
                <a:sym typeface="Times New Roman"/>
              </a:rPr>
              <a:t>This linear motion of the rack is carried to the </a:t>
            </a:r>
            <a:r>
              <a:rPr b="1" lang="en-IN">
                <a:solidFill>
                  <a:schemeClr val="dk1"/>
                </a:solidFill>
                <a:latin typeface="Times New Roman"/>
                <a:ea typeface="Times New Roman"/>
                <a:cs typeface="Times New Roman"/>
                <a:sym typeface="Times New Roman"/>
              </a:rPr>
              <a:t>tie rods</a:t>
            </a:r>
            <a:r>
              <a:rPr lang="en-IN">
                <a:solidFill>
                  <a:schemeClr val="dk1"/>
                </a:solidFill>
                <a:latin typeface="Times New Roman"/>
                <a:ea typeface="Times New Roman"/>
                <a:cs typeface="Times New Roman"/>
                <a:sym typeface="Times New Roman"/>
              </a:rPr>
              <a:t>, which push/pull the </a:t>
            </a:r>
            <a:r>
              <a:rPr b="1" lang="en-IN">
                <a:solidFill>
                  <a:schemeClr val="dk1"/>
                </a:solidFill>
                <a:latin typeface="Times New Roman"/>
                <a:ea typeface="Times New Roman"/>
                <a:cs typeface="Times New Roman"/>
                <a:sym typeface="Times New Roman"/>
              </a:rPr>
              <a:t>steering arms</a:t>
            </a:r>
            <a:r>
              <a:rPr lang="en-IN">
                <a:solidFill>
                  <a:schemeClr val="dk1"/>
                </a:solidFill>
                <a:latin typeface="Times New Roman"/>
                <a:ea typeface="Times New Roman"/>
                <a:cs typeface="Times New Roman"/>
                <a:sym typeface="Times New Roman"/>
              </a:rPr>
              <a:t> attached to the wheel knuckles.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AutoNum type="arabicPeriod"/>
            </a:pPr>
            <a:r>
              <a:rPr lang="en-IN">
                <a:solidFill>
                  <a:schemeClr val="dk1"/>
                </a:solidFill>
                <a:latin typeface="Times New Roman"/>
                <a:ea typeface="Times New Roman"/>
                <a:cs typeface="Times New Roman"/>
                <a:sym typeface="Times New Roman"/>
              </a:rPr>
              <a:t>Finally, the front wheels pivot around their kingpins, changing the vehicle’s direction.</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This direct motion path minimizes intermediate linkages, reducing both energy loss and steering lag.</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IN" sz="1600">
                <a:solidFill>
                  <a:schemeClr val="dk1"/>
                </a:solidFill>
                <a:highlight>
                  <a:srgbClr val="FFFFFF"/>
                </a:highlight>
                <a:latin typeface="Times New Roman"/>
                <a:ea typeface="Times New Roman"/>
                <a:cs typeface="Times New Roman"/>
                <a:sym typeface="Times New Roman"/>
              </a:rPr>
              <a:t>6.3 Design Configuration</a:t>
            </a:r>
            <a:endParaRPr b="1" sz="16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rack-and-pinion steering assembly is composed of multiple precisely engineered parts: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Steering Wheel &amp; Column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Diameter:</a:t>
            </a:r>
            <a:r>
              <a:rPr lang="en-IN">
                <a:solidFill>
                  <a:schemeClr val="dk1"/>
                </a:solidFill>
                <a:latin typeface="Times New Roman"/>
                <a:ea typeface="Times New Roman"/>
                <a:cs typeface="Times New Roman"/>
                <a:sym typeface="Times New Roman"/>
              </a:rPr>
              <a:t> 320 mm (ergonomically selected for leverage at low speeds).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Column Shaft:</a:t>
            </a:r>
            <a:r>
              <a:rPr lang="en-IN">
                <a:solidFill>
                  <a:schemeClr val="dk1"/>
                </a:solidFill>
                <a:latin typeface="Times New Roman"/>
                <a:ea typeface="Times New Roman"/>
                <a:cs typeface="Times New Roman"/>
                <a:sym typeface="Times New Roman"/>
              </a:rPr>
              <a:t> Connected through a </a:t>
            </a:r>
            <a:r>
              <a:rPr b="1" lang="en-IN">
                <a:solidFill>
                  <a:schemeClr val="dk1"/>
                </a:solidFill>
                <a:latin typeface="Times New Roman"/>
                <a:ea typeface="Times New Roman"/>
                <a:cs typeface="Times New Roman"/>
                <a:sym typeface="Times New Roman"/>
              </a:rPr>
              <a:t>universal joint</a:t>
            </a:r>
            <a:r>
              <a:rPr lang="en-IN">
                <a:solidFill>
                  <a:schemeClr val="dk1"/>
                </a:solidFill>
                <a:latin typeface="Times New Roman"/>
                <a:ea typeface="Times New Roman"/>
                <a:cs typeface="Times New Roman"/>
                <a:sym typeface="Times New Roman"/>
              </a:rPr>
              <a:t> to accommodate slight angular misalignments and ensure smooth transmission.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Provides mechanical advantage, reducing driver fatigue.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Pinion Gear</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Material:</a:t>
            </a:r>
            <a:r>
              <a:rPr lang="en-IN">
                <a:solidFill>
                  <a:schemeClr val="dk1"/>
                </a:solidFill>
                <a:latin typeface="Times New Roman"/>
                <a:ea typeface="Times New Roman"/>
                <a:cs typeface="Times New Roman"/>
                <a:sym typeface="Times New Roman"/>
              </a:rPr>
              <a:t> Case-hardened alloy steel for strength and wear resistance.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Type:</a:t>
            </a:r>
            <a:r>
              <a:rPr lang="en-IN">
                <a:solidFill>
                  <a:schemeClr val="dk1"/>
                </a:solidFill>
                <a:latin typeface="Times New Roman"/>
                <a:ea typeface="Times New Roman"/>
                <a:cs typeface="Times New Roman"/>
                <a:sym typeface="Times New Roman"/>
              </a:rPr>
              <a:t> Spur gear with involute profile (ensures smooth rolling contact</a:t>
            </a:r>
            <a:r>
              <a:rPr lang="en-IN">
                <a:solidFill>
                  <a:schemeClr val="dk1"/>
                </a:solidFill>
                <a:latin typeface="Times New Roman"/>
                <a:ea typeface="Times New Roman"/>
                <a:cs typeface="Times New Roman"/>
                <a:sym typeface="Times New Roman"/>
              </a:rPr>
              <a:t>).</a:t>
            </a:r>
            <a:endParaRPr b="1" sz="17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8cb00882a1_0_22"/>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42" name="Google Shape;242;g38cb00882a1_0_22"/>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43" name="Google Shape;243;g38cb00882a1_0_22"/>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44" name="Google Shape;244;g38cb00882a1_0_22"/>
          <p:cNvSpPr txBox="1"/>
          <p:nvPr/>
        </p:nvSpPr>
        <p:spPr>
          <a:xfrm>
            <a:off x="593925" y="1028700"/>
            <a:ext cx="6256800" cy="9301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Rack Bar</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Material:</a:t>
            </a:r>
            <a:r>
              <a:rPr lang="en-IN">
                <a:solidFill>
                  <a:schemeClr val="dk1"/>
                </a:solidFill>
                <a:latin typeface="Times New Roman"/>
                <a:ea typeface="Times New Roman"/>
                <a:cs typeface="Times New Roman"/>
                <a:sym typeface="Times New Roman"/>
              </a:rPr>
              <a:t> Medium-carbon steel, precision ground for accuracy.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Surface Treatment:</a:t>
            </a:r>
            <a:r>
              <a:rPr lang="en-IN">
                <a:solidFill>
                  <a:schemeClr val="dk1"/>
                </a:solidFill>
                <a:latin typeface="Times New Roman"/>
                <a:ea typeface="Times New Roman"/>
                <a:cs typeface="Times New Roman"/>
                <a:sym typeface="Times New Roman"/>
              </a:rPr>
              <a:t> Heat-treated and induction hardened to withstand continuous load cycles.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Housed inside a lubricated casing with seals to protect against dust and moisture.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Tie Rods and End</a:t>
            </a:r>
            <a:r>
              <a:rPr b="1" lang="en-IN">
                <a:solidFill>
                  <a:schemeClr val="dk1"/>
                </a:solidFill>
                <a:latin typeface="Times New Roman"/>
                <a:ea typeface="Times New Roman"/>
                <a:cs typeface="Times New Roman"/>
                <a:sym typeface="Times New Roman"/>
              </a:rPr>
              <a: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Tie Rods:</a:t>
            </a:r>
            <a:r>
              <a:rPr lang="en-IN">
                <a:solidFill>
                  <a:schemeClr val="dk1"/>
                </a:solidFill>
                <a:latin typeface="Times New Roman"/>
                <a:ea typeface="Times New Roman"/>
                <a:cs typeface="Times New Roman"/>
                <a:sym typeface="Times New Roman"/>
              </a:rPr>
              <a:t> Transmit the linear displacement of the rack to the steering knuckles.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Ball Joints:</a:t>
            </a:r>
            <a:r>
              <a:rPr lang="en-IN">
                <a:solidFill>
                  <a:schemeClr val="dk1"/>
                </a:solidFill>
                <a:latin typeface="Times New Roman"/>
                <a:ea typeface="Times New Roman"/>
                <a:cs typeface="Times New Roman"/>
                <a:sym typeface="Times New Roman"/>
              </a:rPr>
              <a:t> Allow angular articulation due to suspension travel while maintaining steering accuracy.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Ends designed for ease of replacement and adjustment during maintenance.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Housing &amp; Supports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Lightweight aluminum alloy housing reduces overall weight.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Incorporates grease chambers and dust boots for durability.</a:t>
            </a:r>
            <a:br>
              <a:rPr lang="en-I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600">
                <a:solidFill>
                  <a:schemeClr val="dk1"/>
                </a:solidFill>
                <a:latin typeface="Times New Roman"/>
                <a:ea typeface="Times New Roman"/>
                <a:cs typeface="Times New Roman"/>
                <a:sym typeface="Times New Roman"/>
              </a:rPr>
              <a:t>6.4 Design Parameters &amp; Vehicle Matching</a:t>
            </a:r>
            <a:endParaRPr b="1" sz="16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IN">
                <a:solidFill>
                  <a:schemeClr val="dk1"/>
                </a:solidFill>
                <a:latin typeface="Times New Roman"/>
                <a:ea typeface="Times New Roman"/>
                <a:cs typeface="Times New Roman"/>
                <a:sym typeface="Times New Roman"/>
              </a:rPr>
              <a:t>The rack-and-pinion design is tuned specifically for the lightweight EV class: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120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Steering Ratio:</a:t>
            </a:r>
            <a:r>
              <a:rPr lang="en-IN">
                <a:solidFill>
                  <a:schemeClr val="dk1"/>
                </a:solidFill>
                <a:latin typeface="Times New Roman"/>
                <a:ea typeface="Times New Roman"/>
                <a:cs typeface="Times New Roman"/>
                <a:sym typeface="Times New Roman"/>
              </a:rPr>
              <a:t> ~16:1 ,A balance between agility (quick steering response) and stability (no over-sensitivity).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Rack Travel:</a:t>
            </a:r>
            <a:r>
              <a:rPr lang="en-IN">
                <a:solidFill>
                  <a:schemeClr val="dk1"/>
                </a:solidFill>
                <a:latin typeface="Times New Roman"/>
                <a:ea typeface="Times New Roman"/>
                <a:cs typeface="Times New Roman"/>
                <a:sym typeface="Times New Roman"/>
              </a:rPr>
              <a:t> ~135 mm,Provides sufficient movement to achieve full left and right lock.</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Turning Radius:</a:t>
            </a:r>
            <a:r>
              <a:rPr lang="en-IN">
                <a:solidFill>
                  <a:schemeClr val="dk1"/>
                </a:solidFill>
                <a:latin typeface="Times New Roman"/>
                <a:ea typeface="Times New Roman"/>
                <a:cs typeface="Times New Roman"/>
                <a:sym typeface="Times New Roman"/>
              </a:rPr>
              <a:t> 3.8 m,Compact enough for urban maneuverability while maintaining stability.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Backlash:</a:t>
            </a:r>
            <a:r>
              <a:rPr lang="en-IN">
                <a:solidFill>
                  <a:schemeClr val="dk1"/>
                </a:solidFill>
                <a:latin typeface="Times New Roman"/>
                <a:ea typeface="Times New Roman"/>
                <a:cs typeface="Times New Roman"/>
                <a:sym typeface="Times New Roman"/>
              </a:rPr>
              <a:t> &lt;0.3 mm,Ensures accurate wheel response without excessive play.</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Ackermann Geometry:</a:t>
            </a:r>
            <a:r>
              <a:rPr lang="en-IN">
                <a:solidFill>
                  <a:schemeClr val="dk1"/>
                </a:solidFill>
                <a:latin typeface="Times New Roman"/>
                <a:ea typeface="Times New Roman"/>
                <a:cs typeface="Times New Roman"/>
                <a:sym typeface="Times New Roman"/>
              </a:rPr>
              <a:t> Achieved by angling tie rods correctly, ensuring both inner and outer wheels follow proper turning radii during cornering, reducing tire wear.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600">
                <a:solidFill>
                  <a:schemeClr val="dk1"/>
                </a:solidFill>
                <a:latin typeface="Times New Roman"/>
                <a:ea typeface="Times New Roman"/>
                <a:cs typeface="Times New Roman"/>
                <a:sym typeface="Times New Roman"/>
              </a:rPr>
              <a:t>6.5 Functional Advantages </a:t>
            </a:r>
            <a:br>
              <a:rPr b="1" lang="en-IN">
                <a:solidFill>
                  <a:schemeClr val="dk1"/>
                </a:solidFill>
                <a:latin typeface="Times New Roman"/>
                <a:ea typeface="Times New Roman"/>
                <a:cs typeface="Times New Roman"/>
                <a:sym typeface="Times New Roman"/>
              </a:rPr>
            </a:br>
            <a:r>
              <a:rPr lang="en-IN">
                <a:solidFill>
                  <a:schemeClr val="dk1"/>
                </a:solidFill>
                <a:latin typeface="Times New Roman"/>
                <a:ea typeface="Times New Roman"/>
                <a:cs typeface="Times New Roman"/>
                <a:sym typeface="Times New Roman"/>
              </a:rPr>
              <a:t>Without directly comparing, the inherent features highlight why this mechanism fits best for the vehicle class: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Direct Response:</a:t>
            </a:r>
            <a:r>
              <a:rPr lang="en-IN">
                <a:solidFill>
                  <a:schemeClr val="dk1"/>
                </a:solidFill>
                <a:latin typeface="Times New Roman"/>
                <a:ea typeface="Times New Roman"/>
                <a:cs typeface="Times New Roman"/>
                <a:sym typeface="Times New Roman"/>
              </a:rPr>
              <a:t> Minimal linkages between wheel and rack translate into sharp, predictable handling.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Effort Reduction:</a:t>
            </a:r>
            <a:r>
              <a:rPr lang="en-IN">
                <a:solidFill>
                  <a:schemeClr val="dk1"/>
                </a:solidFill>
                <a:latin typeface="Times New Roman"/>
                <a:ea typeface="Times New Roman"/>
                <a:cs typeface="Times New Roman"/>
                <a:sym typeface="Times New Roman"/>
              </a:rPr>
              <a:t> Steering wheel leverage and gear engagement reduce torque demand on the driver.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8cdd4024e3_1_0"/>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50" name="Google Shape;250;g38cdd4024e3_1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51" name="Google Shape;251;g38cdd4024e3_1_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52" name="Google Shape;252;g38cdd4024e3_1_0"/>
          <p:cNvSpPr txBox="1"/>
          <p:nvPr/>
        </p:nvSpPr>
        <p:spPr>
          <a:xfrm>
            <a:off x="593925" y="1028700"/>
            <a:ext cx="6256800" cy="1546800"/>
          </a:xfrm>
          <a:prstGeom prst="rect">
            <a:avLst/>
          </a:prstGeom>
          <a:noFill/>
          <a:ln>
            <a:noFill/>
          </a:ln>
        </p:spPr>
        <p:txBody>
          <a:bodyPr anchorCtr="0" anchor="t" bIns="45700" lIns="91425" spcFirstLastPara="1" rIns="91425" wrap="square" tIns="45700">
            <a:spAutoFit/>
          </a:bodyPr>
          <a:lstStyle/>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Compact Design: Occupies less space in the vehicle’s front assembly, leaving room for suspension and battery layout.</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Durability: Fewer moving parts reduce wear, lowering long-term maintenance.</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Road Feedback: Driver receives real-time tactile feedback, enhancing control and safety.</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8cdd4024e3_1_7"/>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58" name="Google Shape;258;g38cdd4024e3_1_7"/>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59" name="Google Shape;259;g38cdd4024e3_1_7"/>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60" name="Google Shape;260;g38cdd4024e3_1_7"/>
          <p:cNvSpPr txBox="1"/>
          <p:nvPr/>
        </p:nvSpPr>
        <p:spPr>
          <a:xfrm>
            <a:off x="593925" y="1028700"/>
            <a:ext cx="6256800" cy="568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IN" sz="1800">
                <a:solidFill>
                  <a:schemeClr val="dk1"/>
                </a:solidFill>
                <a:latin typeface="Times New Roman"/>
                <a:ea typeface="Times New Roman"/>
                <a:cs typeface="Times New Roman"/>
                <a:sym typeface="Times New Roman"/>
              </a:rPr>
              <a:t>Chapter 7: Braking System</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7.1 Introduction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The braking system of the Electric Four-Wheeler is designed to ensure safe deceleration, stability, and energy recovery during operation. The system integrates dual-piston hydraulic disc brakes on all four wheels with regenerative braking through the motor controller, providing both safety and efficiency.</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7.2 Braking System Objectives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Ensure short and reliable stopping distance under all conditions.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Integrate regenerative braking for enhanced energy efficiency.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Provide balanced braking torque distribution on all wheels.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Minimize wear and tear of mechanical components.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Ensure compliance with safety standards for electric vehicles.</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7.3 Comparison with Other Braking Systems</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a:solidFill>
                <a:schemeClr val="dk1"/>
              </a:solidFill>
              <a:latin typeface="Times New Roman"/>
              <a:ea typeface="Times New Roman"/>
              <a:cs typeface="Times New Roman"/>
              <a:sym typeface="Times New Roman"/>
            </a:endParaRPr>
          </a:p>
        </p:txBody>
      </p:sp>
      <p:graphicFrame>
        <p:nvGraphicFramePr>
          <p:cNvPr id="261" name="Google Shape;261;g38cdd4024e3_1_7"/>
          <p:cNvGraphicFramePr/>
          <p:nvPr/>
        </p:nvGraphicFramePr>
        <p:xfrm>
          <a:off x="896575" y="5775800"/>
          <a:ext cx="3000000" cy="3000000"/>
        </p:xfrm>
        <a:graphic>
          <a:graphicData uri="http://schemas.openxmlformats.org/drawingml/2006/table">
            <a:tbl>
              <a:tblPr>
                <a:noFill/>
                <a:tableStyleId>{9AA01411-1129-4BFD-8B59-67041B4AEC91}</a:tableStyleId>
              </a:tblPr>
              <a:tblGrid>
                <a:gridCol w="1412875"/>
                <a:gridCol w="1412875"/>
                <a:gridCol w="1412875"/>
                <a:gridCol w="1412875"/>
              </a:tblGrid>
              <a:tr h="38100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Braking System</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Characteristics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Why Our System is Better</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Drum Brakes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Inexpensive, enclosed design, moderate braking force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Heat dissipation is poor, prone to fade, less responsive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Our dual-piston disc brakes provide better heat management and higher stopping power.</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Single-Piston Disc Brakes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Compact, widely used in two-wheelers and light vehicles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Lower clamping force, uneven pad wear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Dual-piston setup ensures uniform force, greater torque, and reduced wear.</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8"/>
          <p:cNvSpPr/>
          <p:nvPr/>
        </p:nvSpPr>
        <p:spPr>
          <a:xfrm>
            <a:off x="198975" y="325535"/>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7" name="Google Shape;267;p8"/>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68" name="Google Shape;268;p8"/>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graphicFrame>
        <p:nvGraphicFramePr>
          <p:cNvPr id="269" name="Google Shape;269;p8"/>
          <p:cNvGraphicFramePr/>
          <p:nvPr/>
        </p:nvGraphicFramePr>
        <p:xfrm>
          <a:off x="952500" y="1108700"/>
          <a:ext cx="3000000" cy="3000000"/>
        </p:xfrm>
        <a:graphic>
          <a:graphicData uri="http://schemas.openxmlformats.org/drawingml/2006/table">
            <a:tbl>
              <a:tblPr>
                <a:noFill/>
                <a:tableStyleId>{9AA01411-1129-4BFD-8B59-67041B4AEC91}</a:tableStyleId>
              </a:tblPr>
              <a:tblGrid>
                <a:gridCol w="1412875"/>
                <a:gridCol w="1412875"/>
                <a:gridCol w="1412875"/>
                <a:gridCol w="1412875"/>
              </a:tblGrid>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Regenerative Braking Only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Energy-efficient, increases vehicle range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Insufficient stopping power, ineffective at low speeds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Our hybrid system combines regen with hydraulic discs for reliability.</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Dual-Piston Hydraulic Disc + Regenerative (Our Design)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stopping power, energy recovery, uniform pad wear, balanced braking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Slightly higher cost, requires precise integration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Optimal balance of </a:t>
                      </a:r>
                      <a:r>
                        <a:rPr b="1" lang="en-IN">
                          <a:latin typeface="Times New Roman"/>
                          <a:ea typeface="Times New Roman"/>
                          <a:cs typeface="Times New Roman"/>
                          <a:sym typeface="Times New Roman"/>
                        </a:rPr>
                        <a:t>safety, efficiency, and durability</a:t>
                      </a:r>
                      <a:r>
                        <a:rPr lang="en-IN">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T="91425" marB="91425" marR="91425" marL="91425"/>
                </a:tc>
              </a:tr>
            </a:tbl>
          </a:graphicData>
        </a:graphic>
      </p:graphicFrame>
      <p:sp>
        <p:nvSpPr>
          <p:cNvPr id="270" name="Google Shape;270;p8"/>
          <p:cNvSpPr txBox="1"/>
          <p:nvPr/>
        </p:nvSpPr>
        <p:spPr>
          <a:xfrm>
            <a:off x="649850" y="4114700"/>
            <a:ext cx="6256800" cy="6446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7.4 Components of the Designed System</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Brake Pedal Assembly</a:t>
            </a:r>
            <a:r>
              <a:rPr lang="en-IN">
                <a:solidFill>
                  <a:schemeClr val="dk1"/>
                </a:solidFill>
                <a:latin typeface="Times New Roman"/>
                <a:ea typeface="Times New Roman"/>
                <a:cs typeface="Times New Roman"/>
                <a:sym typeface="Times New Roman"/>
              </a:rPr>
              <a:t> – Transfers driver input into mechanical force.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Master Cylinder</a:t>
            </a:r>
            <a:r>
              <a:rPr lang="en-IN">
                <a:solidFill>
                  <a:schemeClr val="dk1"/>
                </a:solidFill>
                <a:latin typeface="Times New Roman"/>
                <a:ea typeface="Times New Roman"/>
                <a:cs typeface="Times New Roman"/>
                <a:sym typeface="Times New Roman"/>
              </a:rPr>
              <a:t> – Converts pedal force into hydraulic pressure.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Hydraulic Lines</a:t>
            </a:r>
            <a:r>
              <a:rPr lang="en-IN">
                <a:solidFill>
                  <a:schemeClr val="dk1"/>
                </a:solidFill>
                <a:latin typeface="Times New Roman"/>
                <a:ea typeface="Times New Roman"/>
                <a:cs typeface="Times New Roman"/>
                <a:sym typeface="Times New Roman"/>
              </a:rPr>
              <a:t> – Distributes pressurized fluid to all four calipers.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Dual-Piston Calipers</a:t>
            </a:r>
            <a:r>
              <a:rPr lang="en-IN">
                <a:solidFill>
                  <a:schemeClr val="dk1"/>
                </a:solidFill>
                <a:latin typeface="Times New Roman"/>
                <a:ea typeface="Times New Roman"/>
                <a:cs typeface="Times New Roman"/>
                <a:sym typeface="Times New Roman"/>
              </a:rPr>
              <a:t> – Apply uniform force on brake pads to clamp the discs.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Brake Pads &amp; Discs</a:t>
            </a:r>
            <a:r>
              <a:rPr lang="en-IN">
                <a:solidFill>
                  <a:schemeClr val="dk1"/>
                </a:solidFill>
                <a:latin typeface="Times New Roman"/>
                <a:ea typeface="Times New Roman"/>
                <a:cs typeface="Times New Roman"/>
                <a:sym typeface="Times New Roman"/>
              </a:rPr>
              <a:t> – Provide the required frictional force for deceleration.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Regenerative Braking Controller </a:t>
            </a:r>
            <a:r>
              <a:rPr lang="en-IN">
                <a:solidFill>
                  <a:schemeClr val="dk1"/>
                </a:solidFill>
                <a:latin typeface="Times New Roman"/>
                <a:ea typeface="Times New Roman"/>
                <a:cs typeface="Times New Roman"/>
                <a:sym typeface="Times New Roman"/>
              </a:rPr>
              <a:t>– Engages motor in generator mode.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Battery Interface</a:t>
            </a:r>
            <a:r>
              <a:rPr lang="en-IN">
                <a:solidFill>
                  <a:schemeClr val="dk1"/>
                </a:solidFill>
                <a:latin typeface="Times New Roman"/>
                <a:ea typeface="Times New Roman"/>
                <a:cs typeface="Times New Roman"/>
                <a:sym typeface="Times New Roman"/>
              </a:rPr>
              <a:t> – Directs recovered energy back into the lithium-ion battery pack.</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7.5 Working Principle</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a:solidFill>
                  <a:schemeClr val="dk1"/>
                </a:solidFill>
                <a:latin typeface="Times New Roman"/>
                <a:ea typeface="Times New Roman"/>
                <a:cs typeface="Times New Roman"/>
                <a:sym typeface="Times New Roman"/>
              </a:rPr>
              <a:t>When the driver presses the brake pedal:</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The hydraulic master cylinder immediately builds pressure, actuating the dual-piston calipers on all four wheels.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Simultaneously, the motor controller activates regenerative braking, converting part of the vehicle’s kinetic energy into electrical energy and feeding it back into the battery.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The system is designed such that both regenerative and mechanical braking are active together, ensuring reliable stopping performance while maximizing energy recovery.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In case of emergency or high-speed braking, the hydraulic braking force dominates, with regen providing additional support.</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8cdd4024e3_1_23"/>
          <p:cNvSpPr/>
          <p:nvPr/>
        </p:nvSpPr>
        <p:spPr>
          <a:xfrm>
            <a:off x="241300" y="3149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76" name="Google Shape;276;g38cdd4024e3_1_23"/>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77" name="Google Shape;277;g38cdd4024e3_1_23"/>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78" name="Google Shape;278;g38cdd4024e3_1_23"/>
          <p:cNvSpPr txBox="1"/>
          <p:nvPr/>
        </p:nvSpPr>
        <p:spPr>
          <a:xfrm>
            <a:off x="593925" y="1028700"/>
            <a:ext cx="6256800" cy="5895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IN" sz="1600">
                <a:solidFill>
                  <a:schemeClr val="dk1"/>
                </a:solidFill>
                <a:latin typeface="Times New Roman"/>
                <a:ea typeface="Times New Roman"/>
                <a:cs typeface="Times New Roman"/>
                <a:sym typeface="Times New Roman"/>
              </a:rPr>
              <a:t>7.6 Key Features of Our Braking Design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Dual-piston calipers on all wheels for high clamping force and uniform braking.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Simultaneous regen + hydraulic braking for improved safety and efficiency.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Balanced braking distribution to avoid skidding and uneven pad wear.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Energy recovery efficiency of around 10–12% during typical operation.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Reduced maintenance costs due to lower brake pad wear.</a:t>
            </a:r>
            <a:endParaRPr>
              <a:solidFill>
                <a:schemeClr val="dk1"/>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b="1" lang="en-IN" sz="1600">
                <a:solidFill>
                  <a:schemeClr val="dk1"/>
                </a:solidFill>
                <a:latin typeface="Times New Roman"/>
                <a:ea typeface="Times New Roman"/>
                <a:cs typeface="Times New Roman"/>
                <a:sym typeface="Times New Roman"/>
              </a:rPr>
              <a:t>7.7 Advantages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Higher Braking Efficiency: </a:t>
            </a:r>
            <a:r>
              <a:rPr lang="en-IN">
                <a:solidFill>
                  <a:schemeClr val="dk1"/>
                </a:solidFill>
                <a:latin typeface="Times New Roman"/>
                <a:ea typeface="Times New Roman"/>
                <a:cs typeface="Times New Roman"/>
                <a:sym typeface="Times New Roman"/>
              </a:rPr>
              <a:t>Dual-piston calipers deliver stronger and more uniform braking than single-piston or drum brakes.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Improved Vehicle Range:</a:t>
            </a:r>
            <a:r>
              <a:rPr lang="en-IN">
                <a:solidFill>
                  <a:schemeClr val="dk1"/>
                </a:solidFill>
                <a:latin typeface="Times New Roman"/>
                <a:ea typeface="Times New Roman"/>
                <a:cs typeface="Times New Roman"/>
                <a:sym typeface="Times New Roman"/>
              </a:rPr>
              <a:t> Regenerative braking enhances battery performance and driving range.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Safety &amp; Stability: </a:t>
            </a:r>
            <a:r>
              <a:rPr lang="en-IN">
                <a:solidFill>
                  <a:schemeClr val="dk1"/>
                </a:solidFill>
                <a:latin typeface="Times New Roman"/>
                <a:ea typeface="Times New Roman"/>
                <a:cs typeface="Times New Roman"/>
                <a:sym typeface="Times New Roman"/>
              </a:rPr>
              <a:t>Balanced braking prevents wheel lock and improves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Durability:</a:t>
            </a:r>
            <a:r>
              <a:rPr lang="en-IN">
                <a:solidFill>
                  <a:schemeClr val="dk1"/>
                </a:solidFill>
                <a:latin typeface="Times New Roman"/>
                <a:ea typeface="Times New Roman"/>
                <a:cs typeface="Times New Roman"/>
                <a:sym typeface="Times New Roman"/>
              </a:rPr>
              <a:t> Shared braking load increases lifespan of pads and discs.</a:t>
            </a:r>
            <a:endParaRPr>
              <a:solidFill>
                <a:schemeClr val="dk1"/>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b="1" lang="en-IN" sz="1600">
                <a:solidFill>
                  <a:schemeClr val="dk1"/>
                </a:solidFill>
                <a:latin typeface="Times New Roman"/>
                <a:ea typeface="Times New Roman"/>
                <a:cs typeface="Times New Roman"/>
                <a:sym typeface="Times New Roman"/>
              </a:rPr>
              <a:t>7.8 Conclusion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lang="en-IN">
                <a:solidFill>
                  <a:schemeClr val="dk1"/>
                </a:solidFill>
                <a:latin typeface="Times New Roman"/>
                <a:ea typeface="Times New Roman"/>
                <a:cs typeface="Times New Roman"/>
                <a:sym typeface="Times New Roman"/>
              </a:rPr>
              <a:t>The braking system of the Electric Four-Wheeler  integrates dual-piston hydraulic disc brakes on all four wheels with regenerative braking activated simultaneously during deceleration. Compared to conventional braking systems, this design ensures superior safety, consistent performance, and energy recovery, making it both reliable and sustainable for modern electric vehicles.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0"/>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4" name="Google Shape;284;p1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85" name="Google Shape;285;p10"/>
          <p:cNvSpPr txBox="1"/>
          <p:nvPr/>
        </p:nvSpPr>
        <p:spPr>
          <a:xfrm>
            <a:off x="273050" y="10082768"/>
            <a:ext cx="3779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86" name="Google Shape;286;p10"/>
          <p:cNvSpPr txBox="1"/>
          <p:nvPr/>
        </p:nvSpPr>
        <p:spPr>
          <a:xfrm>
            <a:off x="593925" y="1028700"/>
            <a:ext cx="6256800" cy="910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IN" sz="1800">
                <a:solidFill>
                  <a:schemeClr val="dk1"/>
                </a:solidFill>
                <a:latin typeface="Times New Roman"/>
                <a:ea typeface="Times New Roman"/>
                <a:cs typeface="Times New Roman"/>
                <a:sym typeface="Times New Roman"/>
              </a:rPr>
              <a:t>Chapter 8: Powertrain &amp; Drivetrain Layout</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8.1 Introduction</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powertrain is the core of the electric vehicle, responsible for transmitting stored electrical energy into usable tractive force at the wheels. In this design, the powertrain and drivetrain layout is kept lightweight, efficient, and modular, ensuring ease of assembly and maintenance. The use of dual 2000 W BLDC hub motors eliminates the need for a complex transmission system, providing direct drive to the wheels and maximizing overall efficiency.</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8.2 Objectives of the Powertrain Design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Deliver sufficient torque for smooth acceleration and hill-climbing ability.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Ensure compact, lightweight configuration to support chassis strength and vehicle balance.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Minimize drivetrain losses by adopting hub motor technology.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Provide regenerative braking capability integrated with braking system.</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Enable modular integration of battery pack, controller, and auxiliary systems.</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8.3 Powertrain Configuration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The selected configuration integrates in-wheel BLDC hub motors with a centralized battery and controller unit.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Energy Source: 48 V, 60 Ah Lithium-ion NMC battery pack.</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Traction Drive: 2 × 2000 W BLDC hub motors directly mounted on rear wheels.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Motor Controller: Sine wave controller with regenerative braking and multi-mode operation.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Auxiliary Systems: DC–DC converter (48 V → 12 V) for low-voltage loads such as lights, horn, and display.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This architecture removes the need for conventional gearboxes, clutches, and differentials, reducing weight and simplifying design.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800">
                <a:solidFill>
                  <a:schemeClr val="dk1"/>
                </a:solidFill>
                <a:latin typeface="Times New Roman"/>
                <a:ea typeface="Times New Roman"/>
                <a:cs typeface="Times New Roman"/>
                <a:sym typeface="Times New Roman"/>
              </a:rPr>
              <a:t>8.4 Drivetrain Layout</a:t>
            </a:r>
            <a:endParaRPr b="1" sz="18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The drivetrain design adopts a direct drive hub motor approach:</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Hub Motors (Rear Wheels): Each rear wheel is powered by an independent BLDC motor, ensuring balanced torque delivery.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No Mechanical Differential: The independent controller-based torque distribution mimics differential action electronically.</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8cdd4024e3_0_3"/>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92" name="Google Shape;292;g38cdd4024e3_0_3"/>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293" name="Google Shape;293;g38cdd4024e3_0_3"/>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294" name="Google Shape;294;g38cdd4024e3_0_3"/>
          <p:cNvSpPr txBox="1"/>
          <p:nvPr/>
        </p:nvSpPr>
        <p:spPr>
          <a:xfrm>
            <a:off x="593925" y="1028700"/>
            <a:ext cx="6256800" cy="5343600"/>
          </a:xfrm>
          <a:prstGeom prst="rect">
            <a:avLst/>
          </a:prstGeom>
          <a:noFill/>
          <a:ln>
            <a:noFill/>
          </a:ln>
        </p:spPr>
        <p:txBody>
          <a:bodyPr anchorCtr="0" anchor="t" bIns="45700" lIns="91425" spcFirstLastPara="1" rIns="91425" wrap="square" tIns="45700">
            <a:spAutoFit/>
          </a:bodyPr>
          <a:lstStyle/>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Energy Flow Path:</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Battery → Motor Controller → Hub Motors (traction drive).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During braking → Hub Motors → Controller → Battery (regenerative charging).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Chassis Integration: The motors and controllers are mounted to minimize unsprung mass and maintain stability.</a:t>
            </a:r>
            <a:br>
              <a:rPr lang="en-I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8.5 Working Principle of Powertrain &amp; Drivetrain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On throttle input, the foot pedal sends a signal to the sine wave controller, which regulates current flow from the 48 V battery pack.</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The controller supplies power to both hub motors, ensuring smooth torque distribution.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The hub motors directly drive the wheels, eliminating intermediate mechanical components.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During braking, the controller switches motors to generator mode, sending recovered energy back into the battery.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IN" sz="1600">
                <a:solidFill>
                  <a:schemeClr val="dk1"/>
                </a:solidFill>
                <a:highlight>
                  <a:srgbClr val="FFFFFF"/>
                </a:highlight>
                <a:latin typeface="Times New Roman"/>
                <a:ea typeface="Times New Roman"/>
                <a:cs typeface="Times New Roman"/>
                <a:sym typeface="Times New Roman"/>
              </a:rPr>
              <a:t>8.6 Comparison with Other Drivetrain Approaches</a:t>
            </a:r>
            <a:endParaRPr b="1" sz="16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295" name="Google Shape;295;g38cdd4024e3_0_3"/>
          <p:cNvGraphicFramePr/>
          <p:nvPr/>
        </p:nvGraphicFramePr>
        <p:xfrm>
          <a:off x="593900" y="5572300"/>
          <a:ext cx="3000000" cy="3000000"/>
        </p:xfrm>
        <a:graphic>
          <a:graphicData uri="http://schemas.openxmlformats.org/drawingml/2006/table">
            <a:tbl>
              <a:tblPr>
                <a:noFill/>
                <a:tableStyleId>{9AA01411-1129-4BFD-8B59-67041B4AEC91}</a:tableStyleId>
              </a:tblPr>
              <a:tblGrid>
                <a:gridCol w="1370950"/>
                <a:gridCol w="1458650"/>
                <a:gridCol w="1546400"/>
                <a:gridCol w="1709300"/>
              </a:tblGrid>
              <a:tr h="553825">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Drivetrain Type</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Characteristics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Why Our Layout is Better</a:t>
                      </a:r>
                      <a:endParaRPr b="1">
                        <a:latin typeface="Times New Roman"/>
                        <a:ea typeface="Times New Roman"/>
                        <a:cs typeface="Times New Roman"/>
                        <a:sym typeface="Times New Roman"/>
                      </a:endParaRPr>
                    </a:p>
                  </a:txBody>
                  <a:tcPr marT="91425" marB="91425" marR="91425" marL="91425"/>
                </a:tc>
              </a:tr>
              <a:tr h="8116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Conventional IC Engine with Gearbox</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torque, long range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Heavy, complex, high maintenance, polluting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Our system is clean, simple, and low-maintenance.</a:t>
                      </a:r>
                      <a:endParaRPr>
                        <a:latin typeface="Times New Roman"/>
                        <a:ea typeface="Times New Roman"/>
                        <a:cs typeface="Times New Roman"/>
                        <a:sym typeface="Times New Roman"/>
                      </a:endParaRPr>
                    </a:p>
                  </a:txBody>
                  <a:tcPr marT="91425" marB="91425" marR="91425" marL="91425"/>
                </a:tc>
              </a:tr>
              <a:tr h="10220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Central Motor with Chain/Belt Drive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Moderate efficiency, cost-effective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Requires tensioning, prone to wear and slippage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Hub motors eliminate chain/belt losses and wear.</a:t>
                      </a:r>
                      <a:endParaRPr>
                        <a:latin typeface="Times New Roman"/>
                        <a:ea typeface="Times New Roman"/>
                        <a:cs typeface="Times New Roman"/>
                        <a:sym typeface="Times New Roman"/>
                      </a:endParaRPr>
                    </a:p>
                  </a:txBody>
                  <a:tcPr marT="91425" marB="91425" marR="91425" marL="91425"/>
                </a:tc>
              </a:tr>
              <a:tr h="10220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Central Motor with Differential</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Good torque distribution, widely used in EVs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Requires differential gears, increases weight and complexity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Our electronic torque balancing is lighter and simpler.</a:t>
                      </a:r>
                      <a:endParaRPr>
                        <a:latin typeface="Times New Roman"/>
                        <a:ea typeface="Times New Roman"/>
                        <a:cs typeface="Times New Roman"/>
                        <a:sym typeface="Times New Roman"/>
                      </a:endParaRPr>
                    </a:p>
                  </a:txBody>
                  <a:tcPr marT="91425" marB="91425" marR="91425" marL="91425"/>
                </a:tc>
              </a:tr>
              <a:tr h="10220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Dual Hub Motor Drive (Our Design)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Direct drive, high efficiency, low losses, regen capability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Slightly higher unsprung mass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Provides maximum efficiency and minimal transmission losses.</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8cdd4024e3_0_12"/>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1" name="Google Shape;301;g38cdd4024e3_0_12"/>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02" name="Google Shape;302;g38cdd4024e3_0_12"/>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03" name="Google Shape;303;g38cdd4024e3_0_12"/>
          <p:cNvSpPr txBox="1"/>
          <p:nvPr/>
        </p:nvSpPr>
        <p:spPr>
          <a:xfrm>
            <a:off x="593925" y="1028700"/>
            <a:ext cx="6256800" cy="6857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8.7 Key Features of Our Powertrain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High Efficiency: Direct drive minimizes transmission losses.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Compact &amp; Lightweight: No gearbox, clutch, or mechanical differential.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Regenerative Braking Support: Extends battery range.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Electronic Torque Management: Ensures stability during turns and uneven load conditions.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Modular Design: Battery, controller, and motors can be serviced or upgraded independently.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8.8 Advantages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Simplified Layout: Reduces fabrication time and cost.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Improved Energy Utilization: Regen system recovers part of kinetic energy.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Reduced Maintenance: Fewer moving parts compared to conventional drivetrains.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Enhanced Reliability: Direct power transfer improves consistency of performance.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Scalability: Design can be adapted for higher capacity batteries and motors in future.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8.9 Conclusion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powertrain and drivetrain layout of the electric four-wheeler employs a dual hub motor direct-drive system powered by a 48 V, 60 Ah battery pack. This configuration ensures high efficiency, reduced complexity, and integrated regenerative braking, making it superior to traditional chain, belt, or differential-based drivetrains. The design aligns with the overall project goal of achieving lightweight, reliable, and energy-efficient electric mobility.</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8cdd4024e3_0_20"/>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9" name="Google Shape;309;g38cdd4024e3_0_2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10" name="Google Shape;310;g38cdd4024e3_0_2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11" name="Google Shape;311;g38cdd4024e3_0_20"/>
          <p:cNvSpPr txBox="1"/>
          <p:nvPr/>
        </p:nvSpPr>
        <p:spPr>
          <a:xfrm>
            <a:off x="593925" y="929650"/>
            <a:ext cx="6256800" cy="9016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Chapter 9: Battery Pack &amp; Energy Storage System</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9.1 Introduction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battery pack serves as the primary energy source of the electric four-wheeler, supplying power to the traction motors and auxiliary systems. A well-engineered battery system is critical to ensure sufficient driving range, safety, and reliable performance. In this project, a 48 V, 60 Ah Lithium-ion NMC (Nickel Manganese Cobalt) battery pack is selected, supported by a Battery Management System (BMS) to regulate charging, discharging, and cell balancing.</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9.2 Objectives of Battery System Design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Provide sufficient energy to power dual 2000 W hub motors for urban commuting (~50 km range).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Maintain a lightweight, compact structure for integration into the chassis.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Ensure battery safety through thermal, electrical, and mechanical protections.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Support regenerative braking to extend operational range.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Enable modularity for future scalability and easy maintenance.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9.3 Battery Pack Configuration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Battery Chemistry: Lithium-ion NMC (Nickel Manganese Cobalt)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Nominal Voltage: 48 V</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Capacity: 60 Ah</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Energy Storage: 2.88 kWh (48 V × 60 Ah)</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Module Layout: Series-parallel cell arrangement (13S configuration, multiple cells in parallel per group)</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Enclosure: Mild steel/aluminium casing with insulation, cooling provisions, and mounting brackets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9.4 Battery Management System (BMS)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 dedicated BMS is integrated to ensure safe and efficient battery operation. Key features include: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Cell Monitoring &amp; Balancing: Maintains uniform charge across all cells.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Overcharge/Over-discharge Protection: Prevents cell damage and extends lifecycle.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Thermal Management: Monitors temperature to avoid overheating.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Current Regulation: Limits maximum current draw to protect cells and motors.</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8cdd4024e3_0_28"/>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17" name="Google Shape;317;g38cdd4024e3_0_28"/>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18" name="Google Shape;318;g38cdd4024e3_0_28"/>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19" name="Google Shape;319;g38cdd4024e3_0_28"/>
          <p:cNvSpPr txBox="1"/>
          <p:nvPr/>
        </p:nvSpPr>
        <p:spPr>
          <a:xfrm>
            <a:off x="593925" y="929650"/>
            <a:ext cx="6256800" cy="84657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None/>
            </a:pPr>
            <a:r>
              <a:rPr b="1" lang="en-IN" sz="1800">
                <a:solidFill>
                  <a:schemeClr val="dk1"/>
                </a:solidFill>
                <a:latin typeface="Times New Roman"/>
                <a:ea typeface="Times New Roman"/>
                <a:cs typeface="Times New Roman"/>
                <a:sym typeface="Times New Roman"/>
              </a:rPr>
              <a:t>9.5 Energy Flow and Operation</a:t>
            </a:r>
            <a:endParaRPr b="1" sz="1800">
              <a:solidFill>
                <a:schemeClr val="dk1"/>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chemeClr val="dk1"/>
              </a:buClr>
              <a:buSzPts val="1100"/>
              <a:buFont typeface="Times New Roman"/>
              <a:buChar char="●"/>
            </a:pPr>
            <a:r>
              <a:rPr lang="en-IN" sz="1500">
                <a:solidFill>
                  <a:schemeClr val="dk1"/>
                </a:solidFill>
                <a:latin typeface="Times New Roman"/>
                <a:ea typeface="Times New Roman"/>
                <a:cs typeface="Times New Roman"/>
                <a:sym typeface="Times New Roman"/>
              </a:rPr>
              <a:t>Discharge Mode: Energy flows from the battery pack → BMS → Motor controller → Hub motors.</a:t>
            </a:r>
            <a:endParaRPr sz="1500">
              <a:solidFill>
                <a:schemeClr val="dk1"/>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chemeClr val="dk1"/>
              </a:buClr>
              <a:buSzPts val="1100"/>
              <a:buFont typeface="Times New Roman"/>
              <a:buChar char="●"/>
            </a:pPr>
            <a:r>
              <a:rPr lang="en-IN" sz="1500">
                <a:solidFill>
                  <a:schemeClr val="dk1"/>
                </a:solidFill>
                <a:latin typeface="Times New Roman"/>
                <a:ea typeface="Times New Roman"/>
                <a:cs typeface="Times New Roman"/>
                <a:sym typeface="Times New Roman"/>
              </a:rPr>
              <a:t>Regenerative Mode: During braking, hub motors act as generators, sending energy back to the battery pack via the controller and BMS.</a:t>
            </a:r>
            <a:endParaRPr sz="1500">
              <a:solidFill>
                <a:schemeClr val="dk1"/>
              </a:solidFill>
              <a:latin typeface="Times New Roman"/>
              <a:ea typeface="Times New Roman"/>
              <a:cs typeface="Times New Roman"/>
              <a:sym typeface="Times New Roman"/>
            </a:endParaRPr>
          </a:p>
          <a:p>
            <a:pPr indent="-298450" lvl="0" marL="457200" rtl="0" algn="l">
              <a:lnSpc>
                <a:spcPct val="100000"/>
              </a:lnSpc>
              <a:spcBef>
                <a:spcPts val="0"/>
              </a:spcBef>
              <a:spcAft>
                <a:spcPts val="0"/>
              </a:spcAft>
              <a:buClr>
                <a:schemeClr val="dk1"/>
              </a:buClr>
              <a:buSzPts val="1100"/>
              <a:buFont typeface="Times New Roman"/>
              <a:buChar char="●"/>
            </a:pPr>
            <a:r>
              <a:rPr lang="en-IN" sz="1500">
                <a:solidFill>
                  <a:schemeClr val="dk1"/>
                </a:solidFill>
                <a:latin typeface="Times New Roman"/>
                <a:ea typeface="Times New Roman"/>
                <a:cs typeface="Times New Roman"/>
                <a:sym typeface="Times New Roman"/>
              </a:rPr>
              <a:t>Auxiliary Power: A DC–DC converter steps down 48 V to 12 V for low-voltage loads such as lights, horn, and display systems.</a:t>
            </a:r>
            <a:endParaRPr sz="1500">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800">
                <a:solidFill>
                  <a:schemeClr val="dk1"/>
                </a:solidFill>
                <a:highlight>
                  <a:srgbClr val="FFFFFF"/>
                </a:highlight>
                <a:latin typeface="Times New Roman"/>
                <a:ea typeface="Times New Roman"/>
                <a:cs typeface="Times New Roman"/>
                <a:sym typeface="Times New Roman"/>
              </a:rPr>
              <a:t>9.6 Comparison with Other Energy Storage Options</a:t>
            </a:r>
            <a:endParaRPr b="1" sz="1800">
              <a:solidFill>
                <a:schemeClr val="dk1"/>
              </a:solidFill>
              <a:highlight>
                <a:srgbClr val="FFFFFF"/>
              </a:highlight>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rPr lang="en-IN">
                <a:solidFill>
                  <a:schemeClr val="dk1"/>
                </a:solidFill>
                <a:latin typeface="Times New Roman"/>
                <a:ea typeface="Times New Roman"/>
                <a:cs typeface="Times New Roman"/>
                <a:sym typeface="Times New Roman"/>
              </a:rPr>
              <a:t>Battery Type	Characteristics	Limitations	Why NMC is Selected</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rPr lang="en-IN">
                <a:solidFill>
                  <a:schemeClr val="dk1"/>
                </a:solidFill>
                <a:latin typeface="Times New Roman"/>
                <a:ea typeface="Times New Roman"/>
                <a:cs typeface="Times New Roman"/>
                <a:sym typeface="Times New Roman"/>
              </a:rPr>
              <a:t>Lead Acid	Cheap, easy to source	Heavy, bulky, low cycle life	NMC is lighter, longer-lasting, and more energy-dense</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rPr lang="en-IN">
                <a:solidFill>
                  <a:schemeClr val="dk1"/>
                </a:solidFill>
                <a:latin typeface="Times New Roman"/>
                <a:ea typeface="Times New Roman"/>
                <a:cs typeface="Times New Roman"/>
                <a:sym typeface="Times New Roman"/>
              </a:rPr>
              <a:t>Lithium Iron Phosphate (LFP)	High safety, long cycle life	Lower energy density, heavier	NMC provides better compactness and higher energy per kg</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rPr lang="en-IN">
                <a:solidFill>
                  <a:schemeClr val="dk1"/>
                </a:solidFill>
                <a:latin typeface="Times New Roman"/>
                <a:ea typeface="Times New Roman"/>
                <a:cs typeface="Times New Roman"/>
                <a:sym typeface="Times New Roman"/>
              </a:rPr>
              <a:t>Nickel-Metal Hydride (NiMH)	Robust, safer than lead-acid	Limited energy density, costly	NMC offers better range and performance</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rPr lang="en-IN">
                <a:solidFill>
                  <a:schemeClr val="dk1"/>
                </a:solidFill>
                <a:latin typeface="Times New Roman"/>
                <a:ea typeface="Times New Roman"/>
                <a:cs typeface="Times New Roman"/>
                <a:sym typeface="Times New Roman"/>
              </a:rPr>
              <a:t>Lithium NMC (Our Choice)	High energy density, balanced cost, compact, supports regen	Requires precise BMS for safety	Optimal for lightweight, cost-efficient EV applications</a:t>
            </a:r>
            <a:endParaRPr>
              <a:solidFill>
                <a:schemeClr val="dk1"/>
              </a:solidFill>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800">
                <a:solidFill>
                  <a:schemeClr val="dk1"/>
                </a:solidFill>
                <a:latin typeface="Times New Roman"/>
                <a:ea typeface="Times New Roman"/>
                <a:cs typeface="Times New Roman"/>
                <a:sym typeface="Times New Roman"/>
              </a:rPr>
              <a:t>9.7 Key Features of Our Battery Pack</a:t>
            </a:r>
            <a:endParaRPr b="1" sz="1800">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High Energy Density: 2.88 kWh storage supports ~50 km range.</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Compact Size: Fits within the chassis without affecting ergonomics.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Regenerative Compatibility: Works seamlessly with hub motor system.</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Safety Integration: Over-voltage, short-circuit, and thermal protections.</a:t>
            </a:r>
            <a:endParaRPr>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Scalability: Modular design allows capacity to be upgraded for extended range.</a:t>
            </a:r>
            <a:br>
              <a:rPr lang="en-I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1800">
                <a:solidFill>
                  <a:schemeClr val="dk1"/>
                </a:solidFill>
                <a:latin typeface="Times New Roman"/>
                <a:ea typeface="Times New Roman"/>
                <a:cs typeface="Times New Roman"/>
                <a:sym typeface="Times New Roman"/>
              </a:rPr>
              <a:t>9.9 Conclusion</a:t>
            </a:r>
            <a:endParaRPr b="1"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IN">
                <a:solidFill>
                  <a:schemeClr val="dk1"/>
                </a:solidFill>
                <a:latin typeface="Times New Roman"/>
                <a:ea typeface="Times New Roman"/>
                <a:cs typeface="Times New Roman"/>
                <a:sym typeface="Times New Roman"/>
              </a:rPr>
              <a:t>The 48 V, 60 Ah Lithium-ion NMC battery pack provides an optimal balance between energy density, safety, and cost-effectiveness, making it well-suited for short-distance urban commuting. With integrated BMS protection, regenerative braking compatibility, and modular scalability, the battery system aligns with the project’s goals of delivering an affordable, lightweight, and efficient electric four-wheeler.</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8cdd4024e3_2_1"/>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25" name="Google Shape;325;g38cdd4024e3_2_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26" name="Google Shape;326;g38cdd4024e3_2_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27" name="Google Shape;327;g38cdd4024e3_2_1"/>
          <p:cNvSpPr txBox="1"/>
          <p:nvPr/>
        </p:nvSpPr>
        <p:spPr>
          <a:xfrm>
            <a:off x="593925" y="929650"/>
            <a:ext cx="6256800" cy="9016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Chapter 10: </a:t>
            </a:r>
            <a:r>
              <a:rPr b="1" lang="en-IN" sz="1800">
                <a:solidFill>
                  <a:schemeClr val="dk1"/>
                </a:solidFill>
                <a:latin typeface="Times New Roman"/>
                <a:ea typeface="Times New Roman"/>
                <a:cs typeface="Times New Roman"/>
                <a:sym typeface="Times New Roman"/>
              </a:rPr>
              <a:t> Motor Selection &amp; Performance Calculations</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10</a:t>
            </a:r>
            <a:r>
              <a:rPr b="1" lang="en-IN" sz="1600">
                <a:solidFill>
                  <a:schemeClr val="dk1"/>
                </a:solidFill>
                <a:latin typeface="Times New Roman"/>
                <a:ea typeface="Times New Roman"/>
                <a:cs typeface="Times New Roman"/>
                <a:sym typeface="Times New Roman"/>
              </a:rPr>
              <a:t>.1 Introduction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motor is the heart of any electric vehicle, directly determining acceleration, top speed, efficiency, and overall driving experience. For this electric four-wheeler, dual 2000 W BLDC hub motors were selected, providing a combined output of 4 kW. This configuration eliminates the need for a complex transmission or differential system, offering a direct-drive solution that enhances reliability, reduces weight, and improves overall efficiency.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10.2 Objectives of Motor Selection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Provide sufficient torque and power for short-distance urban commuting.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Achieve a maximum speed of ~35 km/h, suitable for campus and city envi</a:t>
            </a:r>
            <a:r>
              <a:rPr lang="en-IN">
                <a:solidFill>
                  <a:schemeClr val="dk1"/>
                </a:solidFill>
                <a:latin typeface="Times New Roman"/>
                <a:ea typeface="Times New Roman"/>
                <a:cs typeface="Times New Roman"/>
                <a:sym typeface="Times New Roman"/>
              </a:rPr>
              <a:t>r</a:t>
            </a:r>
            <a:r>
              <a:rPr lang="en-IN">
                <a:solidFill>
                  <a:schemeClr val="dk1"/>
                </a:solidFill>
                <a:latin typeface="Times New Roman"/>
                <a:ea typeface="Times New Roman"/>
                <a:cs typeface="Times New Roman"/>
                <a:sym typeface="Times New Roman"/>
              </a:rPr>
              <a:t>onments.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Ensure smooth power delivery and high efficiency with sine wave controller integration.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Support regenerative braking to recover energy during deceleration.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Minimize mechanical complexity by adopting a hub motor-based direct drive.</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10</a:t>
            </a:r>
            <a:r>
              <a:rPr b="1" lang="en-IN" sz="1600">
                <a:solidFill>
                  <a:schemeClr val="dk1"/>
                </a:solidFill>
                <a:latin typeface="Times New Roman"/>
                <a:ea typeface="Times New Roman"/>
                <a:cs typeface="Times New Roman"/>
                <a:sym typeface="Times New Roman"/>
              </a:rPr>
              <a:t>.3 </a:t>
            </a:r>
            <a:r>
              <a:rPr b="1" lang="en-IN" sz="1600">
                <a:solidFill>
                  <a:schemeClr val="dk1"/>
                </a:solidFill>
                <a:latin typeface="Times New Roman"/>
                <a:ea typeface="Times New Roman"/>
                <a:cs typeface="Times New Roman"/>
                <a:sym typeface="Times New Roman"/>
              </a:rPr>
              <a:t>Motor Specifications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Type: Brushless DC (BLDC) Hub Motor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Quantity: 2 (one per rear wheel)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Rated Power: 2000 W each (Total 4000 W)</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Operating Voltage: 48 V</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Maximum Current: 40 A (controller limited)</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Peak Torque (per motor): ~85 Nm</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Combined Torque: ~170 Nm at wheels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Cooling: Air-cooled, sealed design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Efficiency: 85–90% (depending on load and terrain)</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10</a:t>
            </a:r>
            <a:r>
              <a:rPr b="1" lang="en-IN" sz="1600">
                <a:solidFill>
                  <a:schemeClr val="dk1"/>
                </a:solidFill>
                <a:latin typeface="Times New Roman"/>
                <a:ea typeface="Times New Roman"/>
                <a:cs typeface="Times New Roman"/>
                <a:sym typeface="Times New Roman"/>
              </a:rPr>
              <a:t>.4 </a:t>
            </a:r>
            <a:r>
              <a:rPr b="1" lang="en-IN" sz="1600">
                <a:solidFill>
                  <a:schemeClr val="dk1"/>
                </a:solidFill>
                <a:latin typeface="Times New Roman"/>
                <a:ea typeface="Times New Roman"/>
                <a:cs typeface="Times New Roman"/>
                <a:sym typeface="Times New Roman"/>
              </a:rPr>
              <a:t>Motor Controller Integration</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A sine wave controller regulates the motors, offering smoother torque delivery and noise-free operation compared to square-wave controllers.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Key features include: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Torque and speed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Regenerative braking activation.</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8cdd4024e3_2_16"/>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33" name="Google Shape;333;g38cdd4024e3_2_16"/>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34" name="Google Shape;334;g38cdd4024e3_2_16"/>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35" name="Google Shape;335;g38cdd4024e3_2_16"/>
          <p:cNvSpPr txBox="1"/>
          <p:nvPr/>
        </p:nvSpPr>
        <p:spPr>
          <a:xfrm>
            <a:off x="606800" y="929650"/>
            <a:ext cx="6226500" cy="8439600"/>
          </a:xfrm>
          <a:prstGeom prst="rect">
            <a:avLst/>
          </a:prstGeom>
          <a:noFill/>
          <a:ln>
            <a:noFill/>
          </a:ln>
        </p:spPr>
        <p:txBody>
          <a:bodyPr anchorCtr="0" anchor="t" bIns="45700" lIns="91425" spcFirstLastPara="1" rIns="91425" wrap="square" tIns="45700">
            <a:spAutoFit/>
          </a:bodyPr>
          <a:lstStyle/>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Three-speed operation mode.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Over-current, over-voltage, and thermal protection.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Anti-theft locking functionality.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10.5 Performance Calculations</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1. Vehicle Parameters Assumed</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Vehicle Mass (including 2 passengers): 300 kg</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Wheel Radius: 0.25 m (16-inch tyres)</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Rolling Resistance Coefficient (Crr): 0.015</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Aerodynamic Drag Coefficient (Cd): 0.45 (compact EV body)</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Frontal Area (A): 1.2 m²</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Air Density (ρ): 1.225 kg/m³</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8cdd4024e3_2_41"/>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SzPts val="1100"/>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b="1" lang="en-IN" sz="1600">
                <a:solidFill>
                  <a:schemeClr val="dk1"/>
                </a:solidFill>
                <a:latin typeface="Times New Roman"/>
                <a:ea typeface="Times New Roman"/>
                <a:cs typeface="Times New Roman"/>
                <a:sym typeface="Times New Roman"/>
              </a:rPr>
              <a:t>10.7 Key Features of Our Motor System</a:t>
            </a:r>
            <a:endParaRPr b="1" sz="16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Dual 2000 W hub motors provide sufficient torque and redundancy.</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Direct drive eliminates transmission losses.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Regenerative braking support increases effective range by ~10–12%.</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Low maintenance due to fewer moving parts.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Compact layout simplifies chassis integration.</a:t>
            </a:r>
            <a:endParaRPr>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10.8 Conclusion</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rPr lang="en-IN">
                <a:solidFill>
                  <a:schemeClr val="dk1"/>
                </a:solidFill>
                <a:latin typeface="Times New Roman"/>
                <a:ea typeface="Times New Roman"/>
                <a:cs typeface="Times New Roman"/>
                <a:sym typeface="Times New Roman"/>
              </a:rPr>
              <a:t>The selected dual 2000 W BLDC hub motor system ensures reliable performance, smooth operation, and high energy efficiency for short-distance commuting. With robust torque output, integrated regenerative braking, and compatibility with the 48 V battery pack, the drivetrain delivers a practical and cost-effective mobility solution while maintaining scalability for future improvements.</a:t>
            </a:r>
            <a:endParaRPr sz="1800">
              <a:solidFill>
                <a:schemeClr val="dk1"/>
              </a:solidFill>
              <a:latin typeface="Calibri"/>
              <a:ea typeface="Calibri"/>
              <a:cs typeface="Calibri"/>
              <a:sym typeface="Calibri"/>
            </a:endParaRPr>
          </a:p>
        </p:txBody>
      </p:sp>
      <p:pic>
        <p:nvPicPr>
          <p:cNvPr id="341" name="Google Shape;341;g38cdd4024e3_2_4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42" name="Google Shape;342;g38cdd4024e3_2_4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43" name="Google Shape;343;g38cdd4024e3_2_41"/>
          <p:cNvSpPr txBox="1"/>
          <p:nvPr/>
        </p:nvSpPr>
        <p:spPr>
          <a:xfrm>
            <a:off x="630025" y="929650"/>
            <a:ext cx="6203400" cy="4439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10.6 </a:t>
            </a:r>
            <a:r>
              <a:rPr b="1" lang="en-IN" sz="1600">
                <a:solidFill>
                  <a:schemeClr val="dk1"/>
                </a:solidFill>
                <a:latin typeface="Times New Roman"/>
                <a:ea typeface="Times New Roman"/>
                <a:cs typeface="Times New Roman"/>
                <a:sym typeface="Times New Roman"/>
              </a:rPr>
              <a:t>Comparison with Alternative Motors</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344" name="Google Shape;344;g38cdd4024e3_2_41"/>
          <p:cNvGraphicFramePr/>
          <p:nvPr/>
        </p:nvGraphicFramePr>
        <p:xfrm>
          <a:off x="843825" y="1370375"/>
          <a:ext cx="3000000" cy="3000000"/>
        </p:xfrm>
        <a:graphic>
          <a:graphicData uri="http://schemas.openxmlformats.org/drawingml/2006/table">
            <a:tbl>
              <a:tblPr>
                <a:noFill/>
                <a:tableStyleId>{9AA01411-1129-4BFD-8B59-67041B4AEC91}</a:tableStyleId>
              </a:tblPr>
              <a:tblGrid>
                <a:gridCol w="1443950"/>
                <a:gridCol w="1443950"/>
                <a:gridCol w="1443950"/>
                <a:gridCol w="1443950"/>
              </a:tblGrid>
              <a:tr h="47705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Motor Type</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Advantages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Why BLDC Hub Selected</a:t>
                      </a:r>
                      <a:endParaRPr b="1">
                        <a:latin typeface="Times New Roman"/>
                        <a:ea typeface="Times New Roman"/>
                        <a:cs typeface="Times New Roman"/>
                        <a:sym typeface="Times New Roman"/>
                      </a:endParaRPr>
                    </a:p>
                  </a:txBody>
                  <a:tcPr marT="91425" marB="91425" marR="91425" marL="91425"/>
                </a:tc>
              </a:tr>
              <a:tr h="45325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DC Brushed</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Simple, low cost</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Low efficiency, high wear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Not suitable</a:t>
                      </a:r>
                      <a:endParaRPr>
                        <a:latin typeface="Times New Roman"/>
                        <a:ea typeface="Times New Roman"/>
                        <a:cs typeface="Times New Roman"/>
                        <a:sym typeface="Times New Roman"/>
                      </a:endParaRPr>
                    </a:p>
                  </a:txBody>
                  <a:tcPr marT="91425" marB="91425" marR="91425" marL="91425"/>
                </a:tc>
              </a:tr>
              <a:tr h="45325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Induction Motor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Robust, high torque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Heavy, costly controller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Not cost-effective</a:t>
                      </a:r>
                      <a:endParaRPr>
                        <a:latin typeface="Times New Roman"/>
                        <a:ea typeface="Times New Roman"/>
                        <a:cs typeface="Times New Roman"/>
                        <a:sym typeface="Times New Roman"/>
                      </a:endParaRPr>
                    </a:p>
                  </a:txBody>
                  <a:tcPr marT="91425" marB="91425" marR="91425" marL="91425"/>
                </a:tc>
              </a:tr>
              <a:tr h="487125">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PMSM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efficiency, precise control</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Expensive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Beyond cost targets</a:t>
                      </a:r>
                      <a:endParaRPr>
                        <a:latin typeface="Times New Roman"/>
                        <a:ea typeface="Times New Roman"/>
                        <a:cs typeface="Times New Roman"/>
                        <a:sym typeface="Times New Roman"/>
                      </a:endParaRPr>
                    </a:p>
                  </a:txBody>
                  <a:tcPr marT="91425" marB="91425" marR="91425" marL="91425"/>
                </a:tc>
              </a:tr>
              <a:tr h="487125">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BLDC Hub</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Direct drive, compact, regen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Needs advanced controller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Best balance</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8cdd4024e3_1_33"/>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50" name="Google Shape;350;g38cdd4024e3_1_33"/>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51" name="Google Shape;351;g38cdd4024e3_1_33"/>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52" name="Google Shape;352;g38cdd4024e3_1_33"/>
          <p:cNvSpPr txBox="1"/>
          <p:nvPr/>
        </p:nvSpPr>
        <p:spPr>
          <a:xfrm>
            <a:off x="593925" y="929650"/>
            <a:ext cx="6256800" cy="9972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Chapter 11 Electrical &amp; Electronic Systems (BMS, Wiring, Controls)</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11.1 Introduction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electrical and electronic systems ensure safe energy management, seamless power transfer, and reliable driver–vehicle communication. In this project, a Smart BMS with Bluetooth monitoring, a sine wave motor controller, and a structured wiring layout were integrated to provide high efficiency, safety, and real-time feedback.</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11.2 Smart Battery Management System (BMS)</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vehicle employs a Smart BMS, which enhances conventional battery management with advanced monitoring and connectivity.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Functions of the Smart BMS:</a:t>
            </a:r>
            <a:endParaRPr>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IN">
                <a:solidFill>
                  <a:schemeClr val="dk1"/>
                </a:solidFill>
                <a:latin typeface="Times New Roman"/>
                <a:ea typeface="Times New Roman"/>
                <a:cs typeface="Times New Roman"/>
                <a:sym typeface="Times New Roman"/>
              </a:rPr>
              <a:t>Cell Monitoring &amp; Balancing:</a:t>
            </a:r>
            <a:r>
              <a:rPr lang="en-IN">
                <a:solidFill>
                  <a:schemeClr val="dk1"/>
                </a:solidFill>
                <a:latin typeface="Times New Roman"/>
                <a:ea typeface="Times New Roman"/>
                <a:cs typeface="Times New Roman"/>
                <a:sym typeface="Times New Roman"/>
              </a:rPr>
              <a:t> Tracks and balances individual cell voltages to ensure even charging and discharging.</a:t>
            </a:r>
            <a:endParaRPr>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IN">
                <a:solidFill>
                  <a:schemeClr val="dk1"/>
                </a:solidFill>
                <a:latin typeface="Times New Roman"/>
                <a:ea typeface="Times New Roman"/>
                <a:cs typeface="Times New Roman"/>
                <a:sym typeface="Times New Roman"/>
              </a:rPr>
              <a:t>Thermal Protection: </a:t>
            </a:r>
            <a:r>
              <a:rPr lang="en-IN">
                <a:solidFill>
                  <a:schemeClr val="dk1"/>
                </a:solidFill>
                <a:latin typeface="Times New Roman"/>
                <a:ea typeface="Times New Roman"/>
                <a:cs typeface="Times New Roman"/>
                <a:sym typeface="Times New Roman"/>
              </a:rPr>
              <a:t>Monitors pack temperature with embedded sensors, triggering corrective measures during overheating.</a:t>
            </a:r>
            <a:endParaRPr>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IN">
                <a:solidFill>
                  <a:schemeClr val="dk1"/>
                </a:solidFill>
                <a:latin typeface="Times New Roman"/>
                <a:ea typeface="Times New Roman"/>
                <a:cs typeface="Times New Roman"/>
                <a:sym typeface="Times New Roman"/>
              </a:rPr>
              <a:t>Bluetooth Connectivity</a:t>
            </a:r>
            <a:r>
              <a:rPr lang="en-IN">
                <a:solidFill>
                  <a:schemeClr val="dk1"/>
                </a:solidFill>
                <a:latin typeface="Times New Roman"/>
                <a:ea typeface="Times New Roman"/>
                <a:cs typeface="Times New Roman"/>
                <a:sym typeface="Times New Roman"/>
              </a:rPr>
              <a:t>: Enables wireless monitoring of parameters such as SOC (State of Charge), SOH (State of Health), current, temperature, and fault alerts via a mobile application.</a:t>
            </a:r>
            <a:endParaRPr>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IN">
                <a:solidFill>
                  <a:schemeClr val="dk1"/>
                </a:solidFill>
                <a:latin typeface="Times New Roman"/>
                <a:ea typeface="Times New Roman"/>
                <a:cs typeface="Times New Roman"/>
                <a:sym typeface="Times New Roman"/>
              </a:rPr>
              <a:t>Data Logging: </a:t>
            </a:r>
            <a:r>
              <a:rPr lang="en-IN">
                <a:solidFill>
                  <a:schemeClr val="dk1"/>
                </a:solidFill>
                <a:latin typeface="Times New Roman"/>
                <a:ea typeface="Times New Roman"/>
                <a:cs typeface="Times New Roman"/>
                <a:sym typeface="Times New Roman"/>
              </a:rPr>
              <a:t>Provides historical battery performance records for diagnostics.</a:t>
            </a:r>
            <a:endParaRPr>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IN">
                <a:solidFill>
                  <a:schemeClr val="dk1"/>
                </a:solidFill>
                <a:latin typeface="Times New Roman"/>
                <a:ea typeface="Times New Roman"/>
                <a:cs typeface="Times New Roman"/>
                <a:sym typeface="Times New Roman"/>
              </a:rPr>
              <a:t>Safety Mechanisms:</a:t>
            </a:r>
            <a:r>
              <a:rPr lang="en-IN">
                <a:solidFill>
                  <a:schemeClr val="dk1"/>
                </a:solidFill>
                <a:latin typeface="Times New Roman"/>
                <a:ea typeface="Times New Roman"/>
                <a:cs typeface="Times New Roman"/>
                <a:sym typeface="Times New Roman"/>
              </a:rPr>
              <a:t> Protects against overcharge, over-discharge, short-circuit, and thermal runaway.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This real-time visibility makes the Smart BMS a crucial feature, ensuring both user awareness and battery longevity.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11.3 Wiring Architecture</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A carefully designed wiring system ensures safe, organized, and interference-free operation.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Design Highlights: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High-Voltage Lines: Shielded connections between the battery, controller, and motor to minimize power losses and EMI.</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Low-Voltage Lines: Separate circuits for signals, sensors, and auxiliary electronics.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Fuse &amp; Relay Integration: Located at critical points for overload and short-circuit protection.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Color-Coded &amp; Labeled Harness: Simplifies maintenance and fault detection.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38cdd4024e3_1_42"/>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58" name="Google Shape;358;g38cdd4024e3_1_42"/>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59" name="Google Shape;359;g38cdd4024e3_1_42"/>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60" name="Google Shape;360;g38cdd4024e3_1_42"/>
          <p:cNvSpPr txBox="1"/>
          <p:nvPr/>
        </p:nvSpPr>
        <p:spPr>
          <a:xfrm>
            <a:off x="593925" y="929650"/>
            <a:ext cx="6256800" cy="9335400"/>
          </a:xfrm>
          <a:prstGeom prst="rect">
            <a:avLst/>
          </a:prstGeom>
          <a:noFill/>
          <a:ln>
            <a:noFill/>
          </a:ln>
        </p:spPr>
        <p:txBody>
          <a:bodyPr anchorCtr="0" anchor="t" bIns="45700" lIns="91425" spcFirstLastPara="1" rIns="91425" wrap="square" tIns="45700">
            <a:spAutoFit/>
          </a:bodyPr>
          <a:lstStyle/>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Protective Routing: Wires routed through conduits to resist vibrations, heat, and physical wear.</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This structured wiring ensures safety while supporting both high-current propulsion circuits and low-power control circuits.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11.4 Motor Controller – Sine Wave Type</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system uses a sine wave motor controller, chosen for its smooth operation, efficiency, and precise torque control.</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Functions: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Smooth Torque Delivery:</a:t>
            </a:r>
            <a:r>
              <a:rPr lang="en-IN">
                <a:solidFill>
                  <a:schemeClr val="dk1"/>
                </a:solidFill>
                <a:latin typeface="Times New Roman"/>
                <a:ea typeface="Times New Roman"/>
                <a:cs typeface="Times New Roman"/>
                <a:sym typeface="Times New Roman"/>
              </a:rPr>
              <a:t> Provides a quiet and vibration-free ride compared to square-wave controllers.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Regenerative Braking Integration: </a:t>
            </a:r>
            <a:r>
              <a:rPr lang="en-IN">
                <a:solidFill>
                  <a:schemeClr val="dk1"/>
                </a:solidFill>
                <a:latin typeface="Times New Roman"/>
                <a:ea typeface="Times New Roman"/>
                <a:cs typeface="Times New Roman"/>
                <a:sym typeface="Times New Roman"/>
              </a:rPr>
              <a:t>Automatically manages regenerative braking when the brake input is applied, feeding energy back into the battery.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Signal Processing: </a:t>
            </a:r>
            <a:r>
              <a:rPr lang="en-IN">
                <a:solidFill>
                  <a:schemeClr val="dk1"/>
                </a:solidFill>
                <a:latin typeface="Times New Roman"/>
                <a:ea typeface="Times New Roman"/>
                <a:cs typeface="Times New Roman"/>
                <a:sym typeface="Times New Roman"/>
              </a:rPr>
              <a:t>Receives throttle input, brake signals, and battery status from the Smart BMS.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Protection Features: </a:t>
            </a:r>
            <a:r>
              <a:rPr lang="en-IN">
                <a:solidFill>
                  <a:schemeClr val="dk1"/>
                </a:solidFill>
                <a:latin typeface="Times New Roman"/>
                <a:ea typeface="Times New Roman"/>
                <a:cs typeface="Times New Roman"/>
                <a:sym typeface="Times New Roman"/>
              </a:rPr>
              <a:t>Includes safeguards against overcurrent, under-voltage, and overheating.</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Multi-Mode Operation: </a:t>
            </a:r>
            <a:r>
              <a:rPr lang="en-IN">
                <a:solidFill>
                  <a:schemeClr val="dk1"/>
                </a:solidFill>
                <a:latin typeface="Times New Roman"/>
                <a:ea typeface="Times New Roman"/>
                <a:cs typeface="Times New Roman"/>
                <a:sym typeface="Times New Roman"/>
              </a:rPr>
              <a:t>Allows efficient handling of varying load conditions.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controller acts as the central unit for driving and braking, ensuring seamless switching between propulsion and energy recovery.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11.5 Control Electronics &amp; Dashboard Interface</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Dashboard Display:</a:t>
            </a:r>
            <a:r>
              <a:rPr lang="en-IN">
                <a:solidFill>
                  <a:schemeClr val="dk1"/>
                </a:solidFill>
                <a:latin typeface="Times New Roman"/>
                <a:ea typeface="Times New Roman"/>
                <a:cs typeface="Times New Roman"/>
                <a:sym typeface="Times New Roman"/>
              </a:rPr>
              <a:t> Shows real-time speed, SOC, fault indicators, and regen activity.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Bluetooth Integration:</a:t>
            </a:r>
            <a:r>
              <a:rPr lang="en-IN">
                <a:solidFill>
                  <a:schemeClr val="dk1"/>
                </a:solidFill>
                <a:latin typeface="Times New Roman"/>
                <a:ea typeface="Times New Roman"/>
                <a:cs typeface="Times New Roman"/>
                <a:sym typeface="Times New Roman"/>
              </a:rPr>
              <a:t> Works with the Smart BMS app for detailed battery analytics.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Auxiliary Controls: </a:t>
            </a:r>
            <a:r>
              <a:rPr lang="en-IN">
                <a:solidFill>
                  <a:schemeClr val="dk1"/>
                </a:solidFill>
                <a:latin typeface="Times New Roman"/>
                <a:ea typeface="Times New Roman"/>
                <a:cs typeface="Times New Roman"/>
                <a:sym typeface="Times New Roman"/>
              </a:rPr>
              <a:t>Lights, horn, and indicators managed by a low-voltage circuit.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Safety Interlocks:</a:t>
            </a:r>
            <a:r>
              <a:rPr lang="en-IN">
                <a:solidFill>
                  <a:schemeClr val="dk1"/>
                </a:solidFill>
                <a:latin typeface="Times New Roman"/>
                <a:ea typeface="Times New Roman"/>
                <a:cs typeface="Times New Roman"/>
                <a:sym typeface="Times New Roman"/>
              </a:rPr>
              <a:t> Prevent vehicle operation if the BMS or controller detects a fault.</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11.6 Safety Features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Emergency Shut-off Switch:</a:t>
            </a:r>
            <a:r>
              <a:rPr lang="en-IN">
                <a:solidFill>
                  <a:schemeClr val="dk1"/>
                </a:solidFill>
                <a:latin typeface="Times New Roman"/>
                <a:ea typeface="Times New Roman"/>
                <a:cs typeface="Times New Roman"/>
                <a:sym typeface="Times New Roman"/>
              </a:rPr>
              <a:t> Instantly disconnects the battery during critical faults.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Isolation Monitoring: </a:t>
            </a:r>
            <a:r>
              <a:rPr lang="en-IN">
                <a:solidFill>
                  <a:schemeClr val="dk1"/>
                </a:solidFill>
                <a:latin typeface="Times New Roman"/>
                <a:ea typeface="Times New Roman"/>
                <a:cs typeface="Times New Roman"/>
                <a:sym typeface="Times New Roman"/>
              </a:rPr>
              <a:t>Detects any potential leakage from high-voltage lines to chassis.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Controller Protections:</a:t>
            </a:r>
            <a:r>
              <a:rPr lang="en-IN">
                <a:solidFill>
                  <a:schemeClr val="dk1"/>
                </a:solidFill>
                <a:latin typeface="Times New Roman"/>
                <a:ea typeface="Times New Roman"/>
                <a:cs typeface="Times New Roman"/>
                <a:sym typeface="Times New Roman"/>
              </a:rPr>
              <a:t> Built-in overvoltage, overcurrent, and thermal protection.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8cdd4024e3_1_51"/>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66" name="Google Shape;366;g38cdd4024e3_1_5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67" name="Google Shape;367;g38cdd4024e3_1_5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68" name="Google Shape;368;g38cdd4024e3_1_51"/>
          <p:cNvSpPr txBox="1"/>
          <p:nvPr/>
        </p:nvSpPr>
        <p:spPr>
          <a:xfrm>
            <a:off x="593925" y="929650"/>
            <a:ext cx="6256800" cy="8061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11.7 Comparison with Other Systems</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11.8 Summary</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electrical and electronic systems integrate Smart BMS, sine wave controller, and structured wiring into a cohesive and efficient framework. The Smart BMS provides advanced monitoring through Bluetooth, the sine wave controller ensures smooth drive and regenerative braking, and the wiring system guarantees safe power and signal management. Together, these subsystems form a safe, efficient, and intelligent electrical backbone for the vehicle.</a:t>
            </a:r>
            <a:endParaRPr>
              <a:solidFill>
                <a:schemeClr val="dk1"/>
              </a:solidFill>
              <a:latin typeface="Times New Roman"/>
              <a:ea typeface="Times New Roman"/>
              <a:cs typeface="Times New Roman"/>
              <a:sym typeface="Times New Roman"/>
            </a:endParaRPr>
          </a:p>
        </p:txBody>
      </p:sp>
      <p:graphicFrame>
        <p:nvGraphicFramePr>
          <p:cNvPr id="369" name="Google Shape;369;g38cdd4024e3_1_51"/>
          <p:cNvGraphicFramePr/>
          <p:nvPr/>
        </p:nvGraphicFramePr>
        <p:xfrm>
          <a:off x="649850" y="1514975"/>
          <a:ext cx="3000000" cy="3000000"/>
        </p:xfrm>
        <a:graphic>
          <a:graphicData uri="http://schemas.openxmlformats.org/drawingml/2006/table">
            <a:tbl>
              <a:tblPr>
                <a:noFill/>
                <a:tableStyleId>{9AA01411-1129-4BFD-8B59-67041B4AEC91}</a:tableStyleId>
              </a:tblPr>
              <a:tblGrid>
                <a:gridCol w="1267975"/>
                <a:gridCol w="1630900"/>
                <a:gridCol w="1642400"/>
                <a:gridCol w="1715525"/>
              </a:tblGrid>
              <a:tr h="38100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Aspect</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Our System (Smart BMS + Sine Wave Controller)</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Conventional EV with Basic BMS + Square Wave Controller</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ICE Vehicle (Petrol/Diesel)</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Battery Management</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Smart BMS with Bluetooth monitoring, cell balancing, SOC &amp; SOH tracking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Basic BMS, limited cell monitoring, no wireless data access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Not applicable (fuel-based system)</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Connectivity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Wireless Bluetooth app integration for real-time battery data</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No connectivity, manual diagnostic only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Requires OBD scanner, limited accessibility</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Regenerative Braking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Integrated regenerative braking, controlled by motor controller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Often absent or less efficient regen support</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Not available, braking only mechanical</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Efficiency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smooth motor operation + regen energy recovery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Medium  energy losses in square wave system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Low depends on combustion efficiency (~25–30%)</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8cdd4024e3_1_63"/>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75" name="Google Shape;375;g38cdd4024e3_1_63"/>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76" name="Google Shape;376;g38cdd4024e3_1_63"/>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77" name="Google Shape;377;g38cdd4024e3_1_63"/>
          <p:cNvSpPr txBox="1"/>
          <p:nvPr/>
        </p:nvSpPr>
        <p:spPr>
          <a:xfrm>
            <a:off x="593925" y="929650"/>
            <a:ext cx="6256800" cy="10668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Chapter </a:t>
            </a:r>
            <a:r>
              <a:rPr b="1" lang="en-IN" sz="1800">
                <a:solidFill>
                  <a:schemeClr val="dk1"/>
                </a:solidFill>
                <a:latin typeface="Times New Roman"/>
                <a:ea typeface="Times New Roman"/>
                <a:cs typeface="Times New Roman"/>
                <a:sym typeface="Times New Roman"/>
              </a:rPr>
              <a:t>12 – Safety Features &amp; Standards Compliance</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12.1 Introduction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Safety is a critical aspect in the design and development of any vehicle, especially for electric four-wheelers intended for urban and campus mobility. The goal of this project was to incorporate </a:t>
            </a:r>
            <a:r>
              <a:rPr b="1" lang="en-IN">
                <a:solidFill>
                  <a:schemeClr val="dk1"/>
                </a:solidFill>
                <a:latin typeface="Times New Roman"/>
                <a:ea typeface="Times New Roman"/>
                <a:cs typeface="Times New Roman"/>
                <a:sym typeface="Times New Roman"/>
              </a:rPr>
              <a:t>essential active and passive safety features</a:t>
            </a:r>
            <a:r>
              <a:rPr lang="en-IN">
                <a:solidFill>
                  <a:schemeClr val="dk1"/>
                </a:solidFill>
                <a:latin typeface="Times New Roman"/>
                <a:ea typeface="Times New Roman"/>
                <a:cs typeface="Times New Roman"/>
                <a:sym typeface="Times New Roman"/>
              </a:rPr>
              <a:t> that ensure the protection of passengers, vehicle components, and surrounding pedestrians, while also aligning with </a:t>
            </a:r>
            <a:r>
              <a:rPr b="1" lang="en-IN">
                <a:solidFill>
                  <a:schemeClr val="dk1"/>
                </a:solidFill>
                <a:latin typeface="Times New Roman"/>
                <a:ea typeface="Times New Roman"/>
                <a:cs typeface="Times New Roman"/>
                <a:sym typeface="Times New Roman"/>
              </a:rPr>
              <a:t>standardized safety practices and compliance requirements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safety system has been designed to balance </a:t>
            </a:r>
            <a:r>
              <a:rPr b="1" lang="en-IN">
                <a:solidFill>
                  <a:schemeClr val="dk1"/>
                </a:solidFill>
                <a:latin typeface="Times New Roman"/>
                <a:ea typeface="Times New Roman"/>
                <a:cs typeface="Times New Roman"/>
                <a:sym typeface="Times New Roman"/>
              </a:rPr>
              <a:t>cost-effectiveness, practicality, and reliability</a:t>
            </a:r>
            <a:r>
              <a:rPr lang="en-IN">
                <a:solidFill>
                  <a:schemeClr val="dk1"/>
                </a:solidFill>
                <a:latin typeface="Times New Roman"/>
                <a:ea typeface="Times New Roman"/>
                <a:cs typeface="Times New Roman"/>
                <a:sym typeface="Times New Roman"/>
              </a:rPr>
              <a:t> while adhering to the performance targets of a lightweight, low-speed electric vehicle.</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12.2 </a:t>
            </a:r>
            <a:r>
              <a:rPr b="1" lang="en-IN" sz="1600">
                <a:solidFill>
                  <a:schemeClr val="dk1"/>
                </a:solidFill>
                <a:latin typeface="Times New Roman"/>
                <a:ea typeface="Times New Roman"/>
                <a:cs typeface="Times New Roman"/>
                <a:sym typeface="Times New Roman"/>
              </a:rPr>
              <a:t>Integrated Safety Features</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1. Braking Safety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Dual-piston hydraulic disc brakes on both front and rear wheels ensure high braking efficiency</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Regenerative braking integrated with the sine wave controller supplements mechanical braking during deceleration.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Redundant braking capability ensures that even if regenerative braking is unavailable, mechanical braking provides reliable stopping power.</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a:solidFill>
                  <a:schemeClr val="dk1"/>
                </a:solidFill>
                <a:latin typeface="Times New Roman"/>
                <a:ea typeface="Times New Roman"/>
                <a:cs typeface="Times New Roman"/>
                <a:sym typeface="Times New Roman"/>
              </a:rPr>
              <a:t>2. Electrical Safety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Smart BMS provides overcharge, over-discharge, overcurrent, and short-circuit protection.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Real-time thermal monitoring prevents overheating of battery cells.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Segregated high-voltage (HV) and low-voltage (LV) wiring reduces the risk of short circuits and electrical leakage.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Emergency battery cut-off switch for immediate isolation in hazardous situations.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a:solidFill>
                  <a:schemeClr val="dk1"/>
                </a:solidFill>
                <a:latin typeface="Times New Roman"/>
                <a:ea typeface="Times New Roman"/>
                <a:cs typeface="Times New Roman"/>
                <a:sym typeface="Times New Roman"/>
              </a:rPr>
              <a:t>3. Structural &amp; Passenger Safety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CAD and FEA-based chassis design validated for load distribution and impact resistance.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Proper weight balance and low center of gravity minimize rollover risks.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Ergonomically designed seating and safe cabin dimensions enhance driver stability and comfort.</a:t>
            </a:r>
            <a:br>
              <a:rPr lang="en-IN" sz="1100">
                <a:solidFill>
                  <a:schemeClr val="dk1"/>
                </a:solidFill>
              </a:rPr>
            </a:br>
            <a:endParaRPr sz="1100">
              <a:solidFill>
                <a:schemeClr val="dk1"/>
              </a:solidFill>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8ce53cbcb0_0_0"/>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83" name="Google Shape;383;g38ce53cbcb0_0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84" name="Google Shape;384;g38ce53cbcb0_0_0"/>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85" name="Google Shape;385;g38ce53cbcb0_0_0"/>
          <p:cNvSpPr txBox="1"/>
          <p:nvPr/>
        </p:nvSpPr>
        <p:spPr>
          <a:xfrm>
            <a:off x="593925" y="704550"/>
            <a:ext cx="6256800" cy="4417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IN">
                <a:solidFill>
                  <a:schemeClr val="dk1"/>
                </a:solidFill>
                <a:latin typeface="Times New Roman"/>
                <a:ea typeface="Times New Roman"/>
                <a:cs typeface="Times New Roman"/>
                <a:sym typeface="Times New Roman"/>
              </a:rPr>
              <a:t>4. Fire &amp; Thermal Safety</a:t>
            </a:r>
            <a:endParaRPr b="1">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IN">
                <a:solidFill>
                  <a:schemeClr val="dk1"/>
                </a:solidFill>
                <a:latin typeface="Times New Roman"/>
                <a:ea typeface="Times New Roman"/>
                <a:cs typeface="Times New Roman"/>
                <a:sym typeface="Times New Roman"/>
              </a:rPr>
              <a:t>Battery pack designed with insulated casings to prevent thermal propagation.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Adequate ventilation for cooling electronic systems.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Use of flame-retardant cables in HV circuits.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5. Operational Safety</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Maximum speed limited to </a:t>
            </a:r>
            <a:r>
              <a:rPr b="1" lang="en-IN">
                <a:solidFill>
                  <a:schemeClr val="dk1"/>
                </a:solidFill>
                <a:latin typeface="Times New Roman"/>
                <a:ea typeface="Times New Roman"/>
                <a:cs typeface="Times New Roman"/>
                <a:sym typeface="Times New Roman"/>
              </a:rPr>
              <a:t>35 km/h</a:t>
            </a:r>
            <a:r>
              <a:rPr lang="en-IN">
                <a:solidFill>
                  <a:schemeClr val="dk1"/>
                </a:solidFill>
                <a:latin typeface="Times New Roman"/>
                <a:ea typeface="Times New Roman"/>
                <a:cs typeface="Times New Roman"/>
                <a:sym typeface="Times New Roman"/>
              </a:rPr>
              <a:t>, suitable for controlled urban/campus use.</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Reverse gear speed limitation to enhance driver control.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Audible warning horn and LED indicators for signaling.</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12.3 Standards and Regulatory Compliance</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386" name="Google Shape;386;g38ce53cbcb0_0_0"/>
          <p:cNvGraphicFramePr/>
          <p:nvPr/>
        </p:nvGraphicFramePr>
        <p:xfrm>
          <a:off x="593888" y="3619525"/>
          <a:ext cx="3000000" cy="3000000"/>
        </p:xfrm>
        <a:graphic>
          <a:graphicData uri="http://schemas.openxmlformats.org/drawingml/2006/table">
            <a:tbl>
              <a:tblPr>
                <a:noFill/>
                <a:tableStyleId>{9AA01411-1129-4BFD-8B59-67041B4AEC91}</a:tableStyleId>
              </a:tblPr>
              <a:tblGrid>
                <a:gridCol w="2085600"/>
                <a:gridCol w="2085600"/>
                <a:gridCol w="2085600"/>
              </a:tblGrid>
              <a:tr h="627475">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Domain</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Followed Standards / Guidelines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Implementation in Our Vehicle</a:t>
                      </a:r>
                      <a:endParaRPr b="1">
                        <a:latin typeface="Times New Roman"/>
                        <a:ea typeface="Times New Roman"/>
                        <a:cs typeface="Times New Roman"/>
                        <a:sym typeface="Times New Roman"/>
                      </a:endParaRPr>
                    </a:p>
                  </a:txBody>
                  <a:tcPr marT="91425" marB="91425" marR="91425" marL="91425"/>
                </a:tc>
              </a:tr>
              <a:tr h="8064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Braking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AIS-150 / ISO 3450 – Braking performance standards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Dual-piston hydraulic disc brakes + regenerative braking</a:t>
                      </a:r>
                      <a:endParaRPr>
                        <a:latin typeface="Times New Roman"/>
                        <a:ea typeface="Times New Roman"/>
                        <a:cs typeface="Times New Roman"/>
                        <a:sym typeface="Times New Roman"/>
                      </a:endParaRPr>
                    </a:p>
                  </a:txBody>
                  <a:tcPr marT="91425" marB="91425" marR="91425" marL="91425"/>
                </a:tc>
              </a:tr>
              <a:tr h="10155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Battery Safety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UN 38.3 / AIS-156 (EV battery safety)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Smart BMS with cell balancing, thermal monitoring, protective casing</a:t>
                      </a:r>
                      <a:endParaRPr>
                        <a:latin typeface="Times New Roman"/>
                        <a:ea typeface="Times New Roman"/>
                        <a:cs typeface="Times New Roman"/>
                        <a:sym typeface="Times New Roman"/>
                      </a:endParaRPr>
                    </a:p>
                  </a:txBody>
                  <a:tcPr marT="91425" marB="91425" marR="91425" marL="91425"/>
                </a:tc>
              </a:tr>
              <a:tr h="8762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Electrical Wiring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IEC 60664 &amp; IEC 60529 (insulation &amp; IP rating)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Segregated HV/LV circuits, flame-retardant cables, protective routing</a:t>
                      </a:r>
                      <a:endParaRPr>
                        <a:latin typeface="Times New Roman"/>
                        <a:ea typeface="Times New Roman"/>
                        <a:cs typeface="Times New Roman"/>
                        <a:sym typeface="Times New Roman"/>
                      </a:endParaRPr>
                    </a:p>
                  </a:txBody>
                  <a:tcPr marT="91425" marB="91425" marR="91425" marL="91425"/>
                </a:tc>
              </a:tr>
              <a:tr h="8480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Structural Safety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AIS-037 (Vehicle crashworthiness guidelines)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Chassis designed with FEA validation for load &amp; stress resistance</a:t>
                      </a:r>
                      <a:endParaRPr>
                        <a:latin typeface="Times New Roman"/>
                        <a:ea typeface="Times New Roman"/>
                        <a:cs typeface="Times New Roman"/>
                        <a:sym typeface="Times New Roman"/>
                      </a:endParaRPr>
                    </a:p>
                  </a:txBody>
                  <a:tcPr marT="91425" marB="91425" marR="91425" marL="91425"/>
                </a:tc>
              </a:tr>
              <a:tr h="8064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Passenger Protection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AIS-052 / AIS-056 (Low-speed &amp; small vehicle safety)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Ergonomic seating, rollover stability, speed limitation</a:t>
                      </a:r>
                      <a:endParaRPr>
                        <a:latin typeface="Times New Roman"/>
                        <a:ea typeface="Times New Roman"/>
                        <a:cs typeface="Times New Roman"/>
                        <a:sym typeface="Times New Roman"/>
                      </a:endParaRPr>
                    </a:p>
                  </a:txBody>
                  <a:tcPr marT="91425" marB="91425" marR="91425" marL="91425"/>
                </a:tc>
              </a:tr>
              <a:tr h="10004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Thermal Safety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IEC 62660 (Lithium-ion cell testing)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Thermal monitoring via smart BMS, ventilated pack design</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8402e44794_0_3"/>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pic>
        <p:nvPicPr>
          <p:cNvPr id="392" name="Google Shape;392;g38402e44794_0_3"/>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393" name="Google Shape;393;g38402e44794_0_3"/>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394" name="Google Shape;394;g38402e44794_0_3"/>
          <p:cNvSpPr txBox="1"/>
          <p:nvPr/>
        </p:nvSpPr>
        <p:spPr>
          <a:xfrm>
            <a:off x="649850" y="575238"/>
            <a:ext cx="6256800" cy="7213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12.4 Comparison with Other Systems</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395" name="Google Shape;395;g38402e44794_0_3"/>
          <p:cNvGraphicFramePr/>
          <p:nvPr/>
        </p:nvGraphicFramePr>
        <p:xfrm>
          <a:off x="593925" y="921788"/>
          <a:ext cx="3000000" cy="3000000"/>
        </p:xfrm>
        <a:graphic>
          <a:graphicData uri="http://schemas.openxmlformats.org/drawingml/2006/table">
            <a:tbl>
              <a:tblPr>
                <a:noFill/>
                <a:tableStyleId>{9AA01411-1129-4BFD-8B59-67041B4AEC91}</a:tableStyleId>
              </a:tblPr>
              <a:tblGrid>
                <a:gridCol w="1564200"/>
                <a:gridCol w="1615000"/>
                <a:gridCol w="1513400"/>
                <a:gridCol w="1564200"/>
              </a:tblGrid>
              <a:tr h="73350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Aspect</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Our System (Campus-Oriented EFW)</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Conventional Low-Speed EV</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ICE Vehicle</a:t>
                      </a:r>
                      <a:endParaRPr b="1">
                        <a:latin typeface="Times New Roman"/>
                        <a:ea typeface="Times New Roman"/>
                        <a:cs typeface="Times New Roman"/>
                        <a:sym typeface="Times New Roman"/>
                      </a:endParaRPr>
                    </a:p>
                  </a:txBody>
                  <a:tcPr marT="91425" marB="91425" marR="91425" marL="91425"/>
                </a:tc>
              </a:tr>
              <a:tr h="7913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Braking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Dual-piston disc + regenerative braking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Drum/disc brakes, no regen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Hydraulic disc/drum only</a:t>
                      </a:r>
                      <a:endParaRPr>
                        <a:latin typeface="Times New Roman"/>
                        <a:ea typeface="Times New Roman"/>
                        <a:cs typeface="Times New Roman"/>
                        <a:sym typeface="Times New Roman"/>
                      </a:endParaRPr>
                    </a:p>
                  </a:txBody>
                  <a:tcPr marT="91425" marB="91425" marR="91425" marL="91425"/>
                </a:tc>
              </a:tr>
              <a:tr h="9346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Battery Safety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Smart BMS, Bluetooth monitoring, auto cut-off</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Basic BMS, no live data</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Not applicable</a:t>
                      </a:r>
                      <a:endParaRPr>
                        <a:latin typeface="Times New Roman"/>
                        <a:ea typeface="Times New Roman"/>
                        <a:cs typeface="Times New Roman"/>
                        <a:sym typeface="Times New Roman"/>
                      </a:endParaRPr>
                    </a:p>
                  </a:txBody>
                  <a:tcPr marT="91425" marB="91425" marR="91425" marL="91425"/>
                </a:tc>
              </a:tr>
              <a:tr h="7594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Thermal Protection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Real-time monitoring, ventilated casing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Limited protection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Radiator + coolant (engine-focused)</a:t>
                      </a:r>
                      <a:endParaRPr>
                        <a:latin typeface="Times New Roman"/>
                        <a:ea typeface="Times New Roman"/>
                        <a:cs typeface="Times New Roman"/>
                        <a:sym typeface="Times New Roman"/>
                      </a:endParaRPr>
                    </a:p>
                  </a:txBody>
                  <a:tcPr marT="91425" marB="91425" marR="91425" marL="91425"/>
                </a:tc>
              </a:tr>
              <a:tr h="7848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Wiring Safety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Flame-retardant, segregated HV/LV</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Basic harness, minimal separation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Complex harness, fuel &amp; ignition risks</a:t>
                      </a:r>
                      <a:endParaRPr>
                        <a:latin typeface="Times New Roman"/>
                        <a:ea typeface="Times New Roman"/>
                        <a:cs typeface="Times New Roman"/>
                        <a:sym typeface="Times New Roman"/>
                      </a:endParaRPr>
                    </a:p>
                  </a:txBody>
                  <a:tcPr marT="91425" marB="91425" marR="91425" marL="91425"/>
                </a:tc>
              </a:tr>
              <a:tr h="5587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Speed Limitation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35 km/h max for safety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40–50 km/h typical</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120+ km/h (higher risk)</a:t>
                      </a:r>
                      <a:endParaRPr>
                        <a:latin typeface="Times New Roman"/>
                        <a:ea typeface="Times New Roman"/>
                        <a:cs typeface="Times New Roman"/>
                        <a:sym typeface="Times New Roman"/>
                      </a:endParaRPr>
                    </a:p>
                  </a:txBody>
                  <a:tcPr marT="91425" marB="91425" marR="91425" marL="91425"/>
                </a:tc>
              </a:tr>
              <a:tr h="6191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Passenger Safety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Stable chassis, rollover minimized</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Basic frame, minimal validation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Full crash-tested body</a:t>
                      </a:r>
                      <a:endParaRPr>
                        <a:latin typeface="Times New Roman"/>
                        <a:ea typeface="Times New Roman"/>
                        <a:cs typeface="Times New Roman"/>
                        <a:sym typeface="Times New Roman"/>
                      </a:endParaRPr>
                    </a:p>
                  </a:txBody>
                  <a:tcPr marT="91425" marB="91425" marR="91425" marL="91425"/>
                </a:tc>
              </a:tr>
              <a:tr h="7594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Maintenance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Minimal, diagnostics via Bluetooth</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Higher manual checks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Frequent servicing needed</a:t>
                      </a:r>
                      <a:endParaRPr>
                        <a:latin typeface="Times New Roman"/>
                        <a:ea typeface="Times New Roman"/>
                        <a:cs typeface="Times New Roman"/>
                        <a:sym typeface="Times New Roman"/>
                      </a:endParaRPr>
                    </a:p>
                  </a:txBody>
                  <a:tcPr marT="91425" marB="91425" marR="91425" marL="91425"/>
                </a:tc>
              </a:tr>
            </a:tbl>
          </a:graphicData>
        </a:graphic>
      </p:graphicFrame>
      <p:sp>
        <p:nvSpPr>
          <p:cNvPr id="396" name="Google Shape;396;g38402e44794_0_3"/>
          <p:cNvSpPr txBox="1"/>
          <p:nvPr/>
        </p:nvSpPr>
        <p:spPr>
          <a:xfrm>
            <a:off x="543075" y="7546650"/>
            <a:ext cx="6358500" cy="300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1600">
                <a:solidFill>
                  <a:schemeClr val="dk1"/>
                </a:solidFill>
                <a:latin typeface="Times New Roman"/>
                <a:ea typeface="Times New Roman"/>
                <a:cs typeface="Times New Roman"/>
                <a:sym typeface="Times New Roman"/>
              </a:rPr>
              <a:t>12.5 Conclusion</a:t>
            </a:r>
            <a:endParaRPr b="1" sz="16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IN">
                <a:solidFill>
                  <a:schemeClr val="dk1"/>
                </a:solidFill>
                <a:latin typeface="Times New Roman"/>
                <a:ea typeface="Times New Roman"/>
                <a:cs typeface="Times New Roman"/>
                <a:sym typeface="Times New Roman"/>
              </a:rPr>
              <a:t>The safety systems integrated into the vehicle ensure </a:t>
            </a:r>
            <a:r>
              <a:rPr b="1" lang="en-IN">
                <a:solidFill>
                  <a:schemeClr val="dk1"/>
                </a:solidFill>
                <a:latin typeface="Times New Roman"/>
                <a:ea typeface="Times New Roman"/>
                <a:cs typeface="Times New Roman"/>
                <a:sym typeface="Times New Roman"/>
              </a:rPr>
              <a:t>reliable performance, driver protection, and compliance with EV safety practices</a:t>
            </a:r>
            <a:r>
              <a:rPr lang="en-IN">
                <a:solidFill>
                  <a:schemeClr val="dk1"/>
                </a:solidFill>
                <a:latin typeface="Times New Roman"/>
                <a:ea typeface="Times New Roman"/>
                <a:cs typeface="Times New Roman"/>
                <a:sym typeface="Times New Roman"/>
              </a:rPr>
              <a:t>. By combining regenerative and mechanical braking, adopting a smart BMS for battery protection, and validating structural design with simulation tools, the project delivers a prototype that prioritizes </a:t>
            </a:r>
            <a:r>
              <a:rPr b="1" lang="en-IN">
                <a:solidFill>
                  <a:schemeClr val="dk1"/>
                </a:solidFill>
                <a:latin typeface="Times New Roman"/>
                <a:ea typeface="Times New Roman"/>
                <a:cs typeface="Times New Roman"/>
                <a:sym typeface="Times New Roman"/>
              </a:rPr>
              <a:t>safe mobility in controlled, short-distance environments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The compliance with standards such as </a:t>
            </a:r>
            <a:r>
              <a:rPr b="1" lang="en-IN">
                <a:solidFill>
                  <a:schemeClr val="dk1"/>
                </a:solidFill>
                <a:latin typeface="Times New Roman"/>
                <a:ea typeface="Times New Roman"/>
                <a:cs typeface="Times New Roman"/>
                <a:sym typeface="Times New Roman"/>
              </a:rPr>
              <a:t>AIS-150, AIS-156, and UN 38.3</a:t>
            </a:r>
            <a:r>
              <a:rPr lang="en-IN">
                <a:solidFill>
                  <a:schemeClr val="dk1"/>
                </a:solidFill>
                <a:latin typeface="Times New Roman"/>
                <a:ea typeface="Times New Roman"/>
                <a:cs typeface="Times New Roman"/>
                <a:sym typeface="Times New Roman"/>
              </a:rPr>
              <a:t> further reinforces the prototype’s readiness for future development, testing, and potential commercialization.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8402e44794_0_16"/>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02" name="Google Shape;402;g38402e44794_0_16"/>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03" name="Google Shape;403;g38402e44794_0_16"/>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04" name="Google Shape;404;g38402e44794_0_16"/>
          <p:cNvSpPr txBox="1"/>
          <p:nvPr/>
        </p:nvSpPr>
        <p:spPr>
          <a:xfrm>
            <a:off x="593925" y="929650"/>
            <a:ext cx="6256800" cy="5821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Chapter 13 – Cost Analysis &amp; Material Procurement</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13.1 Introduction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Cost plays a decisive role in the feasibility and adoption of electric four-wheelers, particularly in developing regions and for campus/urban mobility applications. Unlike commercial EVs that emphasize long range and high performance, this project emphasizes </a:t>
            </a:r>
            <a:r>
              <a:rPr b="1" lang="en-IN">
                <a:solidFill>
                  <a:schemeClr val="dk1"/>
                </a:solidFill>
                <a:latin typeface="Times New Roman"/>
                <a:ea typeface="Times New Roman"/>
                <a:cs typeface="Times New Roman"/>
                <a:sym typeface="Times New Roman"/>
              </a:rPr>
              <a:t>affordability, modularity, and low maintenance costs</a:t>
            </a:r>
            <a:r>
              <a:rPr lang="en-IN">
                <a:solidFill>
                  <a:schemeClr val="dk1"/>
                </a:solidFill>
                <a:latin typeface="Times New Roman"/>
                <a:ea typeface="Times New Roman"/>
                <a:cs typeface="Times New Roman"/>
                <a:sym typeface="Times New Roman"/>
              </a:rPr>
              <a:t> without compromising safety or reliability.</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This chapter provides a detailed </a:t>
            </a:r>
            <a:r>
              <a:rPr b="1" lang="en-IN">
                <a:solidFill>
                  <a:schemeClr val="dk1"/>
                </a:solidFill>
                <a:latin typeface="Times New Roman"/>
                <a:ea typeface="Times New Roman"/>
                <a:cs typeface="Times New Roman"/>
                <a:sym typeface="Times New Roman"/>
              </a:rPr>
              <a:t>cost analysis</a:t>
            </a:r>
            <a:r>
              <a:rPr lang="en-IN">
                <a:solidFill>
                  <a:schemeClr val="dk1"/>
                </a:solidFill>
                <a:latin typeface="Times New Roman"/>
                <a:ea typeface="Times New Roman"/>
                <a:cs typeface="Times New Roman"/>
                <a:sym typeface="Times New Roman"/>
              </a:rPr>
              <a:t> of the prototype, including the expenses for key subsystems such as chassis, suspension, braking, powertrain, battery, and electronics. It also outlines the </a:t>
            </a:r>
            <a:r>
              <a:rPr b="1" lang="en-IN">
                <a:solidFill>
                  <a:schemeClr val="dk1"/>
                </a:solidFill>
                <a:latin typeface="Times New Roman"/>
                <a:ea typeface="Times New Roman"/>
                <a:cs typeface="Times New Roman"/>
                <a:sym typeface="Times New Roman"/>
              </a:rPr>
              <a:t>procurement strategy</a:t>
            </a:r>
            <a:r>
              <a:rPr lang="en-IN">
                <a:solidFill>
                  <a:schemeClr val="dk1"/>
                </a:solidFill>
                <a:latin typeface="Times New Roman"/>
                <a:ea typeface="Times New Roman"/>
                <a:cs typeface="Times New Roman"/>
                <a:sym typeface="Times New Roman"/>
              </a:rPr>
              <a:t> for sourcing materials, considering local availability, cost-effectiveness, and scalability for small-batch production</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13.2 Cost Breakdown of Major Subsystems</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br>
              <a:rPr lang="en-IN" sz="1100">
                <a:solidFill>
                  <a:schemeClr val="dk1"/>
                </a:solidFill>
              </a:rPr>
            </a:br>
            <a:endParaRPr sz="1100">
              <a:solidFill>
                <a:schemeClr val="dk1"/>
              </a:solidFill>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05" name="Google Shape;405;g38402e44794_0_16"/>
          <p:cNvGraphicFramePr/>
          <p:nvPr/>
        </p:nvGraphicFramePr>
        <p:xfrm>
          <a:off x="593900" y="4610075"/>
          <a:ext cx="3000000" cy="3000000"/>
        </p:xfrm>
        <a:graphic>
          <a:graphicData uri="http://schemas.openxmlformats.org/drawingml/2006/table">
            <a:tbl>
              <a:tblPr>
                <a:noFill/>
                <a:tableStyleId>{9AA01411-1129-4BFD-8B59-67041B4AEC91}</a:tableStyleId>
              </a:tblPr>
              <a:tblGrid>
                <a:gridCol w="1564200"/>
                <a:gridCol w="1564200"/>
                <a:gridCol w="1564200"/>
                <a:gridCol w="1564200"/>
              </a:tblGrid>
              <a:tr h="591075">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Subsystem</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Material / Components Used</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Approx. Cost (INR)</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Remarks</a:t>
                      </a:r>
                      <a:endParaRPr b="1">
                        <a:latin typeface="Times New Roman"/>
                        <a:ea typeface="Times New Roman"/>
                        <a:cs typeface="Times New Roman"/>
                        <a:sym typeface="Times New Roman"/>
                      </a:endParaRPr>
                    </a:p>
                  </a:txBody>
                  <a:tcPr marT="91425" marB="91425" marR="91425" marL="91425"/>
                </a:tc>
              </a:tr>
              <a:tr h="7848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Chassis &amp; Frame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Mild Steel (AISI 1018), welded structure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₹18,000 – ₹20,000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Strong, lightweight, locally sourced</a:t>
                      </a:r>
                      <a:endParaRPr>
                        <a:latin typeface="Times New Roman"/>
                        <a:ea typeface="Times New Roman"/>
                        <a:cs typeface="Times New Roman"/>
                        <a:sym typeface="Times New Roman"/>
                      </a:endParaRPr>
                    </a:p>
                  </a:txBody>
                  <a:tcPr marT="91425" marB="91425" marR="91425" marL="91425"/>
                </a:tc>
              </a:tr>
              <a:tr h="10082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Suspension System</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Double wishbone (front), trailing arm (rear), coil springs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₹10,000 – ₹12,000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Fabricated with standard automotive parts</a:t>
                      </a:r>
                      <a:endParaRPr>
                        <a:latin typeface="Times New Roman"/>
                        <a:ea typeface="Times New Roman"/>
                        <a:cs typeface="Times New Roman"/>
                        <a:sym typeface="Times New Roman"/>
                      </a:endParaRPr>
                    </a:p>
                  </a:txBody>
                  <a:tcPr marT="91425" marB="91425" marR="91425" marL="91425"/>
                </a:tc>
              </a:tr>
              <a:tr h="7673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Steering System</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Rack &amp; Pinion assembly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₹6,000 – ₹7,000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Readily available from small vehicle suppliers</a:t>
                      </a:r>
                      <a:endParaRPr>
                        <a:latin typeface="Times New Roman"/>
                        <a:ea typeface="Times New Roman"/>
                        <a:cs typeface="Times New Roman"/>
                        <a:sym typeface="Times New Roman"/>
                      </a:endParaRPr>
                    </a:p>
                  </a:txBody>
                  <a:tcPr marT="91425" marB="91425" marR="91425" marL="91425"/>
                </a:tc>
              </a:tr>
              <a:tr h="9705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Braking System</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Dual-piston hydraulic disc brakes (front &amp; rear)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₹8,000 – ₹9,000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Includes master cylinder, calipers, discs</a:t>
                      </a:r>
                      <a:endParaRPr>
                        <a:latin typeface="Times New Roman"/>
                        <a:ea typeface="Times New Roman"/>
                        <a:cs typeface="Times New Roman"/>
                        <a:sym typeface="Times New Roman"/>
                      </a:endParaRPr>
                    </a:p>
                  </a:txBody>
                  <a:tcPr marT="91425" marB="91425" marR="91425" marL="91425"/>
                </a:tc>
              </a:tr>
              <a:tr h="9578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Powertrain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Dual BLDC Hub Motors (2 kW each), sine wave controller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₹40,000 – ₹45,000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Direct drive, includes regen support</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8402e44794_0_29"/>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t/>
            </a:r>
            <a:endParaRPr b="1" sz="1100">
              <a:solidFill>
                <a:schemeClr val="dk1"/>
              </a:solidFill>
            </a:endParaRPr>
          </a:p>
          <a:p>
            <a:pPr indent="0" lvl="0" marL="0" marR="0" rtl="0" algn="l">
              <a:spcBef>
                <a:spcPts val="0"/>
              </a:spcBef>
              <a:spcAft>
                <a:spcPts val="0"/>
              </a:spcAft>
              <a:buNone/>
            </a:pPr>
            <a:r>
              <a:rPr b="1" lang="en-IN">
                <a:solidFill>
                  <a:schemeClr val="dk1"/>
                </a:solidFill>
                <a:latin typeface="Times New Roman"/>
                <a:ea typeface="Times New Roman"/>
                <a:cs typeface="Times New Roman"/>
                <a:sym typeface="Times New Roman"/>
              </a:rPr>
              <a:t>  </a:t>
            </a:r>
            <a:endParaRPr b="1">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IN" sz="1500">
                <a:solidFill>
                  <a:schemeClr val="dk1"/>
                </a:solidFill>
                <a:latin typeface="Times New Roman"/>
                <a:ea typeface="Times New Roman"/>
                <a:cs typeface="Times New Roman"/>
                <a:sym typeface="Times New Roman"/>
              </a:rPr>
              <a:t>   Estimated Prototype Cost: ₹176,000 – ₹200,000 (~₹1.8–2.0 Lakhs)</a:t>
            </a:r>
            <a:endParaRPr b="1" sz="2200">
              <a:solidFill>
                <a:schemeClr val="dk1"/>
              </a:solidFill>
              <a:latin typeface="Times New Roman"/>
              <a:ea typeface="Times New Roman"/>
              <a:cs typeface="Times New Roman"/>
              <a:sym typeface="Times New Roman"/>
            </a:endParaRPr>
          </a:p>
        </p:txBody>
      </p:sp>
      <p:pic>
        <p:nvPicPr>
          <p:cNvPr id="411" name="Google Shape;411;g38402e44794_0_29"/>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12" name="Google Shape;412;g38402e44794_0_29"/>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13" name="Google Shape;413;g38402e44794_0_29"/>
          <p:cNvSpPr txBox="1"/>
          <p:nvPr/>
        </p:nvSpPr>
        <p:spPr>
          <a:xfrm>
            <a:off x="593925" y="929650"/>
            <a:ext cx="6256800" cy="307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14" name="Google Shape;414;g38402e44794_0_29"/>
          <p:cNvGraphicFramePr/>
          <p:nvPr/>
        </p:nvGraphicFramePr>
        <p:xfrm>
          <a:off x="736600" y="1028700"/>
          <a:ext cx="3000000" cy="3000000"/>
        </p:xfrm>
        <a:graphic>
          <a:graphicData uri="http://schemas.openxmlformats.org/drawingml/2006/table">
            <a:tbl>
              <a:tblPr>
                <a:noFill/>
                <a:tableStyleId>{9AA01411-1129-4BFD-8B59-67041B4AEC91}</a:tableStyleId>
              </a:tblPr>
              <a:tblGrid>
                <a:gridCol w="1528525"/>
                <a:gridCol w="1528525"/>
                <a:gridCol w="1528525"/>
                <a:gridCol w="1528525"/>
              </a:tblGrid>
              <a:tr h="790275">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Subsystem</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Material / Components Used</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Approx. Cost (INR)</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Remarks</a:t>
                      </a:r>
                      <a:endParaRPr b="1">
                        <a:latin typeface="Times New Roman"/>
                        <a:ea typeface="Times New Roman"/>
                        <a:cs typeface="Times New Roman"/>
                        <a:sym typeface="Times New Roman"/>
                      </a:endParaRPr>
                    </a:p>
                  </a:txBody>
                  <a:tcPr marT="91425" marB="91425" marR="91425" marL="91425"/>
                </a:tc>
              </a:tr>
              <a:tr h="9861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Battery Pack</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48V 50Ah Lithium-ion (Smart BMS integrated)</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₹55,000 – ₹60,000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Imported cells, BMS with Bluetooth</a:t>
                      </a:r>
                      <a:endParaRPr>
                        <a:latin typeface="Times New Roman"/>
                        <a:ea typeface="Times New Roman"/>
                        <a:cs typeface="Times New Roman"/>
                        <a:sym typeface="Times New Roman"/>
                      </a:endParaRPr>
                    </a:p>
                  </a:txBody>
                  <a:tcPr marT="91425" marB="91425" marR="91425" marL="91425"/>
                </a:tc>
              </a:tr>
              <a:tr h="7961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Electronics &amp; Wiring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Smart BMS, wiring harness, fuses, connectors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₹8,000 – ₹10,000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Safety features + diagnostic integration</a:t>
                      </a:r>
                      <a:endParaRPr>
                        <a:latin typeface="Times New Roman"/>
                        <a:ea typeface="Times New Roman"/>
                        <a:cs typeface="Times New Roman"/>
                        <a:sym typeface="Times New Roman"/>
                      </a:endParaRPr>
                    </a:p>
                  </a:txBody>
                  <a:tcPr marT="91425" marB="91425" marR="91425" marL="91425"/>
                </a:tc>
              </a:tr>
              <a:tr h="7956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Wheels &amp; Tires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10–12 inch alloy rims with tubeless tires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₹10,000 – ₹12,000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Standard EV-compatible</a:t>
                      </a:r>
                      <a:endParaRPr>
                        <a:latin typeface="Times New Roman"/>
                        <a:ea typeface="Times New Roman"/>
                        <a:cs typeface="Times New Roman"/>
                        <a:sym typeface="Times New Roman"/>
                      </a:endParaRPr>
                    </a:p>
                  </a:txBody>
                  <a:tcPr marT="91425" marB="91425" marR="91425" marL="91425"/>
                </a:tc>
              </a:tr>
              <a:tr h="7575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Body &amp; Seating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Lightweight composite panels, ergonomic seating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₹15,000 – ₹18,000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Fiber-reinforced plastic (FRP) or ABS</a:t>
                      </a:r>
                      <a:endParaRPr>
                        <a:latin typeface="Times New Roman"/>
                        <a:ea typeface="Times New Roman"/>
                        <a:cs typeface="Times New Roman"/>
                        <a:sym typeface="Times New Roman"/>
                      </a:endParaRPr>
                    </a:p>
                  </a:txBody>
                  <a:tcPr marT="91425" marB="91425" marR="91425" marL="91425"/>
                </a:tc>
              </a:tr>
              <a:tr h="9739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Miscellaneous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Lighting (LED), horn, indicators, dashboard, fasteners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₹6,000 – ₹7,000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Essential safety &amp; operational parts</a:t>
                      </a:r>
                      <a:endParaRPr>
                        <a:latin typeface="Times New Roman"/>
                        <a:ea typeface="Times New Roman"/>
                        <a:cs typeface="Times New Roman"/>
                        <a:sym typeface="Times New Roman"/>
                      </a:endParaRPr>
                    </a:p>
                  </a:txBody>
                  <a:tcPr marT="91425" marB="91425" marR="91425" marL="91425"/>
                </a:tc>
              </a:tr>
            </a:tbl>
          </a:graphicData>
        </a:graphic>
      </p:graphicFrame>
      <p:sp>
        <p:nvSpPr>
          <p:cNvPr id="415" name="Google Shape;415;g38402e44794_0_29"/>
          <p:cNvSpPr txBox="1"/>
          <p:nvPr/>
        </p:nvSpPr>
        <p:spPr>
          <a:xfrm>
            <a:off x="665325" y="6828363"/>
            <a:ext cx="6114000" cy="288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13.3 Material Procurement Strategy</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1. Chassis and Frame Materials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Source</a:t>
            </a:r>
            <a:r>
              <a:rPr lang="en-IN">
                <a:solidFill>
                  <a:schemeClr val="dk1"/>
                </a:solidFill>
                <a:latin typeface="Times New Roman"/>
                <a:ea typeface="Times New Roman"/>
                <a:cs typeface="Times New Roman"/>
                <a:sym typeface="Times New Roman"/>
              </a:rPr>
              <a:t>: Local steel suppliers (AISI 1018 Mild Steel).</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Reason</a:t>
            </a:r>
            <a:r>
              <a:rPr lang="en-IN">
                <a:solidFill>
                  <a:schemeClr val="dk1"/>
                </a:solidFill>
                <a:latin typeface="Times New Roman"/>
                <a:ea typeface="Times New Roman"/>
                <a:cs typeface="Times New Roman"/>
                <a:sym typeface="Times New Roman"/>
              </a:rPr>
              <a:t>: Readily available, cost-effective, easy to fabricate via welding and machining.</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2. Suspension, Steering, and Brakes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Source</a:t>
            </a:r>
            <a:r>
              <a:rPr lang="en-IN">
                <a:solidFill>
                  <a:schemeClr val="dk1"/>
                </a:solidFill>
                <a:latin typeface="Times New Roman"/>
                <a:ea typeface="Times New Roman"/>
                <a:cs typeface="Times New Roman"/>
                <a:sym typeface="Times New Roman"/>
              </a:rPr>
              <a:t>: Automotive spare part suppliers, off-the-shelf components from two-wheeler/three-wheeler systems.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Reason</a:t>
            </a:r>
            <a:r>
              <a:rPr lang="en-IN">
                <a:solidFill>
                  <a:schemeClr val="dk1"/>
                </a:solidFill>
                <a:latin typeface="Times New Roman"/>
                <a:ea typeface="Times New Roman"/>
                <a:cs typeface="Times New Roman"/>
                <a:sym typeface="Times New Roman"/>
              </a:rPr>
              <a:t>: Reduces fabrication complexity, ensures reliability, and lowers cost.</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8402e44794_0_48"/>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21" name="Google Shape;421;g38402e44794_0_48"/>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22" name="Google Shape;422;g38402e44794_0_48"/>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23" name="Google Shape;423;g38402e44794_0_48"/>
          <p:cNvSpPr txBox="1"/>
          <p:nvPr/>
        </p:nvSpPr>
        <p:spPr>
          <a:xfrm>
            <a:off x="593925" y="929650"/>
            <a:ext cx="6256800" cy="10146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IN">
                <a:solidFill>
                  <a:schemeClr val="dk1"/>
                </a:solidFill>
                <a:latin typeface="Times New Roman"/>
                <a:ea typeface="Times New Roman"/>
                <a:cs typeface="Times New Roman"/>
                <a:sym typeface="Times New Roman"/>
              </a:rPr>
              <a:t>3. Powertrain Components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Hub Motors &amp; Controller</a:t>
            </a:r>
            <a:r>
              <a:rPr lang="en-IN">
                <a:solidFill>
                  <a:schemeClr val="dk1"/>
                </a:solidFill>
                <a:latin typeface="Times New Roman"/>
                <a:ea typeface="Times New Roman"/>
                <a:cs typeface="Times New Roman"/>
                <a:sym typeface="Times New Roman"/>
              </a:rPr>
              <a:t> sourced from certified EV motor suppliers.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Sine wave controller chosen for </a:t>
            </a:r>
            <a:r>
              <a:rPr b="1" lang="en-IN">
                <a:solidFill>
                  <a:schemeClr val="dk1"/>
                </a:solidFill>
                <a:latin typeface="Times New Roman"/>
                <a:ea typeface="Times New Roman"/>
                <a:cs typeface="Times New Roman"/>
                <a:sym typeface="Times New Roman"/>
              </a:rPr>
              <a:t>smooth torque and regen braking support.</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4. Battery &amp; BMS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Lithium-ion cells (18650/21700 type) procured through verified vendors.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Smart BMS with Bluetooth selected for </a:t>
            </a:r>
            <a:r>
              <a:rPr b="1" lang="en-IN">
                <a:solidFill>
                  <a:schemeClr val="dk1"/>
                </a:solidFill>
                <a:latin typeface="Times New Roman"/>
                <a:ea typeface="Times New Roman"/>
                <a:cs typeface="Times New Roman"/>
                <a:sym typeface="Times New Roman"/>
              </a:rPr>
              <a:t>diagnostics and cell protection</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5. Electronics &amp; Wiring</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Automotive-grade wiring harnesses sourced from local vendors.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Flame-retardant cables for HV lines to comply with EV safety standards.</a:t>
            </a:r>
            <a:br>
              <a:rPr lang="en-I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IN">
                <a:solidFill>
                  <a:schemeClr val="dk1"/>
                </a:solidFill>
                <a:latin typeface="Times New Roman"/>
                <a:ea typeface="Times New Roman"/>
                <a:cs typeface="Times New Roman"/>
                <a:sym typeface="Times New Roman"/>
              </a:rPr>
              <a:t>6. Body &amp; Seating</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FRP or ABS panels fabricated locally to minimize cost.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Seats adapted from existing small vehicle suppliers for ergonomics and durability.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13.4 Cost Optimization Considerations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Bulk Procurement</a:t>
            </a:r>
            <a:r>
              <a:rPr lang="en-IN">
                <a:solidFill>
                  <a:schemeClr val="dk1"/>
                </a:solidFill>
                <a:latin typeface="Times New Roman"/>
                <a:ea typeface="Times New Roman"/>
                <a:cs typeface="Times New Roman"/>
                <a:sym typeface="Times New Roman"/>
              </a:rPr>
              <a:t>: Scaling production to 50–100 units reduces per-unit cost by ~15–20%.</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Local Sourcing</a:t>
            </a:r>
            <a:r>
              <a:rPr lang="en-IN">
                <a:solidFill>
                  <a:schemeClr val="dk1"/>
                </a:solidFill>
                <a:latin typeface="Times New Roman"/>
                <a:ea typeface="Times New Roman"/>
                <a:cs typeface="Times New Roman"/>
                <a:sym typeface="Times New Roman"/>
              </a:rPr>
              <a:t>: Using regional suppliers lowers import dependency, particularly for chassis and suspension.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Battery Alternatives</a:t>
            </a:r>
            <a:r>
              <a:rPr lang="en-IN">
                <a:solidFill>
                  <a:schemeClr val="dk1"/>
                </a:solidFill>
                <a:latin typeface="Times New Roman"/>
                <a:ea typeface="Times New Roman"/>
                <a:cs typeface="Times New Roman"/>
                <a:sym typeface="Times New Roman"/>
              </a:rPr>
              <a:t>: LFP (Lithium Iron Phosphate) packs offer lower cost and higher thermal safety, though slightly heavier.</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Simplified Assembly</a:t>
            </a:r>
            <a:r>
              <a:rPr lang="en-IN">
                <a:solidFill>
                  <a:schemeClr val="dk1"/>
                </a:solidFill>
                <a:latin typeface="Times New Roman"/>
                <a:ea typeface="Times New Roman"/>
                <a:cs typeface="Times New Roman"/>
                <a:sym typeface="Times New Roman"/>
              </a:rPr>
              <a:t>: Modular design minimizes labor hours, reducing assembly cost.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13.5 Comparison with Other Vehicles</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24" name="Google Shape;424;g38402e44794_0_48"/>
          <p:cNvGraphicFramePr/>
          <p:nvPr/>
        </p:nvGraphicFramePr>
        <p:xfrm>
          <a:off x="593900" y="8064500"/>
          <a:ext cx="3000000" cy="3000000"/>
        </p:xfrm>
        <a:graphic>
          <a:graphicData uri="http://schemas.openxmlformats.org/drawingml/2006/table">
            <a:tbl>
              <a:tblPr>
                <a:noFill/>
                <a:tableStyleId>{9AA01411-1129-4BFD-8B59-67041B4AEC91}</a:tableStyleId>
              </a:tblPr>
              <a:tblGrid>
                <a:gridCol w="1564200"/>
                <a:gridCol w="1564200"/>
                <a:gridCol w="1564200"/>
                <a:gridCol w="1564200"/>
              </a:tblGrid>
              <a:tr h="67590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Aspect</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Our Prototype (Campus EV)</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Conventional Low-Speed EV</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ICE 4-Wheeler (Entry-level)</a:t>
                      </a:r>
                      <a:endParaRPr b="1">
                        <a:latin typeface="Times New Roman"/>
                        <a:ea typeface="Times New Roman"/>
                        <a:cs typeface="Times New Roman"/>
                        <a:sym typeface="Times New Roman"/>
                      </a:endParaRPr>
                    </a:p>
                  </a:txBody>
                  <a:tcPr marT="91425" marB="91425" marR="91425" marL="91425"/>
                </a:tc>
              </a:tr>
              <a:tr h="4174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Initial Cost</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₹1.8 – 2.0 Lakhs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₹2.5 – 3.5 Lakhs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 – 6 Lakhs</a:t>
                      </a:r>
                      <a:endParaRPr>
                        <a:latin typeface="Times New Roman"/>
                        <a:ea typeface="Times New Roman"/>
                        <a:cs typeface="Times New Roman"/>
                        <a:sym typeface="Times New Roman"/>
                      </a:endParaRPr>
                    </a:p>
                  </a:txBody>
                  <a:tcPr marT="91425" marB="91425" marR="91425" marL="91425"/>
                </a:tc>
              </a:tr>
              <a:tr h="6174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Fuel/Energy Cost</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₹0.8 – 1.2/km (electricity)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₹1.0 – 1.5/km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₹5 – 7/km (petrol/diesel)</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8402e44794_0_62"/>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30" name="Google Shape;430;g38402e44794_0_62"/>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31" name="Google Shape;431;g38402e44794_0_62"/>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32" name="Google Shape;432;g38402e44794_0_62"/>
          <p:cNvSpPr txBox="1"/>
          <p:nvPr/>
        </p:nvSpPr>
        <p:spPr>
          <a:xfrm>
            <a:off x="593925" y="929650"/>
            <a:ext cx="6256800" cy="10094400"/>
          </a:xfrm>
          <a:prstGeom prst="rect">
            <a:avLst/>
          </a:prstGeom>
          <a:noFill/>
          <a:ln>
            <a:noFill/>
          </a:ln>
        </p:spPr>
        <p:txBody>
          <a:bodyPr anchorCtr="0" anchor="t" bIns="45700" lIns="91425" spcFirstLastPara="1" rIns="91425" wrap="square" tIns="45700">
            <a:spAutoFit/>
          </a:bodyPr>
          <a:lstStyle/>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just">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13.6 Conclusion</a:t>
            </a:r>
            <a:endParaRPr b="1" sz="1600">
              <a:solidFill>
                <a:schemeClr val="dk1"/>
              </a:solidFill>
              <a:latin typeface="Times New Roman"/>
              <a:ea typeface="Times New Roman"/>
              <a:cs typeface="Times New Roman"/>
              <a:sym typeface="Times New Roman"/>
            </a:endParaRPr>
          </a:p>
          <a:p>
            <a:pPr indent="0" lvl="0" marL="0" rtl="0" algn="just">
              <a:lnSpc>
                <a:spcPct val="115000"/>
              </a:lnSpc>
              <a:spcBef>
                <a:spcPts val="1800"/>
              </a:spcBef>
              <a:spcAft>
                <a:spcPts val="0"/>
              </a:spcAft>
              <a:buNone/>
            </a:pPr>
            <a:r>
              <a:rPr lang="en-IN">
                <a:solidFill>
                  <a:schemeClr val="dk1"/>
                </a:solidFill>
                <a:latin typeface="Times New Roman"/>
                <a:ea typeface="Times New Roman"/>
                <a:cs typeface="Times New Roman"/>
                <a:sym typeface="Times New Roman"/>
              </a:rPr>
              <a:t>The cost analysis demonstrates that the prototype is </a:t>
            </a:r>
            <a:r>
              <a:rPr b="1" lang="en-IN">
                <a:solidFill>
                  <a:schemeClr val="dk1"/>
                </a:solidFill>
                <a:latin typeface="Times New Roman"/>
                <a:ea typeface="Times New Roman"/>
                <a:cs typeface="Times New Roman"/>
                <a:sym typeface="Times New Roman"/>
              </a:rPr>
              <a:t>economically viable</a:t>
            </a:r>
            <a:r>
              <a:rPr lang="en-IN">
                <a:solidFill>
                  <a:schemeClr val="dk1"/>
                </a:solidFill>
                <a:latin typeface="Times New Roman"/>
                <a:ea typeface="Times New Roman"/>
                <a:cs typeface="Times New Roman"/>
                <a:sym typeface="Times New Roman"/>
              </a:rPr>
              <a:t>, with an estimated build cost under </a:t>
            </a:r>
            <a:r>
              <a:rPr b="1" lang="en-IN">
                <a:solidFill>
                  <a:schemeClr val="dk1"/>
                </a:solidFill>
                <a:latin typeface="Times New Roman"/>
                <a:ea typeface="Times New Roman"/>
                <a:cs typeface="Times New Roman"/>
                <a:sym typeface="Times New Roman"/>
              </a:rPr>
              <a:t>₹2 Lakhs</a:t>
            </a:r>
            <a:r>
              <a:rPr lang="en-IN">
                <a:solidFill>
                  <a:schemeClr val="dk1"/>
                </a:solidFill>
                <a:latin typeface="Times New Roman"/>
                <a:ea typeface="Times New Roman"/>
                <a:cs typeface="Times New Roman"/>
                <a:sym typeface="Times New Roman"/>
              </a:rPr>
              <a:t>, making it significantly cheaper than conventional EVs and ICE four-wheelers. The </a:t>
            </a:r>
            <a:r>
              <a:rPr b="1" lang="en-IN">
                <a:solidFill>
                  <a:schemeClr val="dk1"/>
                </a:solidFill>
                <a:latin typeface="Times New Roman"/>
                <a:ea typeface="Times New Roman"/>
                <a:cs typeface="Times New Roman"/>
                <a:sym typeface="Times New Roman"/>
              </a:rPr>
              <a:t>procurement strategy</a:t>
            </a:r>
            <a:r>
              <a:rPr lang="en-IN">
                <a:solidFill>
                  <a:schemeClr val="dk1"/>
                </a:solidFill>
                <a:latin typeface="Times New Roman"/>
                <a:ea typeface="Times New Roman"/>
                <a:cs typeface="Times New Roman"/>
                <a:sym typeface="Times New Roman"/>
              </a:rPr>
              <a:t> emphasizes locally available materials and components to reduce costs while maintaining reliability and safety standards.</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With bulk production and optimized material sourcing, the overall cost can be further reduced, positioning the vehicle as a </a:t>
            </a:r>
            <a:r>
              <a:rPr b="1" lang="en-IN">
                <a:solidFill>
                  <a:schemeClr val="dk1"/>
                </a:solidFill>
                <a:latin typeface="Times New Roman"/>
                <a:ea typeface="Times New Roman"/>
                <a:cs typeface="Times New Roman"/>
                <a:sym typeface="Times New Roman"/>
              </a:rPr>
              <a:t>practical and affordable solution for campus and urban mobility</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33" name="Google Shape;433;g38402e44794_0_62"/>
          <p:cNvGraphicFramePr/>
          <p:nvPr/>
        </p:nvGraphicFramePr>
        <p:xfrm>
          <a:off x="593925" y="1028700"/>
          <a:ext cx="3000000" cy="3000000"/>
        </p:xfrm>
        <a:graphic>
          <a:graphicData uri="http://schemas.openxmlformats.org/drawingml/2006/table">
            <a:tbl>
              <a:tblPr>
                <a:noFill/>
                <a:tableStyleId>{9AA01411-1129-4BFD-8B59-67041B4AEC91}</a:tableStyleId>
              </a:tblPr>
              <a:tblGrid>
                <a:gridCol w="1564200"/>
                <a:gridCol w="1564200"/>
                <a:gridCol w="1564200"/>
                <a:gridCol w="1564200"/>
              </a:tblGrid>
              <a:tr h="74335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Aspect</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Our Prototype (Campus EV)</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Conventional Low-Speed EV</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ICE 4-Wheeler (Entry-level)</a:t>
                      </a:r>
                      <a:endParaRPr b="1">
                        <a:latin typeface="Times New Roman"/>
                        <a:ea typeface="Times New Roman"/>
                        <a:cs typeface="Times New Roman"/>
                        <a:sym typeface="Times New Roman"/>
                      </a:endParaRPr>
                    </a:p>
                  </a:txBody>
                  <a:tcPr marT="91425" marB="91425" marR="91425" marL="91425"/>
                </a:tc>
              </a:tr>
              <a:tr h="7921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Maintenance Cost</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Low – hub motors, minimal moving parts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Medium – chain/differential</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 engine, gearbox, oil</a:t>
                      </a:r>
                      <a:endParaRPr>
                        <a:latin typeface="Times New Roman"/>
                        <a:ea typeface="Times New Roman"/>
                        <a:cs typeface="Times New Roman"/>
                        <a:sym typeface="Times New Roman"/>
                      </a:endParaRPr>
                    </a:p>
                  </a:txBody>
                  <a:tcPr marT="91425" marB="91425" marR="91425" marL="91425"/>
                </a:tc>
              </a:tr>
              <a:tr h="6147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Battery/Engine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48V 50Ah Li-ion with Smart BMS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48–72V Li-ion/Lead-acid</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800–1000cc petrol/diesel</a:t>
                      </a:r>
                      <a:endParaRPr>
                        <a:latin typeface="Times New Roman"/>
                        <a:ea typeface="Times New Roman"/>
                        <a:cs typeface="Times New Roman"/>
                        <a:sym typeface="Times New Roman"/>
                      </a:endParaRPr>
                    </a:p>
                  </a:txBody>
                  <a:tcPr marT="91425" marB="91425" marR="91425" marL="91425"/>
                </a:tc>
              </a:tr>
              <a:tr h="5516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Lifetime Cost</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Lowest – low running &amp; service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Moderate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Highest – high fuel + service</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844d0da0ad_0_0"/>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39" name="Google Shape;439;g3844d0da0ad_0_0"/>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40" name="Google Shape;440;g3844d0da0ad_0_0"/>
          <p:cNvSpPr txBox="1"/>
          <p:nvPr/>
        </p:nvSpPr>
        <p:spPr>
          <a:xfrm>
            <a:off x="298450" y="10181843"/>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41" name="Google Shape;441;g3844d0da0ad_0_0"/>
          <p:cNvSpPr txBox="1"/>
          <p:nvPr/>
        </p:nvSpPr>
        <p:spPr>
          <a:xfrm>
            <a:off x="593925" y="929650"/>
            <a:ext cx="6256800" cy="10434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Chapter 14 – Manufacturing Process &amp; Assembly Plan</a:t>
            </a:r>
            <a:endParaRPr b="1"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14.1 Introduction</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Times New Roman"/>
                <a:ea typeface="Times New Roman"/>
                <a:cs typeface="Times New Roman"/>
                <a:sym typeface="Times New Roman"/>
              </a:rPr>
              <a:t>The manufacturing and assembly plan for the electric four-wheeler has been structured to ensure </a:t>
            </a:r>
            <a:r>
              <a:rPr b="1" lang="en-IN">
                <a:solidFill>
                  <a:schemeClr val="dk1"/>
                </a:solidFill>
                <a:latin typeface="Times New Roman"/>
                <a:ea typeface="Times New Roman"/>
                <a:cs typeface="Times New Roman"/>
                <a:sym typeface="Times New Roman"/>
              </a:rPr>
              <a:t>cost-effectiveness, repeatability, and scalability</a:t>
            </a:r>
            <a:r>
              <a:rPr lang="en-IN">
                <a:solidFill>
                  <a:schemeClr val="dk1"/>
                </a:solidFill>
                <a:latin typeface="Times New Roman"/>
                <a:ea typeface="Times New Roman"/>
                <a:cs typeface="Times New Roman"/>
                <a:sym typeface="Times New Roman"/>
              </a:rPr>
              <a:t> for future production. The process leverages widely available fabrication methods such as cutting, welding, machining, and modular assembly, which are feasible in small-scale workshops without requiring highly specialized equipment.</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IN">
                <a:solidFill>
                  <a:schemeClr val="dk1"/>
                </a:solidFill>
                <a:latin typeface="Times New Roman"/>
                <a:ea typeface="Times New Roman"/>
                <a:cs typeface="Times New Roman"/>
                <a:sym typeface="Times New Roman"/>
              </a:rPr>
              <a:t>By adopting a </a:t>
            </a:r>
            <a:r>
              <a:rPr b="1" lang="en-IN">
                <a:solidFill>
                  <a:schemeClr val="dk1"/>
                </a:solidFill>
                <a:latin typeface="Times New Roman"/>
                <a:ea typeface="Times New Roman"/>
                <a:cs typeface="Times New Roman"/>
                <a:sym typeface="Times New Roman"/>
              </a:rPr>
              <a:t>modular design approach</a:t>
            </a:r>
            <a:r>
              <a:rPr lang="en-IN">
                <a:solidFill>
                  <a:schemeClr val="dk1"/>
                </a:solidFill>
                <a:latin typeface="Times New Roman"/>
                <a:ea typeface="Times New Roman"/>
                <a:cs typeface="Times New Roman"/>
                <a:sym typeface="Times New Roman"/>
              </a:rPr>
              <a:t>, each subsystem (chassis, suspension, steering, braking, powertrain, electronics) can be fabricated and tested individually before final integration, improving assembly efficiency and quality control.</a:t>
            </a:r>
            <a:endParaRPr>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14.2 Manufacturing Process Flow</a:t>
            </a:r>
            <a:endParaRPr b="1" sz="16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42" name="Google Shape;442;g3844d0da0ad_0_0"/>
          <p:cNvGraphicFramePr/>
          <p:nvPr/>
        </p:nvGraphicFramePr>
        <p:xfrm>
          <a:off x="591150" y="4140275"/>
          <a:ext cx="3000000" cy="3000000"/>
        </p:xfrm>
        <a:graphic>
          <a:graphicData uri="http://schemas.openxmlformats.org/drawingml/2006/table">
            <a:tbl>
              <a:tblPr>
                <a:noFill/>
                <a:tableStyleId>{9AA01411-1129-4BFD-8B59-67041B4AEC91}</a:tableStyleId>
              </a:tblPr>
              <a:tblGrid>
                <a:gridCol w="1593550"/>
                <a:gridCol w="1593550"/>
                <a:gridCol w="1593550"/>
                <a:gridCol w="1593550"/>
              </a:tblGrid>
              <a:tr h="555475">
                <a:tc>
                  <a:txBody>
                    <a:bodyPr/>
                    <a:lstStyle/>
                    <a:p>
                      <a:pPr indent="0" lvl="0" marL="0" rtl="0" algn="l">
                        <a:lnSpc>
                          <a:spcPct val="115000"/>
                        </a:lnSpc>
                        <a:spcBef>
                          <a:spcPts val="0"/>
                        </a:spcBef>
                        <a:spcAft>
                          <a:spcPts val="0"/>
                        </a:spcAft>
                        <a:buNone/>
                      </a:pPr>
                      <a:r>
                        <a:rPr b="1" lang="en-IN">
                          <a:latin typeface="Times New Roman"/>
                          <a:ea typeface="Times New Roman"/>
                          <a:cs typeface="Times New Roman"/>
                          <a:sym typeface="Times New Roman"/>
                        </a:rPr>
                        <a:t>Step</a:t>
                      </a:r>
                      <a:endParaRPr b="1">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0"/>
                        </a:spcBef>
                        <a:spcAft>
                          <a:spcPts val="0"/>
                        </a:spcAft>
                        <a:buNone/>
                      </a:pPr>
                      <a:r>
                        <a:rPr b="1" lang="en-IN">
                          <a:latin typeface="Times New Roman"/>
                          <a:ea typeface="Times New Roman"/>
                          <a:cs typeface="Times New Roman"/>
                          <a:sym typeface="Times New Roman"/>
                        </a:rPr>
                        <a:t>Process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0"/>
                        </a:spcBef>
                        <a:spcAft>
                          <a:spcPts val="0"/>
                        </a:spcAft>
                        <a:buNone/>
                      </a:pPr>
                      <a:r>
                        <a:rPr b="1" lang="en-IN">
                          <a:latin typeface="Times New Roman"/>
                          <a:ea typeface="Times New Roman"/>
                          <a:cs typeface="Times New Roman"/>
                          <a:sym typeface="Times New Roman"/>
                        </a:rPr>
                        <a:t>Tools/Methods Used</a:t>
                      </a:r>
                      <a:endParaRPr b="1">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0"/>
                        </a:spcBef>
                        <a:spcAft>
                          <a:spcPts val="0"/>
                        </a:spcAft>
                        <a:buNone/>
                      </a:pPr>
                      <a:r>
                        <a:rPr b="1" lang="en-IN">
                          <a:latin typeface="Times New Roman"/>
                          <a:ea typeface="Times New Roman"/>
                          <a:cs typeface="Times New Roman"/>
                          <a:sym typeface="Times New Roman"/>
                        </a:rPr>
                        <a:t>Output</a:t>
                      </a:r>
                      <a:endParaRPr b="1">
                        <a:latin typeface="Times New Roman"/>
                        <a:ea typeface="Times New Roman"/>
                        <a:cs typeface="Times New Roman"/>
                        <a:sym typeface="Times New Roman"/>
                      </a:endParaRPr>
                    </a:p>
                  </a:txBody>
                  <a:tcPr marT="91425" marB="91425" marR="91425" marL="91425"/>
                </a:tc>
              </a:tr>
              <a:tr h="1372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1. Material Preparation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Procurement of Mild Steel, aluminium sheets, FRP panels, and standard components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Local suppliers, quality inspection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Raw materials</a:t>
                      </a:r>
                      <a:endParaRPr>
                        <a:latin typeface="Times New Roman"/>
                        <a:ea typeface="Times New Roman"/>
                        <a:cs typeface="Times New Roman"/>
                        <a:sym typeface="Times New Roman"/>
                      </a:endParaRPr>
                    </a:p>
                  </a:txBody>
                  <a:tcPr marT="91425" marB="91425" marR="91425" marL="91425"/>
                </a:tc>
              </a:tr>
              <a:tr h="9543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2. Cutting &amp; Shaping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Cutting of steel tubes and sheets to chassis dimensions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CNC plasma cutting, hand grinders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Frame sections</a:t>
                      </a:r>
                      <a:endParaRPr>
                        <a:latin typeface="Times New Roman"/>
                        <a:ea typeface="Times New Roman"/>
                        <a:cs typeface="Times New Roman"/>
                        <a:sym typeface="Times New Roman"/>
                      </a:endParaRPr>
                    </a:p>
                  </a:txBody>
                  <a:tcPr marT="91425" marB="91425" marR="91425" marL="91425"/>
                </a:tc>
              </a:tr>
              <a:tr h="9670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3. Welding &amp; Joining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Assembly of chassis frame, brackets, and mounting points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MIG/TIG welding, fixtures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Complete chassis</a:t>
                      </a:r>
                      <a:endParaRPr>
                        <a:latin typeface="Times New Roman"/>
                        <a:ea typeface="Times New Roman"/>
                        <a:cs typeface="Times New Roman"/>
                        <a:sym typeface="Times New Roman"/>
                      </a:endParaRPr>
                    </a:p>
                  </a:txBody>
                  <a:tcPr marT="91425" marB="91425" marR="91425" marL="91425"/>
                </a:tc>
              </a:tr>
              <a:tr h="7316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4. Surface Finishing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Grinding, deburring, and anti-rust coating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Power grinders, surface coat spray</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Finished chassis</a:t>
                      </a:r>
                      <a:endParaRPr>
                        <a:latin typeface="Times New Roman"/>
                        <a:ea typeface="Times New Roman"/>
                        <a:cs typeface="Times New Roman"/>
                        <a:sym typeface="Times New Roman"/>
                      </a:endParaRPr>
                    </a:p>
                  </a:txBody>
                  <a:tcPr marT="91425" marB="91425" marR="91425" marL="91425"/>
                </a:tc>
              </a:tr>
              <a:tr h="9416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5. Suspension Fabrication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Installation of coil springs, trailing arms, and wishbone setup</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Press machines, lathe machining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Front &amp; rear suspension assemblies</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844d0da0ad_0_15"/>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48" name="Google Shape;448;g3844d0da0ad_0_15"/>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49" name="Google Shape;449;g3844d0da0ad_0_15"/>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50" name="Google Shape;450;g3844d0da0ad_0_15"/>
          <p:cNvSpPr txBox="1"/>
          <p:nvPr/>
        </p:nvSpPr>
        <p:spPr>
          <a:xfrm>
            <a:off x="665600" y="1028700"/>
            <a:ext cx="6225300" cy="4332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51" name="Google Shape;451;g3844d0da0ad_0_15"/>
          <p:cNvGraphicFramePr/>
          <p:nvPr/>
        </p:nvGraphicFramePr>
        <p:xfrm>
          <a:off x="609663" y="1028700"/>
          <a:ext cx="3000000" cy="3000000"/>
        </p:xfrm>
        <a:graphic>
          <a:graphicData uri="http://schemas.openxmlformats.org/drawingml/2006/table">
            <a:tbl>
              <a:tblPr>
                <a:noFill/>
                <a:tableStyleId>{9AA01411-1129-4BFD-8B59-67041B4AEC91}</a:tableStyleId>
              </a:tblPr>
              <a:tblGrid>
                <a:gridCol w="1353150"/>
                <a:gridCol w="2000825"/>
                <a:gridCol w="1315025"/>
                <a:gridCol w="1429325"/>
              </a:tblGrid>
              <a:tr h="38300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Step</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Process</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Tools/Methods Used</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Output</a:t>
                      </a:r>
                      <a:endParaRPr b="1">
                        <a:latin typeface="Times New Roman"/>
                        <a:ea typeface="Times New Roman"/>
                        <a:cs typeface="Times New Roman"/>
                        <a:sym typeface="Times New Roman"/>
                      </a:endParaRPr>
                    </a:p>
                  </a:txBody>
                  <a:tcPr marT="91425" marB="91425" marR="91425" marL="91425"/>
                </a:tc>
              </a:tr>
              <a:tr h="7467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6. Steering System Integration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Installation of rack &amp; pinion mechanism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Bolt-on assembly, alignment jigs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Steering module ready</a:t>
                      </a:r>
                      <a:endParaRPr>
                        <a:latin typeface="Times New Roman"/>
                        <a:ea typeface="Times New Roman"/>
                        <a:cs typeface="Times New Roman"/>
                        <a:sym typeface="Times New Roman"/>
                      </a:endParaRPr>
                    </a:p>
                  </a:txBody>
                  <a:tcPr marT="91425" marB="91425" marR="91425" marL="91425"/>
                </a:tc>
              </a:tr>
              <a:tr h="7670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7. Braking System Installation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Mounting dual-piston hydraulic disc brakes (front &amp; rear)</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Hydraulic line routing, bleeding kit</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Complete braking system</a:t>
                      </a:r>
                      <a:endParaRPr>
                        <a:latin typeface="Times New Roman"/>
                        <a:ea typeface="Times New Roman"/>
                        <a:cs typeface="Times New Roman"/>
                        <a:sym typeface="Times New Roman"/>
                      </a:endParaRPr>
                    </a:p>
                  </a:txBody>
                  <a:tcPr marT="91425" marB="91425" marR="91425" marL="91425"/>
                </a:tc>
              </a:tr>
              <a:tr h="7870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8. Powertrain Installation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Mounting dual hub motors on rear wheels, motor controller setup</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Torque wrench, wiring harnesses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Functional drive system</a:t>
                      </a:r>
                      <a:endParaRPr>
                        <a:latin typeface="Times New Roman"/>
                        <a:ea typeface="Times New Roman"/>
                        <a:cs typeface="Times New Roman"/>
                        <a:sym typeface="Times New Roman"/>
                      </a:endParaRPr>
                    </a:p>
                  </a:txBody>
                  <a:tcPr marT="91425" marB="91425" marR="91425" marL="91425"/>
                </a:tc>
              </a:tr>
              <a:tr h="9473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9. Battery Pack Integration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Installation of 48V 50Ah lithium-ion pack with Smart BMS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Insulated mounts, high-voltage connectors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Secured battery module</a:t>
                      </a:r>
                      <a:endParaRPr>
                        <a:latin typeface="Times New Roman"/>
                        <a:ea typeface="Times New Roman"/>
                        <a:cs typeface="Times New Roman"/>
                        <a:sym typeface="Times New Roman"/>
                      </a:endParaRPr>
                    </a:p>
                  </a:txBody>
                  <a:tcPr marT="91425" marB="91425" marR="91425" marL="91425"/>
                </a:tc>
              </a:tr>
              <a:tr h="9346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10. Electrical Wiring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Routing HV (motor/battery) and LV (auxiliary) wiring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Heat-shrink sleeves, protective conduits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Safe and organized wiring system</a:t>
                      </a:r>
                      <a:endParaRPr>
                        <a:latin typeface="Times New Roman"/>
                        <a:ea typeface="Times New Roman"/>
                        <a:cs typeface="Times New Roman"/>
                        <a:sym typeface="Times New Roman"/>
                      </a:endParaRPr>
                    </a:p>
                  </a:txBody>
                  <a:tcPr marT="91425" marB="91425" marR="91425" marL="91425"/>
                </a:tc>
              </a:tr>
              <a:tr h="74417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11. Auxiliary Systems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Installation of lights, horn, tablet display, and sensors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Standard tools, harness connectors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Functional auxiliary electronics</a:t>
                      </a:r>
                      <a:endParaRPr>
                        <a:latin typeface="Times New Roman"/>
                        <a:ea typeface="Times New Roman"/>
                        <a:cs typeface="Times New Roman"/>
                        <a:sym typeface="Times New Roman"/>
                      </a:endParaRPr>
                    </a:p>
                  </a:txBody>
                  <a:tcPr marT="91425" marB="91425" marR="91425" marL="91425"/>
                </a:tc>
              </a:tr>
              <a:tr h="9680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12. Body &amp; Seating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Mounting FRP/ABS panels, ergonomic seating, safety belts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Fasteners, adhesive bonding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Complete body structure</a:t>
                      </a:r>
                      <a:endParaRPr>
                        <a:latin typeface="Times New Roman"/>
                        <a:ea typeface="Times New Roman"/>
                        <a:cs typeface="Times New Roman"/>
                        <a:sym typeface="Times New Roman"/>
                      </a:endParaRPr>
                    </a:p>
                  </a:txBody>
                  <a:tcPr marT="91425" marB="91425" marR="91425" marL="91425"/>
                </a:tc>
              </a:tr>
              <a:tr h="71065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13. Final Assembly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Integration of all subsystems into chassis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Assembly jigs, torque tools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Fully assembled prototype</a:t>
                      </a:r>
                      <a:endParaRPr>
                        <a:latin typeface="Times New Roman"/>
                        <a:ea typeface="Times New Roman"/>
                        <a:cs typeface="Times New Roman"/>
                        <a:sym typeface="Times New Roman"/>
                      </a:endParaRPr>
                    </a:p>
                  </a:txBody>
                  <a:tcPr marT="91425" marB="91425" marR="91425" marL="91425"/>
                </a:tc>
              </a:tr>
              <a:tr h="9463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14. Testing &amp; Validation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Static and dynamic validation (braking, handling, range tests)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Test track, diagnostic tools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Ready-to-deploy prototype</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844d0da0ad_0_77"/>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57" name="Google Shape;457;g3844d0da0ad_0_77"/>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58" name="Google Shape;458;g3844d0da0ad_0_77"/>
          <p:cNvSpPr txBox="1"/>
          <p:nvPr/>
        </p:nvSpPr>
        <p:spPr>
          <a:xfrm>
            <a:off x="285750" y="10080243"/>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59" name="Google Shape;459;g3844d0da0ad_0_77"/>
          <p:cNvSpPr txBox="1"/>
          <p:nvPr/>
        </p:nvSpPr>
        <p:spPr>
          <a:xfrm>
            <a:off x="593925" y="739150"/>
            <a:ext cx="6256800" cy="12950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14.3 Assembly Plan</a:t>
            </a:r>
            <a:endParaRPr b="1" sz="1600">
              <a:solidFill>
                <a:schemeClr val="dk1"/>
              </a:solidFill>
              <a:latin typeface="Times New Roman"/>
              <a:ea typeface="Times New Roman"/>
              <a:cs typeface="Times New Roman"/>
              <a:sym typeface="Times New Roman"/>
            </a:endParaRPr>
          </a:p>
          <a:p>
            <a:pPr indent="0" lvl="0" marL="0" rtl="0" algn="l">
              <a:spcBef>
                <a:spcPts val="400"/>
              </a:spcBef>
              <a:spcAft>
                <a:spcPts val="0"/>
              </a:spcAft>
              <a:buNone/>
            </a:pPr>
            <a:r>
              <a:rPr lang="en-IN">
                <a:latin typeface="Times New Roman"/>
                <a:ea typeface="Times New Roman"/>
                <a:cs typeface="Times New Roman"/>
                <a:sym typeface="Times New Roman"/>
              </a:rPr>
              <a:t>The assembly plan follows a bottom-up approach:</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Chassis Base – Foundation for all subsystems, welded and surface-treated.</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S</a:t>
            </a:r>
            <a:r>
              <a:rPr lang="en-IN">
                <a:latin typeface="Times New Roman"/>
                <a:ea typeface="Times New Roman"/>
                <a:cs typeface="Times New Roman"/>
                <a:sym typeface="Times New Roman"/>
              </a:rPr>
              <a:t>uspension &amp; Steering – Installed first for mobility and alignment.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Braking System – Integrated with hydraulic lines and tested before wheels are mounted.</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Powertrain (Hub Motors + Controller) – Mounted at rear wheels, wired to the controller.</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Battery Pack &amp; BMS – Secured in the chassis bay with protective enclosure.</a:t>
            </a:r>
            <a:br>
              <a:rPr lang="en-IN">
                <a:latin typeface="Times New Roman"/>
                <a:ea typeface="Times New Roman"/>
                <a:cs typeface="Times New Roman"/>
                <a:sym typeface="Times New Roman"/>
              </a:rPr>
            </a:br>
            <a:r>
              <a:rPr lang="en-IN">
                <a:latin typeface="Times New Roman"/>
                <a:ea typeface="Times New Roman"/>
                <a:cs typeface="Times New Roman"/>
                <a:sym typeface="Times New Roman"/>
              </a:rPr>
              <a:t>Electrical Wiring – HV and LV circuits segregated, routed safely with fuses and connectors.</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Auxiliary Systems – Lights, horn, tablet interface, sensors connected after core wiring.</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Body &amp; Interior – Lightweight panels and seating installed last for ergonomic setup.</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IN" sz="1600">
                <a:latin typeface="Times New Roman"/>
                <a:ea typeface="Times New Roman"/>
                <a:cs typeface="Times New Roman"/>
                <a:sym typeface="Times New Roman"/>
              </a:rPr>
              <a:t>14.4 Key Manufacturing Considerations</a:t>
            </a:r>
            <a:endParaRPr b="1" sz="1600">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Modularity</a:t>
            </a:r>
            <a:r>
              <a:rPr lang="en-IN">
                <a:solidFill>
                  <a:schemeClr val="dk1"/>
                </a:solidFill>
                <a:latin typeface="Times New Roman"/>
                <a:ea typeface="Times New Roman"/>
                <a:cs typeface="Times New Roman"/>
                <a:sym typeface="Times New Roman"/>
              </a:rPr>
              <a:t>: Subsystems fabricated separately for ease of assembly and maintenance.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Safety</a:t>
            </a:r>
            <a:r>
              <a:rPr lang="en-IN">
                <a:solidFill>
                  <a:schemeClr val="dk1"/>
                </a:solidFill>
                <a:latin typeface="Times New Roman"/>
                <a:ea typeface="Times New Roman"/>
                <a:cs typeface="Times New Roman"/>
                <a:sym typeface="Times New Roman"/>
              </a:rPr>
              <a:t>: HV lines shielded; chassis treated for corrosion resistance.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Standardization</a:t>
            </a:r>
            <a:r>
              <a:rPr lang="en-IN">
                <a:solidFill>
                  <a:schemeClr val="dk1"/>
                </a:solidFill>
                <a:latin typeface="Times New Roman"/>
                <a:ea typeface="Times New Roman"/>
                <a:cs typeface="Times New Roman"/>
                <a:sym typeface="Times New Roman"/>
              </a:rPr>
              <a:t>: Use of IS-coded fasteners and materials for compliance.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IN">
                <a:solidFill>
                  <a:schemeClr val="dk1"/>
                </a:solidFill>
                <a:latin typeface="Times New Roman"/>
                <a:ea typeface="Times New Roman"/>
                <a:cs typeface="Times New Roman"/>
                <a:sym typeface="Times New Roman"/>
              </a:rPr>
              <a:t>Scalability</a:t>
            </a:r>
            <a:r>
              <a:rPr lang="en-IN">
                <a:solidFill>
                  <a:schemeClr val="dk1"/>
                </a:solidFill>
                <a:latin typeface="Times New Roman"/>
                <a:ea typeface="Times New Roman"/>
                <a:cs typeface="Times New Roman"/>
                <a:sym typeface="Times New Roman"/>
              </a:rPr>
              <a:t>: Manufacturing processes selected to allow transition from single prototype to small-batch production without major changes.</a:t>
            </a:r>
            <a:endParaRPr>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IN" sz="1600">
                <a:latin typeface="Times New Roman"/>
                <a:ea typeface="Times New Roman"/>
                <a:cs typeface="Times New Roman"/>
                <a:sym typeface="Times New Roman"/>
              </a:rPr>
              <a:t>14.5 Comparison with Conventional Manufacturing</a:t>
            </a:r>
            <a:endParaRPr b="1" sz="1600">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graphicFrame>
        <p:nvGraphicFramePr>
          <p:cNvPr id="460" name="Google Shape;460;g3844d0da0ad_0_77"/>
          <p:cNvGraphicFramePr/>
          <p:nvPr/>
        </p:nvGraphicFramePr>
        <p:xfrm>
          <a:off x="517725" y="6451575"/>
          <a:ext cx="3000000" cy="3000000"/>
        </p:xfrm>
        <a:graphic>
          <a:graphicData uri="http://schemas.openxmlformats.org/drawingml/2006/table">
            <a:tbl>
              <a:tblPr>
                <a:noFill/>
                <a:tableStyleId>{9AA01411-1129-4BFD-8B59-67041B4AEC91}</a:tableStyleId>
              </a:tblPr>
              <a:tblGrid>
                <a:gridCol w="1322900"/>
                <a:gridCol w="1716600"/>
                <a:gridCol w="1792800"/>
                <a:gridCol w="1653100"/>
              </a:tblGrid>
              <a:tr h="36215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Aspect</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Our EV Prototype</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Conventional EV</a:t>
                      </a:r>
                      <a:endParaRPr b="1">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ICE 4-Wheeler</a:t>
                      </a:r>
                      <a:endParaRPr b="1">
                        <a:latin typeface="Times New Roman"/>
                        <a:ea typeface="Times New Roman"/>
                        <a:cs typeface="Times New Roman"/>
                        <a:sym typeface="Times New Roman"/>
                      </a:endParaRPr>
                    </a:p>
                  </a:txBody>
                  <a:tcPr marT="91425" marB="91425" marR="91425" marL="91425"/>
                </a:tc>
              </a:tr>
              <a:tr h="5816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Chassis Fabrication</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Mild steel, modular welding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High-strength alloys, robotic welding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Heavy-duty steel, complex machining</a:t>
                      </a:r>
                      <a:endParaRPr>
                        <a:latin typeface="Times New Roman"/>
                        <a:ea typeface="Times New Roman"/>
                        <a:cs typeface="Times New Roman"/>
                        <a:sym typeface="Times New Roman"/>
                      </a:endParaRPr>
                    </a:p>
                  </a:txBody>
                  <a:tcPr marT="91425" marB="91425" marR="91425" marL="91425"/>
                </a:tc>
              </a:tr>
              <a:tr h="5647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Powertrain Assembly</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Direct hub motor mounting</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Central motor + gearbox</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Engine + gearbox + transmission</a:t>
                      </a:r>
                      <a:endParaRPr>
                        <a:latin typeface="Times New Roman"/>
                        <a:ea typeface="Times New Roman"/>
                        <a:cs typeface="Times New Roman"/>
                        <a:sym typeface="Times New Roman"/>
                      </a:endParaRPr>
                    </a:p>
                  </a:txBody>
                  <a:tcPr marT="91425" marB="91425" marR="91425" marL="91425"/>
                </a:tc>
              </a:tr>
              <a:tr h="5943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Wiring</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Simplified HV/LV separation</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Complex CAN bus + multiple controllers</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ECU-driven wiring with fuel system</a:t>
                      </a:r>
                      <a:endParaRPr>
                        <a:latin typeface="Times New Roman"/>
                        <a:ea typeface="Times New Roman"/>
                        <a:cs typeface="Times New Roman"/>
                        <a:sym typeface="Times New Roman"/>
                      </a:endParaRPr>
                    </a:p>
                  </a:txBody>
                  <a:tcPr marT="91425" marB="91425" marR="91425" marL="91425"/>
                </a:tc>
              </a:tr>
              <a:tr h="5285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Assembly Time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~3–4 weeks (prototype)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~2–3 months (industrial EV)</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~2–3 months (mass production)</a:t>
                      </a:r>
                      <a:endParaRPr>
                        <a:latin typeface="Times New Roman"/>
                        <a:ea typeface="Times New Roman"/>
                        <a:cs typeface="Times New Roman"/>
                        <a:sym typeface="Times New Roman"/>
                      </a:endParaRPr>
                    </a:p>
                  </a:txBody>
                  <a:tcPr marT="91425" marB="91425" marR="91425" marL="91425"/>
                </a:tc>
              </a:tr>
              <a:tr h="564725">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Ease of Maintenance</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High – modular &amp; accessible</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Medium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Low – engine heavy &amp; complex</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844d0da0ad_0_91"/>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66" name="Google Shape;466;g3844d0da0ad_0_9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67" name="Google Shape;467;g3844d0da0ad_0_9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68" name="Google Shape;468;g3844d0da0ad_0_91"/>
          <p:cNvSpPr txBox="1"/>
          <p:nvPr/>
        </p:nvSpPr>
        <p:spPr>
          <a:xfrm>
            <a:off x="593925" y="929650"/>
            <a:ext cx="6256800" cy="5589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None/>
            </a:pPr>
            <a:r>
              <a:rPr b="1" lang="en-IN" sz="1600">
                <a:solidFill>
                  <a:schemeClr val="dk1"/>
                </a:solidFill>
                <a:latin typeface="Times New Roman"/>
                <a:ea typeface="Times New Roman"/>
                <a:cs typeface="Times New Roman"/>
                <a:sym typeface="Times New Roman"/>
              </a:rPr>
              <a:t>14.6 Conclusion</a:t>
            </a:r>
            <a:endParaRPr b="1" sz="1600">
              <a:solidFill>
                <a:schemeClr val="dk1"/>
              </a:solidFill>
              <a:latin typeface="Times New Roman"/>
              <a:ea typeface="Times New Roman"/>
              <a:cs typeface="Times New Roman"/>
              <a:sym typeface="Times New Roman"/>
            </a:endParaRPr>
          </a:p>
          <a:p>
            <a:pPr indent="0" lvl="0" marL="0" rtl="0" algn="l">
              <a:spcBef>
                <a:spcPts val="400"/>
              </a:spcBef>
              <a:spcAft>
                <a:spcPts val="0"/>
              </a:spcAft>
              <a:buNone/>
            </a:pPr>
            <a:r>
              <a:rPr lang="en-IN">
                <a:latin typeface="Times New Roman"/>
                <a:ea typeface="Times New Roman"/>
                <a:cs typeface="Times New Roman"/>
                <a:sym typeface="Times New Roman"/>
              </a:rPr>
              <a:t>The proposed manufacturing and assembly plan is feasible, cost-effective, and scalable, using accessible fabrication methods and modular integration. By prioritizing simplicity, modularity, and local material sourcing, the plan ensures that the prototype can be fabricated in a small-scale workshop</a:t>
            </a:r>
            <a:r>
              <a:rPr lang="en-IN">
                <a:latin typeface="Times New Roman"/>
                <a:ea typeface="Times New Roman"/>
                <a:cs typeface="Times New Roman"/>
                <a:sym typeface="Times New Roman"/>
              </a:rPr>
              <a:t> </a:t>
            </a:r>
            <a:r>
              <a:rPr lang="en-IN">
                <a:latin typeface="Times New Roman"/>
                <a:ea typeface="Times New Roman"/>
                <a:cs typeface="Times New Roman"/>
                <a:sym typeface="Times New Roman"/>
              </a:rPr>
              <a:t>environment while still maintaining compliance with engineering standards.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lang="en-IN">
                <a:latin typeface="Times New Roman"/>
                <a:ea typeface="Times New Roman"/>
                <a:cs typeface="Times New Roman"/>
                <a:sym typeface="Times New Roman"/>
              </a:rPr>
              <a:t>This chapter establishes the foundation for testing and validation, which will verify whether the manufactured prototype meets safety, performance, and cost objectives.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844d0da0ad_0_101"/>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74" name="Google Shape;474;g3844d0da0ad_0_101"/>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75" name="Google Shape;475;g3844d0da0ad_0_101"/>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76" name="Google Shape;476;g3844d0da0ad_0_101"/>
          <p:cNvSpPr txBox="1"/>
          <p:nvPr/>
        </p:nvSpPr>
        <p:spPr>
          <a:xfrm>
            <a:off x="593925" y="929650"/>
            <a:ext cx="6256800" cy="11519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None/>
            </a:pPr>
            <a:r>
              <a:rPr b="1" lang="en-IN" sz="1800">
                <a:solidFill>
                  <a:schemeClr val="dk1"/>
                </a:solidFill>
                <a:latin typeface="Times New Roman"/>
                <a:ea typeface="Times New Roman"/>
                <a:cs typeface="Times New Roman"/>
                <a:sym typeface="Times New Roman"/>
              </a:rPr>
              <a:t>Chapter 15: Testing, Validation &amp; Future Scop</a:t>
            </a:r>
            <a:r>
              <a:rPr b="1" lang="en-IN" sz="1800">
                <a:solidFill>
                  <a:schemeClr val="dk1"/>
                </a:solidFill>
                <a:latin typeface="Times New Roman"/>
                <a:ea typeface="Times New Roman"/>
                <a:cs typeface="Times New Roman"/>
                <a:sym typeface="Times New Roman"/>
              </a:rPr>
              <a:t>e</a:t>
            </a:r>
            <a:endParaRPr b="1" sz="1800">
              <a:solidFill>
                <a:schemeClr val="dk1"/>
              </a:solidFill>
              <a:latin typeface="Times New Roman"/>
              <a:ea typeface="Times New Roman"/>
              <a:cs typeface="Times New Roman"/>
              <a:sym typeface="Times New Roman"/>
            </a:endParaRPr>
          </a:p>
          <a:p>
            <a:pPr indent="0" lvl="0" marL="0" rtl="0" algn="l">
              <a:spcBef>
                <a:spcPts val="400"/>
              </a:spcBef>
              <a:spcAft>
                <a:spcPts val="0"/>
              </a:spcAft>
              <a:buNone/>
            </a:pPr>
            <a:r>
              <a:rPr b="1" lang="en-IN" sz="1600">
                <a:latin typeface="Times New Roman"/>
                <a:ea typeface="Times New Roman"/>
                <a:cs typeface="Times New Roman"/>
                <a:sym typeface="Times New Roman"/>
              </a:rPr>
              <a:t>15.1 Testing and Validation Strategy</a:t>
            </a:r>
            <a:endParaRPr b="1"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a:latin typeface="Times New Roman"/>
                <a:ea typeface="Times New Roman"/>
                <a:cs typeface="Times New Roman"/>
                <a:sym typeface="Times New Roman"/>
              </a:rPr>
              <a:t>To ensure performance, safety, and reliability, the vehicle undergoes a multi-stage testing and validation process. The approach follows standard automotive testing protocols adapted for electric vehicles.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b="1" lang="en-IN" sz="1600">
                <a:solidFill>
                  <a:schemeClr val="dk1"/>
                </a:solidFill>
                <a:latin typeface="Times New Roman"/>
                <a:ea typeface="Times New Roman"/>
                <a:cs typeface="Times New Roman"/>
                <a:sym typeface="Times New Roman"/>
              </a:rPr>
              <a:t>15.1.1 Component-Level Testing</a:t>
            </a:r>
            <a:endParaRPr b="1" sz="16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AutoNum type="arabicPeriod"/>
            </a:pPr>
            <a:r>
              <a:rPr b="1" lang="en-IN">
                <a:latin typeface="Times New Roman"/>
                <a:ea typeface="Times New Roman"/>
                <a:cs typeface="Times New Roman"/>
                <a:sym typeface="Times New Roman"/>
              </a:rPr>
              <a:t>Battery Pack &amp; Smart BMS:</a:t>
            </a:r>
            <a:endParaRPr b="1">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Validation of cell balancing efficiency.</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Thermal stability and protection features under different load conditions.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Bluetooth connectivity accuracy for real-time monitoring.</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b="1" lang="en-IN">
                <a:latin typeface="Times New Roman"/>
                <a:ea typeface="Times New Roman"/>
                <a:cs typeface="Times New Roman"/>
                <a:sym typeface="Times New Roman"/>
              </a:rPr>
              <a:t>Motor &amp; Sine Wave Controller</a:t>
            </a:r>
            <a:r>
              <a:rPr b="1" lang="en-IN">
                <a:latin typeface="Times New Roman"/>
                <a:ea typeface="Times New Roman"/>
                <a:cs typeface="Times New Roman"/>
                <a:sym typeface="Times New Roman"/>
              </a:rPr>
              <a:t>:</a:t>
            </a:r>
            <a:endParaRPr b="1">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Smooth torque response evaluation.</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Efficiency benchmarking at various speeds and loads.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Regenerative braking energy recovery measurement.</a:t>
            </a:r>
            <a:endParaRPr>
              <a:latin typeface="Times New Roman"/>
              <a:ea typeface="Times New Roman"/>
              <a:cs typeface="Times New Roman"/>
              <a:sym typeface="Times New Roman"/>
            </a:endParaRPr>
          </a:p>
          <a:p>
            <a:pPr indent="0" lvl="0" marL="457200" rtl="0" algn="l">
              <a:spcBef>
                <a:spcPts val="0"/>
              </a:spcBef>
              <a:spcAft>
                <a:spcPts val="0"/>
              </a:spcAft>
              <a:buNone/>
            </a:pPr>
            <a:r>
              <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b="1" lang="en-IN">
                <a:latin typeface="Times New Roman"/>
                <a:ea typeface="Times New Roman"/>
                <a:cs typeface="Times New Roman"/>
                <a:sym typeface="Times New Roman"/>
              </a:rPr>
              <a:t>Dual Piston Hydraulic Braking System:</a:t>
            </a:r>
            <a:endParaRPr b="1">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Brake force distribution accuracy.</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Regenerative + mechanical brake synchronization testing.</a:t>
            </a:r>
            <a:br>
              <a:rPr lang="en-IN">
                <a:latin typeface="Times New Roman"/>
                <a:ea typeface="Times New Roman"/>
                <a:cs typeface="Times New Roman"/>
                <a:sym typeface="Times New Roman"/>
              </a:rPr>
            </a:br>
            <a:r>
              <a:rPr lang="en-IN">
                <a:latin typeface="Times New Roman"/>
                <a:ea typeface="Times New Roman"/>
                <a:cs typeface="Times New Roman"/>
                <a:sym typeface="Times New Roman"/>
              </a:rPr>
              <a:t>Emergency stop distance validation under wet and dry surfaces.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15.1.2 Subsystem-Level Testing</a:t>
            </a:r>
            <a:endParaRPr b="1" sz="1600">
              <a:solidFill>
                <a:schemeClr val="dk1"/>
              </a:solidFill>
              <a:latin typeface="Times New Roman"/>
              <a:ea typeface="Times New Roman"/>
              <a:cs typeface="Times New Roman"/>
              <a:sym typeface="Times New Roman"/>
            </a:endParaRPr>
          </a:p>
          <a:p>
            <a:pPr indent="-317500" lvl="0" marL="457200" rtl="0" algn="l">
              <a:spcBef>
                <a:spcPts val="200"/>
              </a:spcBef>
              <a:spcAft>
                <a:spcPts val="0"/>
              </a:spcAft>
              <a:buSzPts val="1400"/>
              <a:buFont typeface="Times New Roman"/>
              <a:buChar char="●"/>
            </a:pPr>
            <a:r>
              <a:rPr lang="en-IN">
                <a:latin typeface="Times New Roman"/>
                <a:ea typeface="Times New Roman"/>
                <a:cs typeface="Times New Roman"/>
                <a:sym typeface="Times New Roman"/>
              </a:rPr>
              <a:t>Electrical Subsystems: Wiring integrity, insulation resistance, and short-circuit safety.</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Chassis &amp; Suspension: Stress testing on uneven terrains and load capacity validation.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Safety Systems: Verification of compliance with standard protocols (seat belts, driver alerts, emergency cut-offs).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IN" sz="1600">
                <a:solidFill>
                  <a:schemeClr val="dk1"/>
                </a:solidFill>
                <a:latin typeface="Times New Roman"/>
                <a:ea typeface="Times New Roman"/>
                <a:cs typeface="Times New Roman"/>
                <a:sym typeface="Times New Roman"/>
              </a:rPr>
              <a:t>15.1.3 Vehicle-Level Testing</a:t>
            </a:r>
            <a:endParaRPr b="1" sz="1600">
              <a:solidFill>
                <a:schemeClr val="dk1"/>
              </a:solidFill>
              <a:latin typeface="Times New Roman"/>
              <a:ea typeface="Times New Roman"/>
              <a:cs typeface="Times New Roman"/>
              <a:sym typeface="Times New Roman"/>
            </a:endParaRPr>
          </a:p>
          <a:p>
            <a:pPr indent="-317500" lvl="0" marL="457200" rtl="0" algn="l">
              <a:spcBef>
                <a:spcPts val="200"/>
              </a:spcBef>
              <a:spcAft>
                <a:spcPts val="0"/>
              </a:spcAft>
              <a:buSzPts val="1400"/>
              <a:buFont typeface="Times New Roman"/>
              <a:buChar char="●"/>
            </a:pPr>
            <a:r>
              <a:rPr lang="en-IN">
                <a:latin typeface="Times New Roman"/>
                <a:ea typeface="Times New Roman"/>
                <a:cs typeface="Times New Roman"/>
                <a:sym typeface="Times New Roman"/>
              </a:rPr>
              <a:t>Range testing under different driving cycles (urban stop-go, constant highway speeds).</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Acceleration and hill-climb ability.</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Endurance testing for long operating hours.</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IN">
                <a:latin typeface="Times New Roman"/>
                <a:ea typeface="Times New Roman"/>
                <a:cs typeface="Times New Roman"/>
                <a:sym typeface="Times New Roman"/>
              </a:rPr>
              <a:t>Noise, Vibration, and Harshness (NVH) assessment to ensure driver comfort.</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844d0da0ad_0_114"/>
          <p:cNvSpPr/>
          <p:nvPr/>
        </p:nvSpPr>
        <p:spPr>
          <a:xfrm>
            <a:off x="217125" y="340360"/>
            <a:ext cx="7010400" cy="10210800"/>
          </a:xfrm>
          <a:prstGeom prst="round2DiagRect">
            <a:avLst>
              <a:gd fmla="val 16667" name="adj1"/>
              <a:gd fmla="val 0"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82" name="Google Shape;482;g3844d0da0ad_0_114"/>
          <p:cNvPicPr preferRelativeResize="0"/>
          <p:nvPr/>
        </p:nvPicPr>
        <p:blipFill rotWithShape="1">
          <a:blip r:embed="rId3">
            <a:alphaModFix/>
          </a:blip>
          <a:srcRect b="0" l="0" r="0" t="0"/>
          <a:stretch/>
        </p:blipFill>
        <p:spPr>
          <a:xfrm>
            <a:off x="6292850" y="419100"/>
            <a:ext cx="832688" cy="609600"/>
          </a:xfrm>
          <a:prstGeom prst="rect">
            <a:avLst/>
          </a:prstGeom>
          <a:noFill/>
          <a:ln>
            <a:noFill/>
          </a:ln>
        </p:spPr>
      </p:pic>
      <p:sp>
        <p:nvSpPr>
          <p:cNvPr id="483" name="Google Shape;483;g3844d0da0ad_0_114"/>
          <p:cNvSpPr txBox="1"/>
          <p:nvPr/>
        </p:nvSpPr>
        <p:spPr>
          <a:xfrm>
            <a:off x="273050" y="10082768"/>
            <a:ext cx="3779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EFWDC2025001</a:t>
            </a:r>
            <a:endParaRPr/>
          </a:p>
        </p:txBody>
      </p:sp>
      <p:sp>
        <p:nvSpPr>
          <p:cNvPr id="484" name="Google Shape;484;g3844d0da0ad_0_114"/>
          <p:cNvSpPr txBox="1"/>
          <p:nvPr/>
        </p:nvSpPr>
        <p:spPr>
          <a:xfrm>
            <a:off x="593925" y="929650"/>
            <a:ext cx="6256800" cy="12967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IN" sz="1600">
                <a:solidFill>
                  <a:schemeClr val="dk1"/>
                </a:solidFill>
                <a:latin typeface="Times New Roman"/>
                <a:ea typeface="Times New Roman"/>
                <a:cs typeface="Times New Roman"/>
                <a:sym typeface="Times New Roman"/>
              </a:rPr>
              <a:t>15.2 Validation Criteria</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400"/>
              </a:spcBef>
              <a:spcAft>
                <a:spcPts val="0"/>
              </a:spcAft>
              <a:buSzPts val="1400"/>
              <a:buFont typeface="Times New Roman"/>
              <a:buChar char="●"/>
            </a:pPr>
            <a:r>
              <a:rPr lang="en-IN">
                <a:latin typeface="Times New Roman"/>
                <a:ea typeface="Times New Roman"/>
                <a:cs typeface="Times New Roman"/>
                <a:sym typeface="Times New Roman"/>
              </a:rPr>
              <a:t>Performance Validation: Meets expected speed, range, and power output.</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Energy Efficiency: Optimization of regenerative braking and energy recovery.</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Safety Compliance: Adheres to ISO, AIS, and other EV-related standards.</a:t>
            </a:r>
            <a:endParaRPr>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Char char="●"/>
            </a:pPr>
            <a:r>
              <a:rPr lang="en-IN">
                <a:latin typeface="Times New Roman"/>
                <a:ea typeface="Times New Roman"/>
                <a:cs typeface="Times New Roman"/>
                <a:sym typeface="Times New Roman"/>
              </a:rPr>
              <a:t>Durability: Withstands long-term usage without significant degradation.</a:t>
            </a:r>
            <a:endParaRPr>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1600">
                <a:solidFill>
                  <a:schemeClr val="dk1"/>
                </a:solidFill>
                <a:latin typeface="Times New Roman"/>
                <a:ea typeface="Times New Roman"/>
                <a:cs typeface="Times New Roman"/>
                <a:sym typeface="Times New Roman"/>
              </a:rPr>
              <a:t>15.3 Fu</a:t>
            </a:r>
            <a:r>
              <a:rPr b="1" lang="en-IN" sz="1600">
                <a:solidFill>
                  <a:schemeClr val="dk1"/>
                </a:solidFill>
                <a:latin typeface="Times New Roman"/>
                <a:ea typeface="Times New Roman"/>
                <a:cs typeface="Times New Roman"/>
                <a:sym typeface="Times New Roman"/>
              </a:rPr>
              <a:t>t</a:t>
            </a:r>
            <a:r>
              <a:rPr b="1" lang="en-IN" sz="1600">
                <a:solidFill>
                  <a:schemeClr val="dk1"/>
                </a:solidFill>
                <a:latin typeface="Times New Roman"/>
                <a:ea typeface="Times New Roman"/>
                <a:cs typeface="Times New Roman"/>
                <a:sym typeface="Times New Roman"/>
              </a:rPr>
              <a:t>ure Scope</a:t>
            </a:r>
            <a:endParaRPr b="1" sz="1600">
              <a:solidFill>
                <a:schemeClr val="dk1"/>
              </a:solidFill>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IN">
                <a:latin typeface="Times New Roman"/>
                <a:ea typeface="Times New Roman"/>
                <a:cs typeface="Times New Roman"/>
                <a:sym typeface="Times New Roman"/>
              </a:rPr>
              <a:t>The current design establishes a robust and efficient electric vehicle platform. Future enhancements can be considered to further improve efficiency, cost-effectiveness, and user experience.</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15.3.1 Technological Upgrades</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Battery Technology:</a:t>
            </a:r>
            <a:r>
              <a:rPr lang="en-IN">
                <a:solidFill>
                  <a:schemeClr val="dk1"/>
                </a:solidFill>
                <a:latin typeface="Times New Roman"/>
                <a:ea typeface="Times New Roman"/>
                <a:cs typeface="Times New Roman"/>
                <a:sym typeface="Times New Roman"/>
              </a:rPr>
              <a:t> Transition to solid-state batteries for higher energy density and safety.</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Smart BMS Expansion:</a:t>
            </a:r>
            <a:r>
              <a:rPr lang="en-IN">
                <a:solidFill>
                  <a:schemeClr val="dk1"/>
                </a:solidFill>
                <a:latin typeface="Times New Roman"/>
                <a:ea typeface="Times New Roman"/>
                <a:cs typeface="Times New Roman"/>
                <a:sym typeface="Times New Roman"/>
              </a:rPr>
              <a:t> Integration of predictive maintenance using AI-driven data analysis.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Times New Roman"/>
                <a:ea typeface="Times New Roman"/>
                <a:cs typeface="Times New Roman"/>
                <a:sym typeface="Times New Roman"/>
              </a:rPr>
              <a:t>Wireless Charging:</a:t>
            </a:r>
            <a:r>
              <a:rPr lang="en-IN">
                <a:solidFill>
                  <a:schemeClr val="dk1"/>
                </a:solidFill>
                <a:latin typeface="Times New Roman"/>
                <a:ea typeface="Times New Roman"/>
                <a:cs typeface="Times New Roman"/>
                <a:sym typeface="Times New Roman"/>
              </a:rPr>
              <a:t> Development of inductive charging systems to eliminate plug-in dependency.</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15.3.2 System Integration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Enhanced </a:t>
            </a:r>
            <a:r>
              <a:rPr b="1" lang="en-IN">
                <a:solidFill>
                  <a:schemeClr val="dk1"/>
                </a:solidFill>
                <a:latin typeface="Times New Roman"/>
                <a:ea typeface="Times New Roman"/>
                <a:cs typeface="Times New Roman"/>
                <a:sym typeface="Times New Roman"/>
              </a:rPr>
              <a:t>vehicle connectivity</a:t>
            </a:r>
            <a:r>
              <a:rPr lang="en-IN">
                <a:solidFill>
                  <a:schemeClr val="dk1"/>
                </a:solidFill>
                <a:latin typeface="Times New Roman"/>
                <a:ea typeface="Times New Roman"/>
                <a:cs typeface="Times New Roman"/>
                <a:sym typeface="Times New Roman"/>
              </a:rPr>
              <a:t> via IoT for real-time diagnostics, geofencing, and OTA (Over-The-Air) updates.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Adaptive regenerative braking control based on traffic conditions and terrain.</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15.3.3 Sustainability &amp; Manufacturing</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Use of recyclable materials in body and battery construction.</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Times New Roman"/>
                <a:ea typeface="Times New Roman"/>
                <a:cs typeface="Times New Roman"/>
                <a:sym typeface="Times New Roman"/>
              </a:rPr>
              <a:t>Adoption of </a:t>
            </a:r>
            <a:r>
              <a:rPr b="1" lang="en-IN">
                <a:solidFill>
                  <a:schemeClr val="dk1"/>
                </a:solidFill>
                <a:latin typeface="Times New Roman"/>
                <a:ea typeface="Times New Roman"/>
                <a:cs typeface="Times New Roman"/>
                <a:sym typeface="Times New Roman"/>
              </a:rPr>
              <a:t>green manufacturing processes</a:t>
            </a:r>
            <a:r>
              <a:rPr lang="en-IN">
                <a:solidFill>
                  <a:schemeClr val="dk1"/>
                </a:solidFill>
                <a:latin typeface="Times New Roman"/>
                <a:ea typeface="Times New Roman"/>
                <a:cs typeface="Times New Roman"/>
                <a:sym typeface="Times New Roman"/>
              </a:rPr>
              <a:t> with reduced carbon footprint.</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15.3.4 Market Adaptation</a:t>
            </a:r>
            <a:endParaRPr b="1" sz="16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Modular design for scalability across multiple vehicle categories.</a:t>
            </a:r>
            <a:br>
              <a:rPr lang="en-IN">
                <a:solidFill>
                  <a:schemeClr val="dk1"/>
                </a:solidFill>
                <a:latin typeface="Times New Roman"/>
                <a:ea typeface="Times New Roman"/>
                <a:cs typeface="Times New Roman"/>
                <a:sym typeface="Times New Roman"/>
              </a:rPr>
            </a:br>
            <a:r>
              <a:rPr lang="en-IN">
                <a:solidFill>
                  <a:schemeClr val="dk1"/>
                </a:solidFill>
                <a:latin typeface="Times New Roman"/>
                <a:ea typeface="Times New Roman"/>
                <a:cs typeface="Times New Roman"/>
                <a:sym typeface="Times New Roman"/>
              </a:rPr>
              <a:t>Cost optimization through localized material sourcing and supplier partnerships.</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IN">
                <a:solidFill>
                  <a:schemeClr val="dk1"/>
                </a:solidFill>
                <a:latin typeface="Times New Roman"/>
                <a:ea typeface="Times New Roman"/>
                <a:cs typeface="Times New Roman"/>
                <a:sym typeface="Times New Roman"/>
              </a:rPr>
              <a:t>Expansion towards autonomous driving compatibility with advanced driver-assist systems (ADAS).</a:t>
            </a:r>
            <a:br>
              <a:rPr lang="en-IN">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b="1" sz="16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