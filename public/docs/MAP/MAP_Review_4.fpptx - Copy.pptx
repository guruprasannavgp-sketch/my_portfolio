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3" r:id="rId5"/>
    <p:sldId id="265" r:id="rId6"/>
    <p:sldId id="267" r:id="rId7"/>
    <p:sldId id="268" r:id="rId8"/>
    <p:sldId id="269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89707" y="379298"/>
            <a:ext cx="7304405" cy="941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0927" y="1222324"/>
            <a:ext cx="6501765" cy="4712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4211" y="6464680"/>
            <a:ext cx="2190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61735" y="6426504"/>
            <a:ext cx="6692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MAP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1935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6426504"/>
            <a:ext cx="7423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05-05-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2026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100502" y="670353"/>
            <a:ext cx="831215" cy="828675"/>
            <a:chOff x="11100502" y="670353"/>
            <a:chExt cx="831215" cy="8286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00502" y="670353"/>
              <a:ext cx="831182" cy="3152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14532" y="969276"/>
              <a:ext cx="787146" cy="52957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088116" y="538988"/>
            <a:ext cx="843915" cy="798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solidFill>
                  <a:srgbClr val="000000"/>
                </a:solidFill>
              </a:rPr>
              <a:t>MAP</a:t>
            </a:r>
            <a:endParaRPr sz="3200"/>
          </a:p>
          <a:p>
            <a:pPr marL="1270" algn="ctr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000000"/>
                </a:solidFill>
              </a:rPr>
              <a:t>2026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2052320" y="309498"/>
            <a:ext cx="8719820" cy="734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538235"/>
                </a:solidFill>
                <a:latin typeface="Calibri"/>
                <a:cs typeface="Calibri"/>
              </a:rPr>
              <a:t>KNOWLEDGE</a:t>
            </a:r>
            <a:r>
              <a:rPr sz="2800" b="1" spc="-6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538235"/>
                </a:solidFill>
                <a:latin typeface="Calibri"/>
                <a:cs typeface="Calibri"/>
              </a:rPr>
              <a:t>INSTI</a:t>
            </a:r>
            <a:r>
              <a:rPr lang="en-IN" sz="2800" b="1" dirty="0">
                <a:solidFill>
                  <a:srgbClr val="538235"/>
                </a:solidFill>
                <a:latin typeface="Calibri"/>
                <a:cs typeface="Calibri"/>
              </a:rPr>
              <a:t>T</a:t>
            </a:r>
            <a:r>
              <a:rPr sz="2800" b="1" dirty="0">
                <a:solidFill>
                  <a:srgbClr val="538235"/>
                </a:solidFill>
                <a:latin typeface="Calibri"/>
                <a:cs typeface="Calibri"/>
              </a:rPr>
              <a:t>UTE</a:t>
            </a:r>
            <a:r>
              <a:rPr sz="2800" b="1" spc="-4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538235"/>
                </a:solidFill>
                <a:latin typeface="Calibri"/>
                <a:cs typeface="Calibri"/>
              </a:rPr>
              <a:t>OF</a:t>
            </a:r>
            <a:r>
              <a:rPr sz="2800" b="1" spc="-8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b="1" spc="-40" dirty="0">
                <a:solidFill>
                  <a:srgbClr val="538235"/>
                </a:solidFill>
                <a:latin typeface="Calibri"/>
                <a:cs typeface="Calibri"/>
              </a:rPr>
              <a:t>TECHNOLOGY,</a:t>
            </a:r>
            <a:r>
              <a:rPr sz="2800" b="1" spc="-7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538235"/>
                </a:solidFill>
                <a:latin typeface="Calibri"/>
                <a:cs typeface="Calibri"/>
              </a:rPr>
              <a:t>SALEM</a:t>
            </a:r>
            <a:r>
              <a:rPr sz="2800" b="1" spc="-7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538235"/>
                </a:solidFill>
                <a:latin typeface="Calibri"/>
                <a:cs typeface="Calibri"/>
              </a:rPr>
              <a:t>–</a:t>
            </a:r>
            <a:r>
              <a:rPr sz="2800" b="1" spc="-7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538235"/>
                </a:solidFill>
                <a:latin typeface="Calibri"/>
                <a:cs typeface="Calibri"/>
              </a:rPr>
              <a:t>637504</a:t>
            </a:r>
            <a:endParaRPr sz="2800" dirty="0">
              <a:latin typeface="Calibri"/>
              <a:cs typeface="Calibri"/>
            </a:endParaRPr>
          </a:p>
          <a:p>
            <a:pPr marL="90170" algn="ctr">
              <a:lnSpc>
                <a:spcPct val="100000"/>
              </a:lnSpc>
              <a:spcBef>
                <a:spcPts val="65"/>
              </a:spcBef>
            </a:pPr>
            <a:r>
              <a:rPr sz="1800" b="1" dirty="0">
                <a:latin typeface="Calibri"/>
                <a:cs typeface="Calibri"/>
              </a:rPr>
              <a:t>(Autonomous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Institution)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8431" y="568451"/>
            <a:ext cx="957072" cy="96009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408431" y="2147213"/>
            <a:ext cx="11582400" cy="38239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0">
              <a:lnSpc>
                <a:spcPct val="150000"/>
              </a:lnSpc>
              <a:spcBef>
                <a:spcPts val="5"/>
              </a:spcBef>
            </a:pPr>
            <a:r>
              <a:rPr lang="en-US" sz="2800" b="1" dirty="0">
                <a:solidFill>
                  <a:srgbClr val="006FC0"/>
                </a:solidFill>
                <a:latin typeface="Calibri"/>
                <a:cs typeface="Calibri"/>
              </a:rPr>
              <a:t>CLUB NAME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2800" b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lang="en-US" sz="2800" b="1" dirty="0">
                <a:solidFill>
                  <a:srgbClr val="006FC0"/>
                </a:solidFill>
                <a:latin typeface="Calibri"/>
                <a:cs typeface="Calibri"/>
              </a:rPr>
              <a:t>USTANABLE ENGINEERING CLUB </a:t>
            </a:r>
            <a:r>
              <a:rPr sz="280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lang="en-US" sz="2800" dirty="0">
              <a:solidFill>
                <a:srgbClr val="006FC0"/>
              </a:solidFill>
              <a:latin typeface="Calibri"/>
              <a:cs typeface="Calibri"/>
            </a:endParaRPr>
          </a:p>
          <a:p>
            <a:pPr marL="12700" marR="82550">
              <a:lnSpc>
                <a:spcPct val="150000"/>
              </a:lnSpc>
              <a:spcBef>
                <a:spcPts val="5"/>
              </a:spcBef>
            </a:pPr>
            <a:r>
              <a:rPr lang="en-IN" sz="2800" b="1" spc="-114" dirty="0">
                <a:solidFill>
                  <a:srgbClr val="006FC0"/>
                </a:solidFill>
                <a:latin typeface="Calibri"/>
                <a:cs typeface="Calibri"/>
              </a:rPr>
              <a:t>TEAM MEMBERS </a:t>
            </a:r>
            <a:r>
              <a:rPr lang="en-IN" sz="2800" spc="-114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2800" spc="-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lang="en-US" sz="2800" spc="-114" dirty="0">
                <a:solidFill>
                  <a:srgbClr val="006FC0"/>
                </a:solidFill>
                <a:latin typeface="Calibri"/>
                <a:cs typeface="Calibri"/>
              </a:rPr>
              <a:t>GURU PRASANNA V , KARTHI VS ,KARTHICK SS , BRAJEETH G , THIRAGANTH J .</a:t>
            </a:r>
          </a:p>
          <a:p>
            <a:pPr marL="12700" marR="82550">
              <a:lnSpc>
                <a:spcPct val="150000"/>
              </a:lnSpc>
              <a:spcBef>
                <a:spcPts val="5"/>
              </a:spcBef>
            </a:pP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Full</a:t>
            </a:r>
            <a:r>
              <a:rPr sz="28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Affiliation:</a:t>
            </a:r>
            <a:r>
              <a:rPr sz="28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III</a:t>
            </a:r>
            <a:r>
              <a:rPr sz="28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lang="en-US" sz="2800" b="1" spc="-35" dirty="0">
                <a:solidFill>
                  <a:srgbClr val="006FC0"/>
                </a:solidFill>
                <a:latin typeface="Calibri"/>
                <a:cs typeface="Calibri"/>
              </a:rPr>
              <a:t>– MECHANICAL </a:t>
            </a:r>
            <a:endParaRPr lang="en-US" sz="2800" b="1" spc="-10" dirty="0">
              <a:solidFill>
                <a:srgbClr val="006FC0"/>
              </a:solidFill>
              <a:latin typeface="Calibri"/>
              <a:cs typeface="Calibri"/>
            </a:endParaRPr>
          </a:p>
          <a:p>
            <a:pPr marL="12700" marR="82550">
              <a:lnSpc>
                <a:spcPct val="150000"/>
              </a:lnSpc>
              <a:spcBef>
                <a:spcPts val="5"/>
              </a:spcBef>
            </a:pP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Name</a:t>
            </a:r>
            <a:r>
              <a:rPr sz="28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8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8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Mentor:</a:t>
            </a:r>
            <a:r>
              <a:rPr lang="en-US" sz="2800" b="1" dirty="0">
                <a:solidFill>
                  <a:srgbClr val="006FC0"/>
                </a:solidFill>
                <a:latin typeface="Calibri"/>
                <a:cs typeface="Calibri"/>
              </a:rPr>
              <a:t> MR.KN.KARTHICK </a:t>
            </a:r>
          </a:p>
          <a:p>
            <a:pPr marL="12700" marR="82550">
              <a:lnSpc>
                <a:spcPct val="150000"/>
              </a:lnSpc>
              <a:spcBef>
                <a:spcPts val="5"/>
              </a:spcBef>
            </a:pP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Presentation</a:t>
            </a:r>
            <a:r>
              <a:rPr sz="2800" b="1" spc="-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Date:</a:t>
            </a:r>
            <a:r>
              <a:rPr sz="2800" b="1" spc="-1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29.07.2025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39F0F5-E8E0-8731-A5E5-820CEDF1AA37}"/>
              </a:ext>
            </a:extLst>
          </p:cNvPr>
          <p:cNvSpPr txBox="1"/>
          <p:nvPr/>
        </p:nvSpPr>
        <p:spPr>
          <a:xfrm>
            <a:off x="-685800" y="1396346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22090" algn="l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/>
              <a:t>PORTABLE CUTTING MACHINE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20895" y="379298"/>
            <a:ext cx="2436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1063" y="1286078"/>
            <a:ext cx="11270615" cy="3647152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belongs to the domains of Mechanical Engineering, Agricultural Automation, and Highway Infrastructure Maintenance. India has over 63 lakh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kilometres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road network, and a significant portion requires regular vegetation management. Overgrown plants and shrubs along roadsides reduce driver visibility, damage road structures, and pose serious safety hazards. Traditional manual methods of cutting are slow,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labour-intensive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expose workers to traffic-related dangers. This project addresses the need for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mechanised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portable, and cost-effective solution that can be operated by a single person, reducing dependency on large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teams while improving efficiency and worker safety.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/>
              <a:t> </a:t>
            </a:r>
            <a:endParaRPr lang="en-I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713" rIns="0" bIns="0" rtlCol="0">
            <a:spAutoFit/>
          </a:bodyPr>
          <a:lstStyle/>
          <a:p>
            <a:pPr marL="1024255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spc="-95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8413"/>
            <a:ext cx="10146030" cy="317074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National Highways Authority of India (NHAI) - responsible for maintenance of over 1.5 lakh km of national highways requiring regular vegetation control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State Public Works Departments (PWD) - managing state and district roads in Tamil Nadu and other states, requiring affordable and portable cutting equipment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Road Maintenance Contractors and Subcontractors - private firms awarded highway upkeep contracts who need low-cost </a:t>
            </a:r>
            <a:r>
              <a:rPr lang="en-US" sz="2000" dirty="0" err="1"/>
              <a:t>mechanised</a:t>
            </a:r>
            <a:r>
              <a:rPr lang="en-US" sz="2000" dirty="0"/>
              <a:t> tools to improve operational efficiency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Smart City Projects and Municipal Corporations - urban local bodies managing roadside greenery in cities and peri-urban corridors seeking scalable automation solutions</a:t>
            </a:r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4846" y="568528"/>
            <a:ext cx="5105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spc="-9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5928" y="1250441"/>
            <a:ext cx="8397240" cy="52142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specific problem selected is the absence of a portable, affordable, and easy-to-operate </a:t>
            </a:r>
            <a:r>
              <a:rPr lang="en-US" sz="2000" dirty="0" err="1"/>
              <a:t>mechanised</a:t>
            </a:r>
            <a:r>
              <a:rPr lang="en-US" sz="2000" dirty="0"/>
              <a:t> plant cutting machine suitable for roadside use in India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Existing imported machinery (tractor-mounted mowers) costs Rs. 5-15 lakhs and is impractical for narrow rural roads; no affordable Indian-made alternative exists in the Rs. 3,000-5,000 range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Rationale for selection - this problem has direct social impact (road safety), economic impact (reduced </a:t>
            </a:r>
            <a:r>
              <a:rPr lang="en-US" sz="2000" dirty="0" err="1"/>
              <a:t>labour</a:t>
            </a:r>
            <a:r>
              <a:rPr lang="en-US" sz="2000" dirty="0"/>
              <a:t> cost), and strong market demand across Tamil Nadu’s 2 lakh km of state and district roads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Customer-fit confirmation - all 7 customers interviewed (workers, supervisors, and PWD contractor) rated the need for such a machine as “high priority” and expressed willingness to adopt it if priced below Rs. 5,000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This problem aligns with the team’s domain expertise in Mechanical Engineering, making us well-positioned to design, fabricate, and validate a working prototype within our academic timeline</a:t>
            </a:r>
            <a:endParaRPr lang="en-IN" sz="2000" dirty="0"/>
          </a:p>
          <a:p>
            <a:r>
              <a:rPr lang="en-US" sz="1800" dirty="0"/>
              <a:t> </a:t>
            </a:r>
            <a:endParaRPr lang="en-IN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DESIGN</a:t>
            </a:r>
            <a:r>
              <a:rPr spc="-5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741" y="1833498"/>
            <a:ext cx="6529705" cy="440377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Frame fabrication: 30mm x 30mm mild steel square tubes were cut and welded to form the trolley base (1200mm x 750mm). The frame was designed with cross-bracing for rigidity and coated with anti-rust paint. Total weight of frame: 4.2 kg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Motor and blade assembly: The 12vDC motor was mounted on the telescopic arm head using an </a:t>
            </a:r>
            <a:r>
              <a:rPr lang="en-US" sz="2000" dirty="0" err="1"/>
              <a:t>aluminium</a:t>
            </a:r>
            <a:r>
              <a:rPr lang="en-US" sz="2000" dirty="0"/>
              <a:t> motor bracket. The2-blade cutting disc was coupled directly to the motor shaft using a flange nut. Blade tip speed achieved: 28 m/s at full load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supply and wiring: 12V 10A battery housed in a lockable enclosure on the trolley shelf. ON/OFF switch installed in series. Endurance test: continuous cutting successfully achieved</a:t>
            </a:r>
            <a:endParaRPr lang="en-IN" sz="20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64881E-12D6-3CC5-64C1-3D51A9ECBF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812" y="1524000"/>
            <a:ext cx="4038600" cy="22134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B52E10-12F9-21E4-C294-9055B094CF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148" y="4035383"/>
            <a:ext cx="2895600" cy="20396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263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5"/>
              </a:spcBef>
            </a:pPr>
            <a:r>
              <a:rPr dirty="0"/>
              <a:t>OUTCOME</a:t>
            </a:r>
            <a:r>
              <a:rPr spc="-8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828800"/>
            <a:ext cx="11658600" cy="490005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lvl="0"/>
            <a:r>
              <a:rPr lang="en-US" sz="2400" dirty="0"/>
              <a:t>Speed: Field test showed the machine cuts at 180 </a:t>
            </a:r>
            <a:r>
              <a:rPr lang="en-US" sz="2400" dirty="0" err="1"/>
              <a:t>metres</a:t>
            </a:r>
            <a:r>
              <a:rPr lang="en-US" sz="2400" dirty="0"/>
              <a:t> per hour on grass and small shrubs, compared to 50 </a:t>
            </a:r>
            <a:r>
              <a:rPr lang="en-US" sz="2400" dirty="0" err="1"/>
              <a:t>metres</a:t>
            </a:r>
            <a:r>
              <a:rPr lang="en-US" sz="2400" dirty="0"/>
              <a:t> per hour by a manual worker — a 3.6x improvement in productivity that directly reduces the time roads are exposed to maintenance hazards</a:t>
            </a:r>
            <a:endParaRPr lang="en-IN" sz="2400" dirty="0"/>
          </a:p>
          <a:p>
            <a:pPr lvl="0"/>
            <a:r>
              <a:rPr lang="en-US" sz="2400" dirty="0"/>
              <a:t>Manpower reduction: 1 operator with the machine replaces a team of 6-8 manual cutters for the same stretch length per day. Based on a daily wage of Rs. 450 per worker, this saves Rs. 2,250 to Rs. 3,150 per day — the machine pays back its cost in under 10 working days</a:t>
            </a:r>
            <a:endParaRPr lang="en-IN" sz="2400" dirty="0"/>
          </a:p>
          <a:p>
            <a:pPr lvl="0"/>
            <a:r>
              <a:rPr lang="en-US" sz="2400" dirty="0"/>
              <a:t>Safety: The extended-reach arm keeps the operator on the footpath or road shoulder at all times. The dead-man safety switch, blade guard, and no-fuel design (battery-powered) eliminate fire risk, fuel spillage, and exhaust exposure, making this significantly safer than petrol-powered brush cutters</a:t>
            </a:r>
            <a:endParaRPr lang="en-IN" sz="2400" dirty="0"/>
          </a:p>
          <a:p>
            <a:r>
              <a:rPr lang="en-US" sz="2400" dirty="0"/>
              <a:t> </a:t>
            </a:r>
            <a:endParaRPr lang="en-IN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075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105"/>
              </a:spcBef>
            </a:pPr>
            <a:r>
              <a:rPr dirty="0"/>
              <a:t>CONCLUSION</a:t>
            </a:r>
            <a:r>
              <a:rPr spc="-60" dirty="0"/>
              <a:t> </a:t>
            </a:r>
            <a:r>
              <a:rPr dirty="0"/>
              <a:t>&amp;</a:t>
            </a:r>
            <a:r>
              <a:rPr spc="-60" dirty="0"/>
              <a:t> </a:t>
            </a:r>
            <a:r>
              <a:rPr dirty="0"/>
              <a:t>FUTURE</a:t>
            </a:r>
            <a:r>
              <a:rPr spc="-55" dirty="0"/>
              <a:t> </a:t>
            </a:r>
            <a:r>
              <a:rPr spc="-10" dirty="0"/>
              <a:t>SCOPE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A8404-7418-48E1-E941-E30E124BD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01140"/>
            <a:ext cx="5749486" cy="39852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D1FF49-A589-2141-B0D0-AE9238D3E1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2057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742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MT</vt:lpstr>
      <vt:lpstr>Calibri</vt:lpstr>
      <vt:lpstr>Times New Roman</vt:lpstr>
      <vt:lpstr>Office Theme</vt:lpstr>
      <vt:lpstr>MAP 2026</vt:lpstr>
      <vt:lpstr>ABSTRACT</vt:lpstr>
      <vt:lpstr>PROBLEM STATEMENT</vt:lpstr>
      <vt:lpstr>PROPOSED SOLUTION</vt:lpstr>
      <vt:lpstr>DESIGN AND COMPONENTS</vt:lpstr>
      <vt:lpstr>OUTCOME OF THE PROJECT</vt:lpstr>
      <vt:lpstr>CONCLUSION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Kamatchi Kannan V</dc:creator>
  <cp:lastModifiedBy>karthi1662006@outlook.com</cp:lastModifiedBy>
  <cp:revision>3</cp:revision>
  <dcterms:created xsi:type="dcterms:W3CDTF">2026-05-05T05:59:23Z</dcterms:created>
  <dcterms:modified xsi:type="dcterms:W3CDTF">2026-05-05T08:45:21Z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2026-05-05T00:00:00Z</vt:filetime>
  </property>
  <property fmtid="{D5CDD505-2E9C-101B-9397-08002B2CF9AE}" pid="5" name="Producer">
    <vt:lpwstr>Microsoft® PowerPoint® LTSC</vt:lpwstr>
  </property>
</Properties>
</file>